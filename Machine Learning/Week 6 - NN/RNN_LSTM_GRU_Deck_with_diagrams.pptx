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40" kern="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/ DL HANDBOOK  ·  COMPANION SERIES, VOLUME 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276148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6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 Time — the RNN, the LSTM, and the GRU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0032" y="3611880"/>
            <a:ext cx="1993392" cy="438912"/>
          </a:xfrm>
          <a:prstGeom prst="roundRect">
            <a:avLst>
              <a:gd name="adj" fmla="val 12500"/>
            </a:avLst>
          </a:prstGeom>
          <a:solidFill>
            <a:srgbClr val="3B4894"/>
          </a:solidFill>
          <a:ln w="9525">
            <a:solidFill>
              <a:srgbClr val="6272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0032" y="361188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04592" y="3611880"/>
            <a:ext cx="1993392" cy="438912"/>
          </a:xfrm>
          <a:prstGeom prst="roundRect">
            <a:avLst>
              <a:gd name="adj" fmla="val 12500"/>
            </a:avLst>
          </a:prstGeom>
          <a:solidFill>
            <a:srgbClr val="3B4894"/>
          </a:solidFill>
          <a:ln w="9525">
            <a:solidFill>
              <a:srgbClr val="627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4592" y="361188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99152" y="3611880"/>
            <a:ext cx="1993392" cy="438912"/>
          </a:xfrm>
          <a:prstGeom prst="roundRect">
            <a:avLst>
              <a:gd name="adj" fmla="val 12500"/>
            </a:avLst>
          </a:prstGeom>
          <a:solidFill>
            <a:srgbClr val="3B4894"/>
          </a:solidFill>
          <a:ln w="9525">
            <a:solidFill>
              <a:srgbClr val="627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9152" y="361188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93712" y="3611880"/>
            <a:ext cx="1993392" cy="438912"/>
          </a:xfrm>
          <a:prstGeom prst="roundRect">
            <a:avLst>
              <a:gd name="adj" fmla="val 12500"/>
            </a:avLst>
          </a:prstGeom>
          <a:solidFill>
            <a:srgbClr val="3B4894"/>
          </a:solidFill>
          <a:ln w="9525">
            <a:solidFill>
              <a:srgbClr val="6272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3712" y="361188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88272" y="3611880"/>
            <a:ext cx="1993392" cy="438912"/>
          </a:xfrm>
          <a:prstGeom prst="roundRect">
            <a:avLst>
              <a:gd name="adj" fmla="val 12500"/>
            </a:avLst>
          </a:prstGeom>
          <a:solidFill>
            <a:srgbClr val="3B4894"/>
          </a:solidFill>
          <a:ln w="9525">
            <a:solidFill>
              <a:srgbClr val="6272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8272" y="361188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vs. Transformer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  ·  Sequences, hidden state, and the fight against vanishing gradients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FA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4813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35024" y="1463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sequences break feedforward nets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35024" y="195681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carries meaning that a bag of features throws away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36792" y="14813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50024" y="1463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RNN idea — and the cell, opened 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50024" y="195681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carries a hidden state, with every weight matrix named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30540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35024" y="30358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vanilla RNNs forget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5024" y="352958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and the vanishing gradient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30540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50024" y="30358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a conveyor belt for memory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50024" y="352958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RNN in gate form, then three gates and an additive update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" y="46268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5024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the streamlined cousin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5024" y="510235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one carried vector, ~25% fewer parameters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6268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50024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Choosing: RNN, LSTM, GRU or Transformer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0024" y="510235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architecture actually wins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 —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a sequence, not a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feedforward network sees all of its inputs at once, in no particular order. That is fine for a photograph. It is fatal for a sentence.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487168"/>
            <a:ext cx="5852160" cy="1481328"/>
          </a:xfrm>
          <a:prstGeom prst="roundRect">
            <a:avLst>
              <a:gd name="adj" fmla="val 4938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633472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7824" y="2871216"/>
            <a:ext cx="5340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network with memory — one that reads the input one piece at a time and carries forward a running summary of everything it has already seen.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42245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memory has to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4526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survive from one word to the next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be updated, not overwritten, at every step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be the same size no matter how long the sentence 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WORDS, OPPOSITE MEANING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24871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“Dog bites man”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3364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 bites dog”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23760" y="41148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words — entirely different meaning. A model that only counts features cannot tell them apart. Order is the signal.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 — THE CORE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carries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recurrent neural network processes a sequence one step at a time and keeps a hidden state — a vector that acts as a running summary of everything seen so far.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377440"/>
            <a:ext cx="3401568" cy="1828800"/>
          </a:xfrm>
          <a:prstGeom prst="roundRect">
            <a:avLst>
              <a:gd name="adj" fmla="val 4000"/>
            </a:avLst>
          </a:prstGeom>
          <a:solidFill>
            <a:srgbClr val="EEF2F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33472"/>
            <a:ext cx="475488" cy="475488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things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844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input x, and the previous hidden state 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2377440"/>
            <a:ext cx="3401568" cy="1828800"/>
          </a:xfrm>
          <a:prstGeom prst="roundRect">
            <a:avLst>
              <a:gd name="adj" fmla="val 4000"/>
            </a:avLst>
          </a:prstGeom>
          <a:solidFill>
            <a:srgbClr val="EEF2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73168" y="2633472"/>
            <a:ext cx="475488" cy="475488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3246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35844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 updated hidden state, using one shared set of weights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82128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39328" y="2377440"/>
            <a:ext cx="3401568" cy="1828800"/>
          </a:xfrm>
          <a:prstGeom prst="roundRect">
            <a:avLst>
              <a:gd name="adj" fmla="val 4000"/>
            </a:avLst>
          </a:prstGeom>
          <a:solidFill>
            <a:srgbClr val="EEF2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1936" y="2633472"/>
            <a:ext cx="475488" cy="475488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9" name="Text 17"/>
          <p:cNvSpPr/>
          <p:nvPr/>
        </p:nvSpPr>
        <p:spPr>
          <a:xfrm>
            <a:off x="8631936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31936" y="3246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it forward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31936" y="35844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updated state feeds the next step — forming a loop through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" y="4498848"/>
            <a:ext cx="10948111" cy="1371600"/>
          </a:xfrm>
          <a:prstGeom prst="roundRect">
            <a:avLst>
              <a:gd name="adj" fmla="val 5333"/>
            </a:avLst>
          </a:prstGeom>
          <a:solidFill>
            <a:srgbClr val="EEF2FC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4645152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 WE WILL KEEP USING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" y="4882896"/>
            <a:ext cx="104360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hidden state as a sticky note the network rewrites after every word. It never sees the whole sentence at once — all it ever has is the current word plus whatever it managed to write down about everything before 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RNN cell, opened 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weight matrices, one bias, one squashing function. Everything an RNN is, on one page.</a:t>
            </a:r>
            <a:endParaRPr lang="en-US" sz="1250" dirty="0"/>
          </a:p>
        </p:txBody>
      </p:sp>
      <p:pic>
        <p:nvPicPr>
          <p:cNvPr id="5" name="Image 0" descr="figs/fig_rnn_c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750" y="1591056"/>
            <a:ext cx="8382195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weight matrix is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that changes the shape of a vector has a matrix on it. There are only three.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1956816"/>
            <a:ext cx="10948111" cy="896112"/>
          </a:xfrm>
          <a:prstGeom prst="roundRect">
            <a:avLst>
              <a:gd name="adj" fmla="val 8163"/>
            </a:avLst>
          </a:prstGeom>
          <a:solidFill>
            <a:srgbClr val="DCE4F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03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hidden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16352" y="2139696"/>
            <a:ext cx="8433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this step’s input into something in the memory’s own language. Shape h × 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96112"/>
          </a:xfrm>
          <a:prstGeom prst="roundRect">
            <a:avLst>
              <a:gd name="adj" fmla="val 8163"/>
            </a:avLst>
          </a:prstGeom>
          <a:solidFill>
            <a:srgbClr val="F6DCD8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1638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→ hidden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16352" y="3200400"/>
            <a:ext cx="8433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the old memory is reshaped before the new input is mixed in. This is the matrix that will cause all the trouble later. Shape h × 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10948111" cy="896112"/>
          </a:xfrm>
          <a:prstGeom prst="roundRect">
            <a:avLst>
              <a:gd name="adj" fmla="val 8163"/>
            </a:avLst>
          </a:prstGeom>
          <a:solidFill>
            <a:srgbClr val="DCE4F7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2245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6112" y="4590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→ 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16352" y="4261104"/>
            <a:ext cx="8433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prediction out of the memory. Shape (output size) × 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5175504"/>
            <a:ext cx="10948111" cy="969264"/>
          </a:xfrm>
          <a:prstGeom prst="roundRect">
            <a:avLst>
              <a:gd name="adj" fmla="val 7547"/>
            </a:avLst>
          </a:prstGeom>
          <a:solidFill>
            <a:srgbClr val="EEF2FC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5321808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SHAPES MATTER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7824" y="55595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the hidden size you choose; d is the size of one input. Notice that none of these shapes mention the length of the sequence — that is the whole point.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cell, unrolled across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arrive one at a time; the hidden state is passed forward, accumulating a memory of the sequence.</a:t>
            </a:r>
            <a:endParaRPr lang="en-US" sz="1250" dirty="0"/>
          </a:p>
        </p:txBody>
      </p:sp>
      <p:pic>
        <p:nvPicPr>
          <p:cNvPr id="5" name="Image 0" descr="figs/fig_rnn_unro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291" y="1591056"/>
            <a:ext cx="8103114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 — THE RECURRENCE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update, written precisely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463040"/>
            <a:ext cx="6949440" cy="1207008"/>
          </a:xfrm>
          <a:prstGeom prst="roundRect">
            <a:avLst>
              <a:gd name="adj" fmla="val 6061"/>
            </a:avLst>
          </a:prstGeom>
          <a:solidFill>
            <a:srgbClr val="EEF2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hidden-state update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tanh( W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memory, built from old memory + new input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2798064"/>
            <a:ext cx="6949440" cy="1207008"/>
          </a:xfrm>
          <a:prstGeom prst="roundRect">
            <a:avLst>
              <a:gd name="adj" fmla="val 6061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44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output at each step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369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W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8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8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6210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is simply read off the current hidden state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1463040"/>
            <a:ext cx="3703320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LEFT TO RIGHT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38160" y="1956816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take the old memory, reshape it with the h-matrix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take the new word, reshape it with the x-matrix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add them, plus a bias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squash the result into (−1, 1) with tanh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4224528"/>
            <a:ext cx="10948111" cy="1572768"/>
          </a:xfrm>
          <a:prstGeom prst="roundRect">
            <a:avLst>
              <a:gd name="adj" fmla="val 4651"/>
            </a:avLst>
          </a:prstGeom>
          <a:solidFill>
            <a:srgbClr val="EEF2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370832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SHARING ACROSS TIME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7824" y="4608576"/>
            <a:ext cx="10436047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a CNN shares one filter across every position in an image, an RNN shares one set of weight matrices across every timestep. The network does not learn a rule for “word 3” — it learns one rule and applies it everywhere. That is why a fixed number of parameters can read a sentence of any length.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 — THE FAILURE MODE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vanilla RNNs forget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an RNN you unroll it across all timesteps and backpropagate through the whole chain — backpropagation through time. Because the same W_hh is applied at every step, the gradient flowing backwards is multiplied by that same matrix once per step.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304288"/>
            <a:ext cx="10948111" cy="896112"/>
          </a:xfrm>
          <a:prstGeom prst="roundRect">
            <a:avLst>
              <a:gd name="adj" fmla="val 8163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323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∂h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 ∂L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∂h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 ·  ∏  ∂h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∂h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j−1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 j = k+1 … t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9806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must travel back through a product of one Jacobian per step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3364992"/>
            <a:ext cx="10948111" cy="896112"/>
          </a:xfrm>
          <a:prstGeom prst="roundRect">
            <a:avLst>
              <a:gd name="adj" fmla="val 8163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9300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∏  ∂h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∂h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j−1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∝     ( W</a:t>
            </a:r>
            <a:pPr indent="0" marL="0">
              <a:buNone/>
            </a:pPr>
            <a:r>
              <a:rPr lang="en-US" sz="16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ᵀ )ⁿ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587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matrix, multiplied by itself n times — governed by |λmax|, its spectral radius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4425696"/>
            <a:ext cx="10948111" cy="932688"/>
          </a:xfrm>
          <a:prstGeom prst="roundRect">
            <a:avLst>
              <a:gd name="adj" fmla="val 7843"/>
            </a:avLst>
          </a:prstGeom>
          <a:solidFill>
            <a:srgbClr val="F6DCD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 ~  |λmax|ⁿ   →   0  when  |λmax| &lt; 1   —  it vanishes with distance 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9560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a vanilla RNN loses the thread after roughly ten steps.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5486400"/>
            <a:ext cx="10948111" cy="749808"/>
          </a:xfrm>
          <a:prstGeom prst="roundRect">
            <a:avLst>
              <a:gd name="adj" fmla="val 9756"/>
            </a:avLst>
          </a:prstGeom>
          <a:solidFill>
            <a:srgbClr val="EE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632704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" y="5870448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0.9 twenty times and 0.12 is left. Multiply by 0.5 and one in a million is left.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multiplication kills the gradient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a number smaller than one, twenty times over, and there is nothing left to learn from.</a:t>
            </a:r>
            <a:endParaRPr lang="en-US" sz="1250" dirty="0"/>
          </a:p>
        </p:txBody>
      </p:sp>
      <p:pic>
        <p:nvPicPr>
          <p:cNvPr id="5" name="Image 0" descr="figs/orig_gradient_dec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42" y="1591056"/>
            <a:ext cx="9524611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011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FA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RNN TO LSTM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2377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memory. Lose the matrix.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3346704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6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was never memory itself — it was that every step forced the memory through a weight matrix. The fix is to give the memory a lane of its own where nothing multiplies it, and let small gates decide what gets added to it and what gets erased.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 — THE FIX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a conveyor belt for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Short-Term Memory network (Hochreiter &amp; Schmidhuber, 1997) was engineered specifically to defeat the vanishing gradient.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286000"/>
            <a:ext cx="3401568" cy="2148840"/>
          </a:xfrm>
          <a:prstGeom prst="roundRect">
            <a:avLst>
              <a:gd name="adj" fmla="val 3404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523744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lane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hidden state h, the LSTM carries a cell state C — a vector that runs the length of the sequence like a conveyor belt.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3401568" cy="2148840"/>
          </a:xfrm>
          <a:prstGeom prst="roundRect">
            <a:avLst>
              <a:gd name="adj" fmla="val 3404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523744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small edits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multiplies the belt by a weight matrix. Each step may scale it and add to it, and that is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39328" y="2286000"/>
            <a:ext cx="3401568" cy="2148840"/>
          </a:xfrm>
          <a:prstGeom prst="roundRect">
            <a:avLst>
              <a:gd name="adj" fmla="val 3404"/>
            </a:avLst>
          </a:prstGeom>
          <a:solidFill>
            <a:srgbClr val="EE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13648" y="2523744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decide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13648" y="292608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little sigmoid networks decide, per component, what to erase, what to write, and what to reveal.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4718304"/>
            <a:ext cx="10948111" cy="1170432"/>
          </a:xfrm>
          <a:prstGeom prst="roundRect">
            <a:avLst>
              <a:gd name="adj" fmla="val 6250"/>
            </a:avLst>
          </a:prstGeom>
          <a:solidFill>
            <a:srgbClr val="EE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864608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TO HOLD ON 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" y="5102352"/>
            <a:ext cx="10436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long strip of paper running past you. You may rub bits out, you may write new bits on, but you never re-copy the whole strip. Whatever you leave alone arrives at the far end exactly as it started.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 — THE THREE GATES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controls the belt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is a sigmoid layer that looks at the current input and the previous hidden state and outputs a number between 0 and 1 for every component of memory — 0 means block completely, 1 means let through completely.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41248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27248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IT ANSWERS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79208" y="2359152"/>
            <a:ext cx="4135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 THE BELT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" y="2724912"/>
            <a:ext cx="10948111" cy="786384"/>
          </a:xfrm>
          <a:prstGeom prst="roundRect">
            <a:avLst>
              <a:gd name="adj" fmla="val 9302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8163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 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27248" y="281635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erase from memory?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79208" y="2816352"/>
            <a:ext cx="41358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the belt by ≈0 (forget) or ≈1 (keep)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3621024"/>
            <a:ext cx="10948111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1246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27248" y="371246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new information should I write?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79208" y="3712464"/>
            <a:ext cx="41358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candidate before it is added 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4517136"/>
            <a:ext cx="10948111" cy="786384"/>
          </a:xfrm>
          <a:prstGeom prst="roundRect">
            <a:avLst>
              <a:gd name="adj" fmla="val 9302"/>
            </a:avLst>
          </a:prstGeom>
          <a:solidFill>
            <a:srgbClr val="EE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6085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27248" y="460857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of memory should I expose right now?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79208" y="4608576"/>
            <a:ext cx="41358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out a filtered view as the hidden state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" y="5413248"/>
            <a:ext cx="10948111" cy="786384"/>
          </a:xfrm>
          <a:prstGeom prst="roundRect">
            <a:avLst>
              <a:gd name="adj" fmla="val 9302"/>
            </a:avLst>
          </a:prstGeom>
          <a:solidFill>
            <a:srgbClr val="EEF2FC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5559552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7824" y="5797296"/>
            <a:ext cx="104360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is not a switch — it is a dimmer, and there is one dimmer per number in the memory vector.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vanilla RNN, in gate 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template we are about to use for the LSTM — so you can see exactly what the LSTM adds.</a:t>
            </a:r>
            <a:endParaRPr lang="en-US" sz="1250" dirty="0"/>
          </a:p>
        </p:txBody>
      </p:sp>
      <p:pic>
        <p:nvPicPr>
          <p:cNvPr id="5" name="Image 0" descr="figs/fig_rnn_gate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287" y="1591056"/>
            <a:ext cx="8063121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with its gates welded shut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gate language, the vanilla RNN is not a different family of models — it is the degenerate case.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10948111" cy="969264"/>
          </a:xfrm>
          <a:prstGeom prst="roundRect">
            <a:avLst>
              <a:gd name="adj" fmla="val 7547"/>
            </a:avLst>
          </a:prstGeom>
          <a:solidFill>
            <a:srgbClr val="F6DCD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9456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50592" y="2194560"/>
            <a:ext cx="87992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forget gate is welded to zero, so the previous memory is multiplied away completely at every single step. Nothing survives on its 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10948111" cy="969264"/>
          </a:xfrm>
          <a:prstGeom prst="roundRect">
            <a:avLst>
              <a:gd name="adj" fmla="val 7547"/>
            </a:avLst>
          </a:prstGeom>
          <a:solidFill>
            <a:srgbClr val="DCE4F7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291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50592" y="3291840"/>
            <a:ext cx="87992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gate is welded to one, so the fresh candidate is always written at full strength. The cell has no way to say “not yet”.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4206240"/>
            <a:ext cx="10948111" cy="969264"/>
          </a:xfrm>
          <a:prstGeom prst="roundRect">
            <a:avLst>
              <a:gd name="adj" fmla="val 7547"/>
            </a:avLst>
          </a:prstGeom>
          <a:solidFill>
            <a:srgbClr val="DCE4F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3891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50592" y="4389120"/>
            <a:ext cx="87992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gate is welded to one, so the whole state is exposed. There is no private memory the cell keeps 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" y="5266944"/>
            <a:ext cx="10948111" cy="969264"/>
          </a:xfrm>
          <a:prstGeom prst="roundRect">
            <a:avLst>
              <a:gd name="adj" fmla="val 7547"/>
            </a:avLst>
          </a:prstGeom>
          <a:solidFill>
            <a:srgbClr val="EE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413248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IS THE WHOLE PROBLEM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" y="56509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 is pinned to 0 there is no additive path across time, so the gradient has nowhere to travel except back through W — once per step. The LSTM’s whole contribution is to let the network choose those three numbers.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W · [ h , x ]  actually means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LSTM equations arrive, one piece of notation is worth taking apart, because every gate uses it.</a:t>
            </a:r>
            <a:endParaRPr lang="en-US" sz="1250" dirty="0"/>
          </a:p>
        </p:txBody>
      </p:sp>
      <p:pic>
        <p:nvPicPr>
          <p:cNvPr id="5" name="Image 0" descr="figs/fig_block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656" y="1591056"/>
            <a:ext cx="8636384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cell, opened 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weight matrices, three gates, one belt. Follow the red line: it never passes through a matrix.</a:t>
            </a:r>
            <a:endParaRPr lang="en-US" sz="1250" dirty="0"/>
          </a:p>
        </p:txBody>
      </p:sp>
      <p:pic>
        <p:nvPicPr>
          <p:cNvPr id="5" name="Image 0" descr="figs/fig_lstm_c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287" y="1591056"/>
            <a:ext cx="8063121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matrices, four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read the same stacked vector [ h_t−1 , x_t ], so all four have the same shape: h × (h + d).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1920240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DCE4F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64792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82112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 — how much of each slot on the belt survives this step.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779776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DCE4F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8712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64792" y="28712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112" y="28712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 — how strongly the new candidate is written 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3639312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730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64792" y="37307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82112" y="37307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C̃ — the content that could be written, squashed to (−1, 1).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4498848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DCE4F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5902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7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64792" y="45902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82112" y="4590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 — which parts of the belt become the visible hidden state 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1920240"/>
            <a:ext cx="3749040" cy="3054096"/>
          </a:xfrm>
          <a:prstGeom prst="roundRect">
            <a:avLst>
              <a:gd name="adj" fmla="val 2395"/>
            </a:avLst>
          </a:prstGeom>
          <a:solidFill>
            <a:srgbClr val="EEF2FC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2157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SYMBOLS ON THE BELT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924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22208" y="250545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elementwise multiply — the dimmer. Multiplying by the forget gate is how the belt gets erased.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22208" y="3602736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addition — the whole reason the gradient survives. Addition passes a gradient through untouched.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" y="5376672"/>
            <a:ext cx="10948111" cy="822960"/>
          </a:xfrm>
          <a:prstGeom prst="roundRect">
            <a:avLst>
              <a:gd name="adj" fmla="val 8889"/>
            </a:avLst>
          </a:prstGeom>
          <a:solidFill>
            <a:srgbClr val="EEF2FC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522976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7824" y="576072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the diagram is a σ (squash to 0–1, for gates) or a tanh (squash to −1–1, for content). No other matrices exist.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belt, across three timesteps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 is the only thing in the diagram that travels the whole length of the sequence untouched.</a:t>
            </a:r>
            <a:endParaRPr lang="en-US" sz="1250" dirty="0"/>
          </a:p>
        </p:txBody>
      </p:sp>
      <p:pic>
        <p:nvPicPr>
          <p:cNvPr id="5" name="Image 0" descr="figs/fig_lstm_unro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302" y="1737360"/>
            <a:ext cx="9033092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 — FORWARD PASS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equations, line by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426464"/>
            <a:ext cx="10948111" cy="1042416"/>
          </a:xfrm>
          <a:prstGeom prst="roundRect">
            <a:avLst>
              <a:gd name="adj" fmla="val 7018"/>
            </a:avLst>
          </a:prstGeom>
          <a:solidFill>
            <a:srgbClr val="DCE4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361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— sigmoid, output in [0, 1]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i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o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σ( W · [ h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x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+ b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matrices, one per gate; each answers a yes/no-ish question per slot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2587752"/>
            <a:ext cx="10948111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9748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memory — tanh, output in (−1, 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tanh( W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[ h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x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+ b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the cell would like to write, if the input gate lets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3749040"/>
            <a:ext cx="10948111" cy="1042416"/>
          </a:xfrm>
          <a:prstGeom prst="roundRect">
            <a:avLst>
              <a:gd name="adj" fmla="val 7018"/>
            </a:avLst>
          </a:prstGeom>
          <a:solidFill>
            <a:srgbClr val="F6DC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5876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belt — this is the additive step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41330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f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⊙ C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i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⊙ C̃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51713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some of the old, add some of the new — no matrix touches 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4910328"/>
            <a:ext cx="10948111" cy="1042416"/>
          </a:xfrm>
          <a:prstGeom prst="roundRect">
            <a:avLst>
              <a:gd name="adj" fmla="val 7018"/>
            </a:avLst>
          </a:prstGeom>
          <a:solidFill>
            <a:srgbClr val="DCE4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005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— the visible output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2943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o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⊙ tanh( C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67842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belt, squashed and filtered; this is what the next cell and the prediction see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GATES, UNSTACKED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LSTM gate, written out in full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 in the diagram is a pair of matrices glued side by side. Split them apart and the stacking disappears.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057400" y="20116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DRAWN — ONE STACKED VECTOR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29400" y="2011680"/>
            <a:ext cx="4867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OUT — TWO MATRICES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" y="2304288"/>
            <a:ext cx="10948111" cy="713232"/>
          </a:xfrm>
          <a:prstGeom prst="roundRect">
            <a:avLst>
              <a:gd name="adj" fmla="val 10256"/>
            </a:avLst>
          </a:prstGeom>
          <a:solidFill>
            <a:srgbClr val="DCE4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57400" y="239572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 W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[ h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x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+ b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395728"/>
            <a:ext cx="4867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" y="3108960"/>
            <a:ext cx="1094811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57400" y="3200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 W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[ h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x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+ b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200400"/>
            <a:ext cx="4867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" y="3913632"/>
            <a:ext cx="10948111" cy="713232"/>
          </a:xfrm>
          <a:prstGeom prst="roundRect">
            <a:avLst>
              <a:gd name="adj" fmla="val 10256"/>
            </a:avLst>
          </a:prstGeom>
          <a:solidFill>
            <a:srgbClr val="DCE4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0507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57400" y="400507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 W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[ h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x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+ b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005072"/>
            <a:ext cx="4867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" y="4718304"/>
            <a:ext cx="1094811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0974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17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057400" y="48097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 W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[ h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x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+ b</a:t>
            </a:r>
            <a:pPr indent="0" marL="0">
              <a:buNone/>
            </a:pPr>
            <a:r>
              <a:rPr lang="en-US" sz="130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13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09744"/>
            <a:ext cx="4867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35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" y="5541264"/>
            <a:ext cx="10948111" cy="73152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5687568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SUBSCRIPTS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7824" y="5925312"/>
            <a:ext cx="10436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h-subscripted matrix: h × h, multiplies the memory.   x-subscripted: h × d, multiplies the input.   Papers often name the pair W and U instead.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 — THE PAYOFF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additive belt saves the gradient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C_t = f_t ⊙ C_t−1 + i_t ⊙ C̃_t with respect to C_t−1 and you get, simply, the forget gate — not a weight matrix.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21284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∂C</a:t>
            </a:r>
            <a:pPr indent="0" marL="0">
              <a:buNone/>
            </a:pPr>
            <a:r>
              <a:rPr lang="en-US" sz="19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∂C</a:t>
            </a:r>
            <a:pPr indent="0" marL="0">
              <a:buNone/>
            </a:pPr>
            <a:r>
              <a:rPr lang="en-US" sz="19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f</a:t>
            </a:r>
            <a:pPr indent="0" marL="0">
              <a:buNone/>
            </a:pPr>
            <a:r>
              <a:rPr lang="en-US" sz="19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45352" y="221284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EF2F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∂C</a:t>
            </a:r>
            <a:pPr indent="0" marL="0">
              <a:buNone/>
            </a:pPr>
            <a:r>
              <a:rPr lang="en-US" sz="19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∂C</a:t>
            </a:r>
            <a:pPr indent="0" marL="0">
              <a:buNone/>
            </a:pPr>
            <a:r>
              <a:rPr lang="en-US" sz="19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∏ f</a:t>
            </a:r>
            <a:pPr indent="0" marL="0">
              <a:buNone/>
            </a:pPr>
            <a:r>
              <a:rPr lang="en-US" sz="1900" b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" y="3364992"/>
            <a:ext cx="10948111" cy="877824"/>
          </a:xfrm>
          <a:prstGeom prst="roundRect">
            <a:avLst>
              <a:gd name="adj" fmla="val 8333"/>
            </a:avLst>
          </a:prstGeom>
          <a:solidFill>
            <a:srgbClr val="F6DC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1129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 ~  ∏ f_t  ≈  1   when the network chooses to remember  —  no exponential decay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1792" y="4407408"/>
            <a:ext cx="10948111" cy="1737360"/>
          </a:xfrm>
          <a:prstGeom prst="roundRect">
            <a:avLst>
              <a:gd name="adj" fmla="val 4211"/>
            </a:avLst>
          </a:prstGeom>
          <a:solidFill>
            <a:srgbClr val="EE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4553712"/>
            <a:ext cx="10436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TRICK AS RESIDUAL CONNECTIONS — EIGHTEEN YEARS EARLY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7824" y="4791456"/>
            <a:ext cx="1043604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cell state is updated by addition, the gradient travels along a path whose local slope is the forget gate — a number the network learns to set near 1 when memory matters — instead of a shrinking matrix power. That is precisely the additive skip-path that residual connections (2015) would later use to train very deep networks. The LSTM got there in 1997, in a different architecture, for exactly the same reason.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journey backwards, on two roads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every step multiplies the gradient by the same matrix. Bottom: every step multiplies it by a number the network chose.</a:t>
            </a:r>
            <a:endParaRPr lang="en-US" sz="1250" dirty="0"/>
          </a:p>
        </p:txBody>
      </p:sp>
      <p:pic>
        <p:nvPicPr>
          <p:cNvPr id="5" name="Image 0" descr="figs/fig_gradient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583" y="1591056"/>
            <a:ext cx="8924530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Error Carousel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Hochreiter and Schmidhuber gave to the protected, gradient-preserving path through the cell state.</a:t>
            </a:r>
            <a:endParaRPr lang="en-US" sz="1350" dirty="0"/>
          </a:p>
        </p:txBody>
      </p:sp>
      <p:pic>
        <p:nvPicPr>
          <p:cNvPr id="5" name="Image 0" descr="figs/orig_c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877" y="2011680"/>
            <a:ext cx="10459941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5468112"/>
            <a:ext cx="10948111" cy="786384"/>
          </a:xfrm>
          <a:prstGeom prst="roundRect">
            <a:avLst>
              <a:gd name="adj" fmla="val 9302"/>
            </a:avLst>
          </a:prstGeom>
          <a:solidFill>
            <a:srgbClr val="EEF2F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54126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story: gating tackles vanishing gradients, not exploding ones — the standard fix for those is gradient clipping.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 — DERIVATION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gates from the RNN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pairs a data candidate (−1…1, from tanh) with a control gate (0…1, from sigmoid). The LSTM is not an arbitrary invention — it falls out of asking how to make the recurrence stable.</a:t>
            </a:r>
            <a:endParaRPr lang="en-US" sz="1350" dirty="0"/>
          </a:p>
        </p:txBody>
      </p:sp>
      <p:pic>
        <p:nvPicPr>
          <p:cNvPr id="5" name="Image 0" descr="figs/orig_deri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489" y="2084832"/>
            <a:ext cx="10334716" cy="33467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5522976"/>
            <a:ext cx="10948111" cy="73152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5595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s[n]  =  g_cs[n] ⊙ s[n−1]  +  g_cu[n] ⊙ u[n]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011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FA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LSTM TO GRU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2377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trick. Fewer moving parts.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3346704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6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forgetting the old and writing the new are really two sides of one decision, why use two gates for them? And if the belt already carries everything, why keep a separate hidden state at all? The GRU (2014) removes both, and loses surprisingly little.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19.10 — THE STREAMLINED VERSION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fewer gates, same trick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Gated Recurrent Unit (Cho et al., 2014) is a leaner descendant of the LSTM.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286000"/>
            <a:ext cx="3401568" cy="1993392"/>
          </a:xfrm>
          <a:prstGeom prst="roundRect">
            <a:avLst>
              <a:gd name="adj" fmla="val 3670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8716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 does two jobs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871216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gate z sets how much of the new candidate to take in. Whatever it takes, (1 − z) is exactly what it keeps of the old — so forgetting and writing become a single decision.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3401568" cy="1993392"/>
          </a:xfrm>
          <a:prstGeom prst="roundRect">
            <a:avLst>
              <a:gd name="adj" fmla="val 3670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48716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state, not two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871216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separate cell state. The hidden state h is the belt, and it is also the output.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39328" y="2286000"/>
            <a:ext cx="3401568" cy="1993392"/>
          </a:xfrm>
          <a:prstGeom prst="roundRect">
            <a:avLst>
              <a:gd name="adj" fmla="val 3670"/>
            </a:avLst>
          </a:prstGeom>
          <a:solidFill>
            <a:srgbClr val="EE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13648" y="248716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reset gate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13648" y="2871216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gate r decides how much of the old memory the candidate is even allowed to look at when it is computed.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4846320"/>
            <a:ext cx="10948111" cy="1060704"/>
          </a:xfrm>
          <a:prstGeom prst="roundRect">
            <a:avLst>
              <a:gd name="adj" fmla="val 6897"/>
            </a:avLst>
          </a:prstGeom>
          <a:solidFill>
            <a:srgbClr val="EE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992624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 THAT MATTERS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" y="52669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5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( 1 − z</a:t>
            </a:r>
            <a:pPr indent="0" marL="0">
              <a:buNone/>
            </a:pPr>
            <a:r>
              <a:rPr lang="en-US" sz="15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⊙ h</a:t>
            </a:r>
            <a:pPr indent="0" marL="0">
              <a:buNone/>
            </a:pPr>
            <a:r>
              <a:rPr lang="en-US" sz="15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z</a:t>
            </a:r>
            <a:pPr indent="0" marL="0">
              <a:buNone/>
            </a:pPr>
            <a:r>
              <a:rPr lang="en-US" sz="15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⊙ ĥ</a:t>
            </a:r>
            <a:pPr indent="0" marL="0">
              <a:buNone/>
            </a:pPr>
            <a:r>
              <a:rPr lang="en-US" sz="15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19472" y="52669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interpolation between the old memory and the new candidate. Still additive, so the gradient still survives.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GRU cell, opened 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weight matrices instead of four, and a single carried vector instead of two.</a:t>
            </a:r>
            <a:endParaRPr lang="en-US" sz="1250" dirty="0"/>
          </a:p>
        </p:txBody>
      </p:sp>
      <p:pic>
        <p:nvPicPr>
          <p:cNvPr id="5" name="Image 0" descr="figs/fig_gru_c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464" y="1591056"/>
            <a:ext cx="8386767" cy="462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matrices, and one clever complement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16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 of matrices. The h-matrix of the candidate multiplies the reset-filtered memory, not the raw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1956816"/>
            <a:ext cx="10948111" cy="1170432"/>
          </a:xfrm>
          <a:prstGeom prst="roundRect">
            <a:avLst>
              <a:gd name="adj" fmla="val 6250"/>
            </a:avLst>
          </a:prstGeom>
          <a:solidFill>
            <a:srgbClr val="DCE4F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76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8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5968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16352" y="2121408"/>
            <a:ext cx="84335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σ( W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16352" y="2560320"/>
            <a:ext cx="84335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 ≈ 0 the candidate ignores the old memory entirely.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3236976"/>
            <a:ext cx="10948111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56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8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3877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16352" y="3401568"/>
            <a:ext cx="84335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tanh( W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r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⊙ h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 +  W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16352" y="3840480"/>
            <a:ext cx="84335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the h-matrix multiplies here: the reset-filtered memory, not h</a:t>
            </a:r>
            <a:pPr indent="0" marL="0">
              <a:buNone/>
            </a:pPr>
            <a:r>
              <a:rPr lang="en-US" sz="1150" baseline="-40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1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itself.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4517136"/>
            <a:ext cx="10948111" cy="1170432"/>
          </a:xfrm>
          <a:prstGeom prst="roundRect">
            <a:avLst>
              <a:gd name="adj" fmla="val 6250"/>
            </a:avLst>
          </a:prstGeom>
          <a:solidFill>
            <a:srgbClr val="F6DCD8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736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800" b="1" i="1" baseline="-400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5157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16352" y="4681728"/>
            <a:ext cx="84335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σ( W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W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xz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b</a:t>
            </a:r>
            <a:pPr indent="0" marL="0">
              <a:buNone/>
            </a:pPr>
            <a:r>
              <a:rPr lang="en-US" sz="1400" b="1" baseline="-40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16352" y="5120640"/>
            <a:ext cx="84335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 weight: z on the new, (1 − z) on the old. z ≈ 0 is the gradient highway.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5815584"/>
            <a:ext cx="10948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z ≈ 0 for many steps in a row and the GRU copies its memory forward verbatim — the same protected path the LSTM belt provides.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19.11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GRU, matrix by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GRU drops one matrix and one carried vector. Everything else is the same idea.</a:t>
            </a:r>
            <a:endParaRPr lang="en-US" sz="1250" dirty="0"/>
          </a:p>
        </p:txBody>
      </p:sp>
      <p:pic>
        <p:nvPicPr>
          <p:cNvPr id="5" name="Image 0" descr="figs/fig_gru_vs_lst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025" y="1645920"/>
            <a:ext cx="8849645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GATED CELL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or LSTM?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16552" y="1261872"/>
            <a:ext cx="3703320" cy="530352"/>
          </a:xfrm>
          <a:prstGeom prst="roundRect">
            <a:avLst>
              <a:gd name="adj" fmla="val 13793"/>
            </a:avLst>
          </a:prstGeom>
          <a:solidFill>
            <a:srgbClr val="1E2A5E"/>
          </a:solidFill>
          <a:ln/>
        </p:spPr>
      </p:sp>
      <p:sp>
        <p:nvSpPr>
          <p:cNvPr id="5" name="Text 3"/>
          <p:cNvSpPr/>
          <p:nvPr/>
        </p:nvSpPr>
        <p:spPr>
          <a:xfrm>
            <a:off x="4416552" y="1261872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57032" y="1261872"/>
            <a:ext cx="3312871" cy="530352"/>
          </a:xfrm>
          <a:prstGeom prst="roundRect">
            <a:avLst>
              <a:gd name="adj" fmla="val 13793"/>
            </a:avLst>
          </a:prstGeom>
          <a:solidFill>
            <a:srgbClr val="33409B"/>
          </a:solidFill>
          <a:ln/>
        </p:spPr>
      </p:sp>
      <p:sp>
        <p:nvSpPr>
          <p:cNvPr id="7" name="Text 5"/>
          <p:cNvSpPr/>
          <p:nvPr/>
        </p:nvSpPr>
        <p:spPr>
          <a:xfrm>
            <a:off x="8257032" y="1261872"/>
            <a:ext cx="331287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920240"/>
            <a:ext cx="10948111" cy="576072"/>
          </a:xfrm>
          <a:prstGeom prst="roundRect">
            <a:avLst>
              <a:gd name="adj" fmla="val 12698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75104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36008" y="1975104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(forget, input, output)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76488" y="1975104"/>
            <a:ext cx="294711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(update, reset)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569464"/>
            <a:ext cx="10948111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624328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cell state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36008" y="2624328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C_t and h_t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76488" y="2624328"/>
            <a:ext cx="294711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folded into h_t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3218688"/>
            <a:ext cx="10948111" cy="576072"/>
          </a:xfrm>
          <a:prstGeom prst="roundRect">
            <a:avLst>
              <a:gd name="adj" fmla="val 12698"/>
            </a:avLst>
          </a:prstGeom>
          <a:solidFill>
            <a:srgbClr val="EE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273552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6008" y="3273552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76488" y="3273552"/>
            <a:ext cx="294711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fewer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" y="3867912"/>
            <a:ext cx="10948111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922776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36008" y="3922776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76488" y="3922776"/>
            <a:ext cx="294711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" y="4517136"/>
            <a:ext cx="10948111" cy="576072"/>
          </a:xfrm>
          <a:prstGeom prst="roundRect">
            <a:avLst>
              <a:gd name="adj" fmla="val 12698"/>
            </a:avLst>
          </a:prstGeom>
          <a:solidFill>
            <a:srgbClr val="EEF2FC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572000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control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36008" y="4572000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Finer-grained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76488" y="4572000"/>
            <a:ext cx="294711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Coarser, but usually enough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" y="5166360"/>
            <a:ext cx="10948111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AAB2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221224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36008" y="5221224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complex dependencies; plenty of data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76488" y="5221224"/>
            <a:ext cx="294711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datasets; speed matters; first thing to try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1792" y="5833872"/>
            <a:ext cx="10948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start with a GRU. Reach for an LSTM only if the GRU plateaus and you have the data to feed it.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19.11 — KNOWING WHEN NOT TO USE THE FASHIONABLE TOOL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566928"/>
            <a:ext cx="109481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vs. Transformer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have largely superseded recurrent cells — but not everywhere.</a:t>
            </a:r>
            <a:endParaRPr lang="en-US" sz="1250" dirty="0"/>
          </a:p>
        </p:txBody>
      </p:sp>
      <p:pic>
        <p:nvPicPr>
          <p:cNvPr id="5" name="Image 0" descr="figs/fig_vs_transfor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674" y="1645920"/>
            <a:ext cx="9696347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2336"/>
            <a:ext cx="10948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 IN ONE BREATH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618488"/>
            <a:ext cx="420624" cy="420624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18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43584" y="1426464"/>
            <a:ext cx="103263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process sequences step by step, carrying a hidden-state memory and sharing one set of weight matrices — W_xh, W_hh, W_hy — across every timestep.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2532888"/>
            <a:ext cx="420624" cy="420624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532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43584" y="2340864"/>
            <a:ext cx="103263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by backpropagation through time multiplies the gradient by W_hh once per step, so a vanilla RNN forgets anything more than about ten steps back.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3447288"/>
            <a:ext cx="420624" cy="420624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447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3255264"/>
            <a:ext cx="103263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fixes this with a conveyor-belt cell state, updated additively and controlled by four matrices: W_f, W_i, W_C and W_o.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4361688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43584" y="4169664"/>
            <a:ext cx="103263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update is additive, the long-range gradient becomes a product of forget-gate values that stays near 1 when memory is kept — the same trick residual connections reused eighteen years later.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" y="5276088"/>
            <a:ext cx="420624" cy="420624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5276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43584" y="5084064"/>
            <a:ext cx="103263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GRU is the streamlined two-gate version — W_z, W_r, W_c — and Transformers have largely superseded both, except for streaming, very-long-sequence and low-resource settings.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VI  ·  Ch. 19 — Recurrent Networks, LSTM &amp; GRU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Volume VI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971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6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Part VI of the ML/DL Handbook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023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20" kern="0" dirty="0">
                <a:solidFill>
                  <a:srgbClr val="8FA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4334256"/>
            <a:ext cx="8168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Sherstinsky — “Fundamentals of Recurrent Neural Network (RNN) and Long Short-Term Memory (LSTM) Network”, Physica D (2020); arXiv:1808.03314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20" kern="0" dirty="0">
                <a:solidFill>
                  <a:srgbClr val="6B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/ DL HANDBOOK  ·  COMPANION SERIES, VOLUME VI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2026-08-24T01:51:50Z</dcterms:created>
  <dcterms:modified xsi:type="dcterms:W3CDTF">2026-08-24T01:51:50Z</dcterms:modified>
</cp:coreProperties>
</file>