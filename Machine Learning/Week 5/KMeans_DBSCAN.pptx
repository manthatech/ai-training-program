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4" r:id="rId25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2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  <Relationship Id="rId24" Type="http://schemas.openxmlformats.org/officeDocument/2006/relationships/slide" Target="slides/slide18.xml"/>
  <Relationship Id="rId25" Type="http://schemas.openxmlformats.org/officeDocument/2006/relationships/slide" Target="slides/slide19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-7-1.png"/><Relationship Id="rId11" Type="http://schemas.openxmlformats.org/officeDocument/2006/relationships/image" Target="../media/image-7-2.png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image" Target="../media/image-9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image" Target="../media/image-13-4.png"/><Relationship Id="rId5" Type="http://schemas.openxmlformats.org/officeDocument/2006/relationships/image" Target="../media/image-13-4.png"/><Relationship Id="rId6" Type="http://schemas.openxmlformats.org/officeDocument/2006/relationships/image" Target="../media/image-13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-18-1.png"/><Relationship Id="rId11" Type="http://schemas.openxmlformats.org/officeDocument/2006/relationships/image" Target="../media/image-18-2.png"/><Relationship Id="rId12" Type="http://schemas.openxmlformats.org/officeDocument/2006/relationships/image" Target="../media/image-18-3.png"/><Relationship Id="rId13" Type="http://schemas.openxmlformats.org/officeDocument/2006/relationships/image" Target="../media/image-18-4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image-19-1.png"/><Relationship Id="rId11" Type="http://schemas.openxmlformats.org/officeDocument/2006/relationships/image" Target="../media/image-19-2.png"/><Relationship Id="rId12" Type="http://schemas.openxmlformats.org/officeDocument/2006/relationships/image" Target="../media/image-19-3.png"/><Relationship Id="rId13" Type="http://schemas.openxmlformats.org/officeDocument/2006/relationships/image" Target="../media/image-19-4.png"/><Relationship Id="rId14" Type="http://schemas.openxmlformats.org/officeDocument/2006/relationships/image" Target="../media/image-19-5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PROGRAM  ·  WEEK 5  ·  PHASE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&amp; DBSCAN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for Beginners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hands-on introduction to unsupervised learning — grouping data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labels, and finding structure no one told the model to look for.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730444" y="196546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Shape 5"/>
          <p:cNvSpPr/>
          <p:nvPr/>
        </p:nvSpPr>
        <p:spPr>
          <a:xfrm>
            <a:off x="8940160" y="182484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Shape 6"/>
          <p:cNvSpPr/>
          <p:nvPr/>
        </p:nvSpPr>
        <p:spPr>
          <a:xfrm>
            <a:off x="8879884" y="203851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8826193" y="1970337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8866011" y="193245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8825490" y="194066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9052328" y="1643317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8851129" y="2063759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8972603" y="1795391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9195490" y="2371243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2153" y="200541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8787823" y="202942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9042319" y="202051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5804" y="218413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Shape 18"/>
          <p:cNvSpPr/>
          <p:nvPr/>
        </p:nvSpPr>
        <p:spPr>
          <a:xfrm>
            <a:off x="8377829" y="210937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8699494" y="165793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Shape 20"/>
          <p:cNvSpPr/>
          <p:nvPr/>
        </p:nvSpPr>
        <p:spPr>
          <a:xfrm>
            <a:off x="8628681" y="1746485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Shape 21"/>
          <p:cNvSpPr/>
          <p:nvPr/>
        </p:nvSpPr>
        <p:spPr>
          <a:xfrm>
            <a:off x="8809422" y="2141903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Shape 22"/>
          <p:cNvSpPr/>
          <p:nvPr/>
        </p:nvSpPr>
        <p:spPr>
          <a:xfrm>
            <a:off x="8913776" y="171022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Shape 23"/>
          <p:cNvSpPr/>
          <p:nvPr/>
        </p:nvSpPr>
        <p:spPr>
          <a:xfrm>
            <a:off x="8637505" y="2079300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Shape 24"/>
          <p:cNvSpPr/>
          <p:nvPr/>
        </p:nvSpPr>
        <p:spPr>
          <a:xfrm>
            <a:off x="8909122" y="2233701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Shape 25"/>
          <p:cNvSpPr/>
          <p:nvPr/>
        </p:nvSpPr>
        <p:spPr>
          <a:xfrm>
            <a:off x="9151764" y="2284055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8763610" y="1886196"/>
            <a:ext cx="40233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1109851" y="3034221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Shape 28"/>
          <p:cNvSpPr/>
          <p:nvPr/>
        </p:nvSpPr>
        <p:spPr>
          <a:xfrm>
            <a:off x="10964836" y="3208117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25276" y="2902235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46206" y="2984409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3" name="Shape 31"/>
          <p:cNvSpPr/>
          <p:nvPr/>
        </p:nvSpPr>
        <p:spPr>
          <a:xfrm>
            <a:off x="10703357" y="309057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88164" y="2920157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46160" y="2731397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Shape 34"/>
          <p:cNvSpPr/>
          <p:nvPr/>
        </p:nvSpPr>
        <p:spPr>
          <a:xfrm>
            <a:off x="10772078" y="269362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76452" y="281107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95315" y="3418185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Shape 37"/>
          <p:cNvSpPr/>
          <p:nvPr/>
        </p:nvSpPr>
        <p:spPr>
          <a:xfrm>
            <a:off x="10599499" y="3160281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0" name="Shape 38"/>
          <p:cNvSpPr/>
          <p:nvPr/>
        </p:nvSpPr>
        <p:spPr>
          <a:xfrm>
            <a:off x="10461540" y="3375099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1" name="Shape 39"/>
          <p:cNvSpPr/>
          <p:nvPr/>
        </p:nvSpPr>
        <p:spPr>
          <a:xfrm>
            <a:off x="10665069" y="310167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2" name="Shape 40"/>
          <p:cNvSpPr/>
          <p:nvPr/>
        </p:nvSpPr>
        <p:spPr>
          <a:xfrm>
            <a:off x="10642820" y="3233235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Shape 41"/>
          <p:cNvSpPr/>
          <p:nvPr/>
        </p:nvSpPr>
        <p:spPr>
          <a:xfrm>
            <a:off x="10500628" y="335492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4" name="Shape 42"/>
          <p:cNvSpPr/>
          <p:nvPr/>
        </p:nvSpPr>
        <p:spPr>
          <a:xfrm>
            <a:off x="10712623" y="292486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73442" y="3026789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6" name="Shape 44"/>
          <p:cNvSpPr/>
          <p:nvPr/>
        </p:nvSpPr>
        <p:spPr>
          <a:xfrm>
            <a:off x="10565115" y="2864841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Shape 45"/>
          <p:cNvSpPr/>
          <p:nvPr/>
        </p:nvSpPr>
        <p:spPr>
          <a:xfrm>
            <a:off x="10709378" y="265914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8" name="Shape 46"/>
          <p:cNvSpPr/>
          <p:nvPr/>
        </p:nvSpPr>
        <p:spPr>
          <a:xfrm>
            <a:off x="10462763" y="334104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9" name="Shape 47"/>
          <p:cNvSpPr/>
          <p:nvPr/>
        </p:nvSpPr>
        <p:spPr>
          <a:xfrm>
            <a:off x="10769303" y="339076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0" name="Shape 48"/>
          <p:cNvSpPr/>
          <p:nvPr/>
        </p:nvSpPr>
        <p:spPr>
          <a:xfrm>
            <a:off x="10426732" y="310463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1" name="Text 49"/>
          <p:cNvSpPr/>
          <p:nvPr/>
        </p:nvSpPr>
        <p:spPr>
          <a:xfrm>
            <a:off x="10611612" y="2910324"/>
            <a:ext cx="40233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9504585" y="4507939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53" name="Shape 51"/>
          <p:cNvSpPr/>
          <p:nvPr/>
        </p:nvSpPr>
        <p:spPr>
          <a:xfrm>
            <a:off x="9289231" y="4838967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54" name="Shape 52"/>
          <p:cNvSpPr/>
          <p:nvPr/>
        </p:nvSpPr>
        <p:spPr>
          <a:xfrm>
            <a:off x="9113388" y="4576199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55" name="Shape 53"/>
          <p:cNvSpPr/>
          <p:nvPr/>
        </p:nvSpPr>
        <p:spPr>
          <a:xfrm>
            <a:off x="9498602" y="5043822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56" name="Shape 54"/>
          <p:cNvSpPr/>
          <p:nvPr/>
        </p:nvSpPr>
        <p:spPr>
          <a:xfrm>
            <a:off x="9401781" y="4965064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57" name="Shape 55"/>
          <p:cNvSpPr/>
          <p:nvPr/>
        </p:nvSpPr>
        <p:spPr>
          <a:xfrm>
            <a:off x="9263191" y="4973229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58" name="Shape 56"/>
          <p:cNvSpPr/>
          <p:nvPr/>
        </p:nvSpPr>
        <p:spPr>
          <a:xfrm>
            <a:off x="9299579" y="4624666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59" name="Shape 57"/>
          <p:cNvSpPr/>
          <p:nvPr/>
        </p:nvSpPr>
        <p:spPr>
          <a:xfrm>
            <a:off x="9351772" y="4806680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60" name="Shape 58"/>
          <p:cNvSpPr/>
          <p:nvPr/>
        </p:nvSpPr>
        <p:spPr>
          <a:xfrm>
            <a:off x="9463795" y="5116259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61" name="Shape 59"/>
          <p:cNvSpPr/>
          <p:nvPr/>
        </p:nvSpPr>
        <p:spPr>
          <a:xfrm>
            <a:off x="9547596" y="4987830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62" name="Shape 60"/>
          <p:cNvSpPr/>
          <p:nvPr/>
        </p:nvSpPr>
        <p:spPr>
          <a:xfrm>
            <a:off x="9504962" y="4729577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63" name="Shape 61"/>
          <p:cNvSpPr/>
          <p:nvPr/>
        </p:nvSpPr>
        <p:spPr>
          <a:xfrm>
            <a:off x="9257998" y="4822410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64" name="Shape 62"/>
          <p:cNvSpPr/>
          <p:nvPr/>
        </p:nvSpPr>
        <p:spPr>
          <a:xfrm>
            <a:off x="9511133" y="4853153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65" name="Shape 63"/>
          <p:cNvSpPr/>
          <p:nvPr/>
        </p:nvSpPr>
        <p:spPr>
          <a:xfrm>
            <a:off x="9404152" y="4550874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66" name="Shape 64"/>
          <p:cNvSpPr/>
          <p:nvPr/>
        </p:nvSpPr>
        <p:spPr>
          <a:xfrm>
            <a:off x="9285882" y="4731760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67" name="Shape 65"/>
          <p:cNvSpPr/>
          <p:nvPr/>
        </p:nvSpPr>
        <p:spPr>
          <a:xfrm>
            <a:off x="9281630" y="4860717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68" name="Shape 66"/>
          <p:cNvSpPr/>
          <p:nvPr/>
        </p:nvSpPr>
        <p:spPr>
          <a:xfrm>
            <a:off x="9689422" y="4636331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69" name="Shape 67"/>
          <p:cNvSpPr/>
          <p:nvPr/>
        </p:nvSpPr>
        <p:spPr>
          <a:xfrm>
            <a:off x="9638886" y="4935750"/>
            <a:ext cx="91440" cy="91440"/>
          </a:xfrm>
          <a:prstGeom prst="ellipse">
            <a:avLst/>
          </a:prstGeom>
          <a:solidFill>
            <a:srgbClr val="7DD3C0"/>
          </a:solidFill>
          <a:ln/>
        </p:spPr>
      </p:sp>
      <p:sp>
        <p:nvSpPr>
          <p:cNvPr id="70" name="Text 68"/>
          <p:cNvSpPr/>
          <p:nvPr/>
        </p:nvSpPr>
        <p:spPr>
          <a:xfrm>
            <a:off x="9314078" y="4753755"/>
            <a:ext cx="40233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259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ptx_build/icon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22795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Clustering?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30428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&amp; real-world use cases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63640" y="17373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92240" y="21259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x_build/icons/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859" y="22795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38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69480" y="230428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algorithm, step by step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8176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pptx_build/icons/slid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39712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630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39959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&amp; silhouette score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63640" y="34290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492240" y="38176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3" descr="/home/claude/pptx_build/icons/gri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859" y="397123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630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69480" y="39959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Density-based clustering &amp; noise detection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120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509260"/>
            <a:ext cx="640080" cy="64008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26" name="Image 4" descr="/home/claude/pptx_build/icons/map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859" y="566287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321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vs. DBSCAN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554480" y="56875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comparison, when to use which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63640" y="512064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6492240" y="5509260"/>
            <a:ext cx="640080" cy="64008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31" name="Image 5" descr="/home/claude/pptx_build/icons/shopping_bag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859" y="566287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9480" y="532180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269480" y="568756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notebook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94360" cy="59436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6" name="Image 0" descr="/home/claude/pptx_build/icons/file_tex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224576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671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343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labeled examples: inputs paired with the correct answer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a mapping that predicts labels for new, unseen data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covered in Week 4: linear &amp; logistic regression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568135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6888175" y="210312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x_build/icon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822" y="2245766"/>
            <a:ext cx="309067" cy="309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19695" y="216712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933895" y="2926080"/>
            <a:ext cx="43434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provide only raw data — there are no labels at all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discover hidden structure, groups, or patterns on its own</a:t>
            </a:r>
            <a:endParaRPr lang="en-US" sz="1350" dirty="0"/>
          </a:p>
          <a:p>
            <a:pPr marL="177800" indent="-1778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topic: clustering, with K-Means and DBSCAN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730088" y="3497580"/>
            <a:ext cx="731520" cy="73152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30088" y="34975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Clustering?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groups data points so that items in the </a:t>
            </a:r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group are as similar as possible, and items in </a:t>
            </a:r>
            <a:pPr indent="0" marL="0">
              <a:lnSpc>
                <a:spcPts val="2000"/>
              </a:lnSpc>
              <a:buNone/>
            </a:pPr>
            <a:r>
              <a:rPr lang="en-US" sz="15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pPr indent="0" marL="0">
              <a:lnSpc>
                <a:spcPts val="2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groups are as different as possible — with no labels to guide it.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97180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/home/claude/pptx_build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13639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691640" y="32278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by income &amp; behavior to target marketing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251460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297180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2" name="Image 1" descr="/home/claude/pptx_build/icons/alert_triang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313639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7889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406640" y="322783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that fit no cluster get flagged as outliers or fraud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846320"/>
            <a:ext cx="685800" cy="6858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/home/claude/pptx_build/icons/imag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501091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663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Compression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691640" y="51023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similar pixel colors, replace each group with one color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263640" y="4389120"/>
            <a:ext cx="5394960" cy="1600200"/>
          </a:xfrm>
          <a:prstGeom prst="roundRect">
            <a:avLst>
              <a:gd name="adj" fmla="val 4571"/>
            </a:avLst>
          </a:prstGeom>
          <a:solidFill>
            <a:srgbClr val="F1F5F9"/>
          </a:solidFill>
          <a:ln/>
        </p:spPr>
      </p:sp>
      <p:sp>
        <p:nvSpPr>
          <p:cNvPr id="21" name="Shape 16"/>
          <p:cNvSpPr/>
          <p:nvPr/>
        </p:nvSpPr>
        <p:spPr>
          <a:xfrm>
            <a:off x="6537960" y="4846320"/>
            <a:ext cx="685800" cy="68580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3" descr="/home/claude/pptx_build/icons/file_text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501091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6634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/ Topic Clustering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7406640" y="510235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articles or support tickets by underlying topic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Clustering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E6FF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points by distance to a center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073528" y="2235188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238305" y="2124704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190945" y="2292585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148759" y="223901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180045" y="2209248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48207" y="2215699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326436" y="1982072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68351" y="2312419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263796" y="2101559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438921" y="2554014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035585" y="2266577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18611" y="2285445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318572" y="2278443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117024" y="2407001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796473" y="2348258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049210" y="1993558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070848" y="2154115"/>
            <a:ext cx="40233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383459" y="3407300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25470" y="3717986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607462" y="3378809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90392" y="3668798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03806" y="3790113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794453" y="3829677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62992" y="3613643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56648" y="3741166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0" name="Shape 28"/>
          <p:cNvSpPr/>
          <p:nvPr/>
        </p:nvSpPr>
        <p:spPr>
          <a:xfrm>
            <a:off x="10580971" y="3516853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76319" y="3577114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564897" y="3654966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53755" y="3529995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522952" y="3391571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615292" y="3363873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45166" y="3450004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7" name="Shape 35"/>
          <p:cNvSpPr/>
          <p:nvPr/>
        </p:nvSpPr>
        <p:spPr>
          <a:xfrm>
            <a:off x="10632332" y="3895216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10460736" y="3498283"/>
            <a:ext cx="40233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9457489" y="4906442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40" name="Shape 38"/>
          <p:cNvSpPr/>
          <p:nvPr/>
        </p:nvSpPr>
        <p:spPr>
          <a:xfrm>
            <a:off x="9365516" y="5049654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41" name="Shape 39"/>
          <p:cNvSpPr/>
          <p:nvPr/>
        </p:nvSpPr>
        <p:spPr>
          <a:xfrm>
            <a:off x="9501202" y="4867370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42" name="Shape 40"/>
          <p:cNvSpPr/>
          <p:nvPr/>
        </p:nvSpPr>
        <p:spPr>
          <a:xfrm>
            <a:off x="9486370" y="4955078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43" name="Shape 41"/>
          <p:cNvSpPr/>
          <p:nvPr/>
        </p:nvSpPr>
        <p:spPr>
          <a:xfrm>
            <a:off x="9391574" y="5036201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44" name="Shape 42"/>
          <p:cNvSpPr/>
          <p:nvPr/>
        </p:nvSpPr>
        <p:spPr>
          <a:xfrm>
            <a:off x="9532905" y="4749495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45" name="Shape 43"/>
          <p:cNvSpPr/>
          <p:nvPr/>
        </p:nvSpPr>
        <p:spPr>
          <a:xfrm>
            <a:off x="9506784" y="4817448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46" name="Shape 44"/>
          <p:cNvSpPr/>
          <p:nvPr/>
        </p:nvSpPr>
        <p:spPr>
          <a:xfrm>
            <a:off x="9434566" y="4709482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47" name="Shape 45"/>
          <p:cNvSpPr/>
          <p:nvPr/>
        </p:nvSpPr>
        <p:spPr>
          <a:xfrm>
            <a:off x="9530741" y="4572353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48" name="Shape 46"/>
          <p:cNvSpPr/>
          <p:nvPr/>
        </p:nvSpPr>
        <p:spPr>
          <a:xfrm>
            <a:off x="9366331" y="5026951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49" name="Shape 47"/>
          <p:cNvSpPr/>
          <p:nvPr/>
        </p:nvSpPr>
        <p:spPr>
          <a:xfrm>
            <a:off x="9570691" y="5060096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50" name="Shape 48"/>
          <p:cNvSpPr/>
          <p:nvPr/>
        </p:nvSpPr>
        <p:spPr>
          <a:xfrm>
            <a:off x="9342311" y="4869345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51" name="Shape 49"/>
          <p:cNvSpPr/>
          <p:nvPr/>
        </p:nvSpPr>
        <p:spPr>
          <a:xfrm>
            <a:off x="9598412" y="4516787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52" name="Shape 50"/>
          <p:cNvSpPr/>
          <p:nvPr/>
        </p:nvSpPr>
        <p:spPr>
          <a:xfrm>
            <a:off x="9418950" y="4792643"/>
            <a:ext cx="100584" cy="100584"/>
          </a:xfrm>
          <a:prstGeom prst="ellipse">
            <a:avLst/>
          </a:prstGeom>
          <a:solidFill>
            <a:srgbClr val="E6FFFA"/>
          </a:solidFill>
          <a:ln/>
        </p:spPr>
      </p:sp>
      <p:sp>
        <p:nvSpPr>
          <p:cNvPr id="53" name="Text 51"/>
          <p:cNvSpPr/>
          <p:nvPr/>
        </p:nvSpPr>
        <p:spPr>
          <a:xfrm>
            <a:off x="9418320" y="4708035"/>
            <a:ext cx="40233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THE ALGORITHM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 to Convergence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4964" y="2148840"/>
            <a:ext cx="1234440" cy="1234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54964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950208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how many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to find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95728" y="21488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159252" y="2148840"/>
            <a:ext cx="1234440" cy="1234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159252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852928" y="35661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52928" y="3950208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place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centroids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0016" y="21488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63540" y="2148840"/>
            <a:ext cx="1234440" cy="1234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463540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5157216" y="35661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157216" y="3950208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point joins its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centroid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04304" y="21488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67828" y="2148840"/>
            <a:ext cx="1234440" cy="1234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767828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461504" y="35661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461504" y="3950208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centroids to the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their points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08592" y="2148840"/>
            <a:ext cx="457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072116" y="2148840"/>
            <a:ext cx="1234440" cy="1234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10072116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9765792" y="3566160"/>
            <a:ext cx="1847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765792" y="3950208"/>
            <a:ext cx="1847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centroids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moving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937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3 – 4 repeat until the assignments no longer change.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1737360" y="50749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2011680" y="523036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 </a:t>
            </a:r>
            <a:pPr algn="ct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the total squared distance from every point to its own cluster's centroid (“inertia” / WCSS).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11680" y="56692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2809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J = Σ Σ  ‖ x − μᵢ ‖²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IN ACTION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Points to Clusters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892040" cy="3429000"/>
          </a:xfrm>
          <a:prstGeom prst="roundRect">
            <a:avLst>
              <a:gd name="adj" fmla="val 1600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751015" y="1737360"/>
            <a:ext cx="4892040" cy="3429000"/>
          </a:xfrm>
          <a:prstGeom prst="roundRect">
            <a:avLst>
              <a:gd name="adj" fmla="val 1600"/>
            </a:avLst>
          </a:prstGeom>
          <a:solidFill>
            <a:srgbClr val="F1F5F9"/>
          </a:solidFill>
          <a:ln/>
        </p:spPr>
      </p:sp>
      <p:sp>
        <p:nvSpPr>
          <p:cNvPr id="53" name="Text 51"/>
          <p:cNvSpPr/>
          <p:nvPr/>
        </p:nvSpPr>
        <p:spPr>
          <a:xfrm>
            <a:off x="7025335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K-MEANS (K=3)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7919618" y="2876491"/>
            <a:ext cx="40233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500" dirty="0"/>
          </a:p>
        </p:txBody>
      </p:sp>
      <p:sp>
        <p:nvSpPr>
          <p:cNvPr id="87" name="Text 85"/>
          <p:cNvSpPr/>
          <p:nvPr/>
        </p:nvSpPr>
        <p:spPr>
          <a:xfrm>
            <a:off x="9876434" y="3155383"/>
            <a:ext cx="40233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500" dirty="0"/>
          </a:p>
        </p:txBody>
      </p:sp>
      <p:sp>
        <p:nvSpPr>
          <p:cNvPr id="102" name="Text 100"/>
          <p:cNvSpPr/>
          <p:nvPr/>
        </p:nvSpPr>
        <p:spPr>
          <a:xfrm>
            <a:off x="8751265" y="4047838"/>
            <a:ext cx="40233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500" dirty="0"/>
          </a:p>
        </p:txBody>
      </p:sp>
      <p:sp>
        <p:nvSpPr>
          <p:cNvPr id="103" name="Text 101"/>
          <p:cNvSpPr/>
          <p:nvPr/>
        </p:nvSpPr>
        <p:spPr>
          <a:xfrm>
            <a:off x="5440680" y="3131820"/>
            <a:ext cx="13103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4" name="Text 10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200" name="plot20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75660" y="2286000"/>
            <a:ext cx="3438000" cy="2610478"/>
          </a:xfrm>
          <a:prstGeom prst="rect">
            <a:avLst/>
          </a:prstGeom>
        </p:spPr>
      </p:pic>
      <p:pic>
        <p:nvPicPr>
          <p:cNvPr id="201" name="plot20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78035" y="2286000"/>
            <a:ext cx="3438000" cy="2610478"/>
          </a:xfrm>
          <a:prstGeom prst="rect">
            <a:avLst/>
          </a:prstGeom>
        </p:spPr>
      </p:pic>
      <p:sp>
        <p:nvSpPr>
          <p:cNvPr id="210" name="Arrow"/>
          <p:cNvSpPr/>
          <p:nvPr/>
        </p:nvSpPr>
        <p:spPr>
          <a:xfrm>
            <a:off x="5440680" y="3200400"/>
            <a:ext cx="1310335" cy="5000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3200" b="1" dirty="0">
                <a:solidFill>
                  <a:srgbClr val="028090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MODEL SELECTION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Clusters? Elbow &amp; Silhouette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05840" y="5257800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14807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05840" y="4514850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40512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3771900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66217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05840" y="3028950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1922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005840" y="2286000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17627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05840" y="2286000"/>
            <a:ext cx="0" cy="2971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5257800"/>
            <a:ext cx="4526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17520" y="2286000"/>
            <a:ext cx="0" cy="2971800"/>
          </a:xfrm>
          <a:prstGeom prst="line">
            <a:avLst/>
          </a:prstGeom>
          <a:noFill/>
          <a:ln w="12700">
            <a:solidFill>
              <a:srgbClr val="0F172A">
                <a:alpha val="60000"/>
              </a:srgbClr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05840" y="2628900"/>
            <a:ext cx="502920" cy="99474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08760" y="3623640"/>
            <a:ext cx="502920" cy="581156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4204796"/>
            <a:ext cx="502920" cy="423091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4627887"/>
            <a:ext cx="502920" cy="203821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4831708"/>
            <a:ext cx="502920" cy="26146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4857854"/>
            <a:ext cx="502920" cy="19015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4876869"/>
            <a:ext cx="502920" cy="14262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26280" y="4891131"/>
            <a:ext cx="502920" cy="12479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4903610"/>
            <a:ext cx="502920" cy="11290"/>
          </a:xfrm>
          <a:prstGeom prst="line">
            <a:avLst/>
          </a:prstGeom>
          <a:noFill/>
          <a:ln w="28575">
            <a:solidFill>
              <a:srgbClr val="02809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2583180"/>
            <a:ext cx="91440" cy="914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63040" y="3577920"/>
            <a:ext cx="91440" cy="914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65960" y="4159076"/>
            <a:ext cx="91440" cy="914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68880" y="4582167"/>
            <a:ext cx="91440" cy="914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35224" y="4749412"/>
            <a:ext cx="164592" cy="164592"/>
          </a:xfrm>
          <a:prstGeom prst="ellipse">
            <a:avLst/>
          </a:prstGeom>
          <a:solidFill>
            <a:srgbClr val="0F17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4812134"/>
            <a:ext cx="91440" cy="914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77640" y="4831149"/>
            <a:ext cx="91440" cy="914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80560" y="4845411"/>
            <a:ext cx="91440" cy="914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3480" y="4857890"/>
            <a:ext cx="91440" cy="914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4869180"/>
            <a:ext cx="91440" cy="91440"/>
          </a:xfrm>
          <a:prstGeom prst="ellipse">
            <a:avLst/>
          </a:prstGeom>
          <a:solidFill>
            <a:srgbClr val="028090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28016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78308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28600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8892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29184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79476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29768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80060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30352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005840" y="554126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Clusters (K)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77240" y="5806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flattens sharply after K = 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76695" y="1828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6979615" y="5257800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6695" y="514807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0.37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979615" y="4514850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76695" y="440512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79615" y="3771900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76695" y="366217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979615" y="3028950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76695" y="291922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979615" y="2286000"/>
            <a:ext cx="4526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76695" y="2176272"/>
            <a:ext cx="448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79615" y="2286000"/>
            <a:ext cx="0" cy="2971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79615" y="5257800"/>
            <a:ext cx="4526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676970" y="2286000"/>
            <a:ext cx="0" cy="2971800"/>
          </a:xfrm>
          <a:prstGeom prst="line">
            <a:avLst/>
          </a:prstGeom>
          <a:noFill/>
          <a:ln w="12700">
            <a:solidFill>
              <a:srgbClr val="0F172A">
                <a:alpha val="60000"/>
              </a:srgbClr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 flipV="1">
            <a:off x="6979615" y="4141040"/>
            <a:ext cx="565785" cy="773860"/>
          </a:xfrm>
          <a:prstGeom prst="line">
            <a:avLst/>
          </a:prstGeom>
          <a:noFill/>
          <a:ln w="28575">
            <a:solidFill>
              <a:srgbClr val="B8504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7545400" y="3260441"/>
            <a:ext cx="565785" cy="880599"/>
          </a:xfrm>
          <a:prstGeom prst="line">
            <a:avLst/>
          </a:prstGeom>
          <a:noFill/>
          <a:ln w="28575">
            <a:solidFill>
              <a:srgbClr val="B8504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8111185" y="2628900"/>
            <a:ext cx="565785" cy="631541"/>
          </a:xfrm>
          <a:prstGeom prst="line">
            <a:avLst/>
          </a:prstGeom>
          <a:noFill/>
          <a:ln w="28575">
            <a:solidFill>
              <a:srgbClr val="B8504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76970" y="2628900"/>
            <a:ext cx="565785" cy="453642"/>
          </a:xfrm>
          <a:prstGeom prst="line">
            <a:avLst/>
          </a:prstGeom>
          <a:noFill/>
          <a:ln w="28575">
            <a:solidFill>
              <a:srgbClr val="B8504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242755" y="3082542"/>
            <a:ext cx="565785" cy="266848"/>
          </a:xfrm>
          <a:prstGeom prst="line">
            <a:avLst/>
          </a:prstGeom>
          <a:noFill/>
          <a:ln w="28575">
            <a:solidFill>
              <a:srgbClr val="B8504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808540" y="3349390"/>
            <a:ext cx="565785" cy="409167"/>
          </a:xfrm>
          <a:prstGeom prst="line">
            <a:avLst/>
          </a:prstGeom>
          <a:noFill/>
          <a:ln w="28575">
            <a:solidFill>
              <a:srgbClr val="B85042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374325" y="3758558"/>
            <a:ext cx="565785" cy="560381"/>
          </a:xfrm>
          <a:prstGeom prst="line">
            <a:avLst/>
          </a:prstGeom>
          <a:noFill/>
          <a:ln w="28575">
            <a:solidFill>
              <a:srgbClr val="B85042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940110" y="4318939"/>
            <a:ext cx="565785" cy="560381"/>
          </a:xfrm>
          <a:prstGeom prst="line">
            <a:avLst/>
          </a:prstGeom>
          <a:noFill/>
          <a:ln w="28575">
            <a:solidFill>
              <a:srgbClr val="B8504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933895" y="4869180"/>
            <a:ext cx="91440" cy="91440"/>
          </a:xfrm>
          <a:prstGeom prst="ellipse">
            <a:avLst/>
          </a:prstGeom>
          <a:solidFill>
            <a:srgbClr val="B8504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499680" y="4095320"/>
            <a:ext cx="91440" cy="91440"/>
          </a:xfrm>
          <a:prstGeom prst="ellipse">
            <a:avLst/>
          </a:prstGeom>
          <a:solidFill>
            <a:srgbClr val="B8504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65465" y="3214721"/>
            <a:ext cx="91440" cy="91440"/>
          </a:xfrm>
          <a:prstGeom prst="ellipse">
            <a:avLst/>
          </a:prstGeom>
          <a:solidFill>
            <a:srgbClr val="B8504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594674" y="2546604"/>
            <a:ext cx="164592" cy="164592"/>
          </a:xfrm>
          <a:prstGeom prst="ellipse">
            <a:avLst/>
          </a:prstGeom>
          <a:solidFill>
            <a:srgbClr val="0F172A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197035" y="3036822"/>
            <a:ext cx="91440" cy="91440"/>
          </a:xfrm>
          <a:prstGeom prst="ellipse">
            <a:avLst/>
          </a:prstGeom>
          <a:solidFill>
            <a:srgbClr val="B8504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762820" y="3303670"/>
            <a:ext cx="91440" cy="91440"/>
          </a:xfrm>
          <a:prstGeom prst="ellipse">
            <a:avLst/>
          </a:prstGeom>
          <a:solidFill>
            <a:srgbClr val="B8504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328605" y="3712838"/>
            <a:ext cx="91440" cy="91440"/>
          </a:xfrm>
          <a:prstGeom prst="ellipse">
            <a:avLst/>
          </a:prstGeom>
          <a:solidFill>
            <a:srgbClr val="B8504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894390" y="4273219"/>
            <a:ext cx="91440" cy="91440"/>
          </a:xfrm>
          <a:prstGeom prst="ellipse">
            <a:avLst/>
          </a:prstGeom>
          <a:solidFill>
            <a:srgbClr val="B8504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460175" y="4833600"/>
            <a:ext cx="91440" cy="91440"/>
          </a:xfrm>
          <a:prstGeom prst="ellipse">
            <a:avLst/>
          </a:prstGeom>
          <a:solidFill>
            <a:srgbClr val="B85042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51015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731680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7882585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844837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9014155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957994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10145725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10711510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11277295" y="5330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6979615" y="5541264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Clusters (K)</a:t>
            </a:r>
            <a:endParaRPr lang="en-US" sz="1000" dirty="0"/>
          </a:p>
        </p:txBody>
      </p:sp>
      <p:sp>
        <p:nvSpPr>
          <p:cNvPr id="90" name="Text 88"/>
          <p:cNvSpPr/>
          <p:nvPr/>
        </p:nvSpPr>
        <p:spPr>
          <a:xfrm>
            <a:off x="6751015" y="5806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Peaks at K = 5 (score = 0.661)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TRADE-OFFS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/home/claude/pptx_build/icons/check_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2" y="2789652"/>
            <a:ext cx="199705" cy="1997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6517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scales well to large datasets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36118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pptx_build/icons/check_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72" y="3704052"/>
            <a:ext cx="199705" cy="1997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566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understand, explain, and implement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914400" y="45262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/home/claude/pptx_build/icons/check_circ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4618452"/>
            <a:ext cx="199705" cy="1997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4805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great when clusters are roughly round and similarly sized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568135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1F5F9"/>
          </a:solidFill>
          <a:ln/>
        </p:spPr>
      </p:sp>
      <p:sp>
        <p:nvSpPr>
          <p:cNvPr id="16" name="Text 11"/>
          <p:cNvSpPr/>
          <p:nvPr/>
        </p:nvSpPr>
        <p:spPr>
          <a:xfrm>
            <a:off x="6933895" y="2057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6933895" y="26974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3" descr="/home/claude/pptx_build/icons/x_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067" y="2789652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82535" y="26517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choose K in advance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933895" y="36118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1" name="Image 4" descr="/home/claude/pptx_build/icons/x_circ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6067" y="3704052"/>
            <a:ext cx="199705" cy="19970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82535" y="3566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spherical, evenly-sized clusters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6933895" y="45262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4" name="Image 5" descr="/home/claude/pptx_build/icons/x_circl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6067" y="4618452"/>
            <a:ext cx="199705" cy="19970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82535" y="44805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 and to how centroids are initialized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61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FF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points by density, not distance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206847" y="2452839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416563" y="2312224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9356286" y="2525891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9302595" y="2457712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342414" y="2419825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301893" y="2428035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9528730" y="2130692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327531" y="2551134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9449006" y="2282766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671892" y="2858618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158555" y="2492789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9264225" y="2516803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9518721" y="2507891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262206" y="2671511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854232" y="2596747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175896" y="2145311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105084" y="2233860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285825" y="2629278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390178" y="2197597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113908" y="2566675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080469" y="4289272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23111" y="4339626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10342" y="4064673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8" name="Shape 26"/>
          <p:cNvSpPr/>
          <p:nvPr/>
        </p:nvSpPr>
        <p:spPr>
          <a:xfrm>
            <a:off x="10274995" y="4226976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1406" y="3941486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0" name="Shape 28"/>
          <p:cNvSpPr/>
          <p:nvPr/>
        </p:nvSpPr>
        <p:spPr>
          <a:xfrm>
            <a:off x="9790940" y="4018182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30948" y="4117267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2" name="Shape 30"/>
          <p:cNvSpPr/>
          <p:nvPr/>
        </p:nvSpPr>
        <p:spPr>
          <a:xfrm>
            <a:off x="10016768" y="3958213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3" name="Shape 31"/>
          <p:cNvSpPr/>
          <p:nvPr/>
        </p:nvSpPr>
        <p:spPr>
          <a:xfrm>
            <a:off x="9977564" y="3782037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4" name="Shape 32"/>
          <p:cNvSpPr/>
          <p:nvPr/>
        </p:nvSpPr>
        <p:spPr>
          <a:xfrm>
            <a:off x="10095088" y="3746784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05837" y="3856406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6" name="Shape 34"/>
          <p:cNvSpPr/>
          <p:nvPr/>
        </p:nvSpPr>
        <p:spPr>
          <a:xfrm>
            <a:off x="10116775" y="4423039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7" name="Shape 35"/>
          <p:cNvSpPr/>
          <p:nvPr/>
        </p:nvSpPr>
        <p:spPr>
          <a:xfrm>
            <a:off x="9934014" y="4182328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8" name="Shape 36"/>
          <p:cNvSpPr/>
          <p:nvPr/>
        </p:nvSpPr>
        <p:spPr>
          <a:xfrm>
            <a:off x="9805252" y="4382825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9" name="Shape 37"/>
          <p:cNvSpPr/>
          <p:nvPr/>
        </p:nvSpPr>
        <p:spPr>
          <a:xfrm>
            <a:off x="9995212" y="4127627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0" name="Shape 38"/>
          <p:cNvSpPr/>
          <p:nvPr/>
        </p:nvSpPr>
        <p:spPr>
          <a:xfrm>
            <a:off x="9974447" y="4250419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1" name="Shape 39"/>
          <p:cNvSpPr/>
          <p:nvPr/>
        </p:nvSpPr>
        <p:spPr>
          <a:xfrm>
            <a:off x="9841734" y="4363992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2" name="Shape 40"/>
          <p:cNvSpPr/>
          <p:nvPr/>
        </p:nvSpPr>
        <p:spPr>
          <a:xfrm>
            <a:off x="10039597" y="3962603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003027" y="4057737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4" name="Shape 42"/>
          <p:cNvSpPr/>
          <p:nvPr/>
        </p:nvSpPr>
        <p:spPr>
          <a:xfrm>
            <a:off x="9901922" y="3906585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5" name="Shape 43"/>
          <p:cNvSpPr/>
          <p:nvPr/>
        </p:nvSpPr>
        <p:spPr>
          <a:xfrm>
            <a:off x="8503920" y="1828800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11430000" y="4846320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8778240" y="5212080"/>
            <a:ext cx="100584" cy="1005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· CORE CONCEPTS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Core, Border &amp; Noise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040880" cy="4206240"/>
          </a:xfrm>
          <a:prstGeom prst="roundRect">
            <a:avLst>
              <a:gd name="adj" fmla="val 1304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1874520" y="3017520"/>
            <a:ext cx="2103120" cy="2103120"/>
          </a:xfrm>
          <a:prstGeom prst="ellipse">
            <a:avLst/>
          </a:prstGeom>
          <a:solidFill>
            <a:srgbClr val="F96167">
              <a:alpha val="12000"/>
            </a:srgbClr>
          </a:solidFill>
          <a:ln w="19050">
            <a:solidFill>
              <a:srgbClr val="F96167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3008376" y="4334256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Shape 5"/>
          <p:cNvSpPr/>
          <p:nvPr/>
        </p:nvSpPr>
        <p:spPr>
          <a:xfrm>
            <a:off x="2596896" y="4242816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8" name="Shape 6"/>
          <p:cNvSpPr/>
          <p:nvPr/>
        </p:nvSpPr>
        <p:spPr>
          <a:xfrm>
            <a:off x="3236976" y="3877056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Shape 7"/>
          <p:cNvSpPr/>
          <p:nvPr/>
        </p:nvSpPr>
        <p:spPr>
          <a:xfrm>
            <a:off x="2688336" y="3694176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Shape 8"/>
          <p:cNvSpPr/>
          <p:nvPr/>
        </p:nvSpPr>
        <p:spPr>
          <a:xfrm>
            <a:off x="2916936" y="4517136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Shape 9"/>
          <p:cNvSpPr/>
          <p:nvPr/>
        </p:nvSpPr>
        <p:spPr>
          <a:xfrm>
            <a:off x="2459736" y="3968496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Shape 10"/>
          <p:cNvSpPr/>
          <p:nvPr/>
        </p:nvSpPr>
        <p:spPr>
          <a:xfrm>
            <a:off x="2843784" y="3986784"/>
            <a:ext cx="164592" cy="164592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5166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point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98264" y="3712464"/>
            <a:ext cx="164592" cy="164592"/>
          </a:xfrm>
          <a:prstGeom prst="ellipse">
            <a:avLst/>
          </a:prstGeom>
          <a:solidFill>
            <a:srgbClr val="00A89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3291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point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08576" y="3877056"/>
            <a:ext cx="109728" cy="109728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Shape 15"/>
          <p:cNvSpPr/>
          <p:nvPr/>
        </p:nvSpPr>
        <p:spPr>
          <a:xfrm>
            <a:off x="6501384" y="5084064"/>
            <a:ext cx="164592" cy="164592"/>
          </a:xfrm>
          <a:prstGeom prst="ellipse">
            <a:avLst/>
          </a:prstGeom>
          <a:solidFill>
            <a:srgbClr val="94A3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5349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point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00200" y="2651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(eps) radius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55280" y="1874520"/>
            <a:ext cx="3687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parameters define “dense”: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55280" y="2423160"/>
            <a:ext cx="3687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(ε):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radius around each point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3200400"/>
            <a:ext cx="3687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min_samples: 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points needed within eps to count as dense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4114800"/>
            <a:ext cx="36877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min_samples neighbors within eps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neighbors, but within eps of a core point
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Noise: 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— too far from any dense region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· THE ALGORITHM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No Pre-Set 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25855" y="2148840"/>
            <a:ext cx="1234440" cy="1234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1125855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3566160"/>
            <a:ext cx="2388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point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950208"/>
            <a:ext cx="23888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any unvisited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in the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37510" y="214884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017645" y="2148840"/>
            <a:ext cx="1234440" cy="1234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017645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440430" y="3566160"/>
            <a:ext cx="2388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neighbors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40430" y="3950208"/>
            <a:ext cx="23888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points within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eps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29300" y="214884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909435" y="2148840"/>
            <a:ext cx="1234440" cy="1234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909435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332220" y="3566160"/>
            <a:ext cx="2388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32220" y="3950208"/>
            <a:ext cx="23888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→ grow cluster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→ join nearby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→ noise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721090" y="214884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801225" y="2148840"/>
            <a:ext cx="1234440" cy="1234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9801225" y="214884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224010" y="3566160"/>
            <a:ext cx="23888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24010" y="3950208"/>
            <a:ext cx="238887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every point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been visited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280160" y="5257800"/>
            <a:ext cx="96012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1554480" y="5394960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grow by chaining together dense neighborhoods, so DBSCAN never needs to know the number of clusters in advance — it emerges from the data.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· TRADE-OFFS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&amp;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1F5F9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6974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7" name="Image 0" descr="/home/claude/pptx_build/icons/check_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572" y="2789652"/>
            <a:ext cx="199705" cy="19970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6517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specify the number of clusters up front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914400" y="36118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/home/claude/pptx_build/icons/check_circl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72" y="3704052"/>
            <a:ext cx="199705" cy="19970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566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arbitrarily shaped clusters, not just round ones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914400" y="4526280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3" name="Image 2" descr="/home/claude/pptx_build/icons/check_circ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572" y="4618452"/>
            <a:ext cx="199705" cy="19970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4805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flags outliers as noise instead of forcing them in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568135" y="178308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1F5F9"/>
          </a:solidFill>
          <a:ln/>
        </p:spPr>
      </p:sp>
      <p:sp>
        <p:nvSpPr>
          <p:cNvPr id="16" name="Text 11"/>
          <p:cNvSpPr/>
          <p:nvPr/>
        </p:nvSpPr>
        <p:spPr>
          <a:xfrm>
            <a:off x="6933895" y="2057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6933895" y="2697480"/>
            <a:ext cx="384048" cy="384048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18" name="Image 3" descr="/home/claude/pptx_build/icons/x_circ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067" y="2789652"/>
            <a:ext cx="199705" cy="19970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482535" y="26517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the choice of eps and min_samples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933895" y="3611880"/>
            <a:ext cx="384048" cy="384048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21" name="Image 4" descr="/home/claude/pptx_build/icons/x_circl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6067" y="3704052"/>
            <a:ext cx="199705" cy="19970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482535" y="35661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when clusters have very different densities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6933895" y="4526280"/>
            <a:ext cx="384048" cy="384048"/>
          </a:xfrm>
          <a:prstGeom prst="ellipse">
            <a:avLst/>
          </a:prstGeom>
          <a:solidFill>
            <a:srgbClr val="94A3B8"/>
          </a:solidFill>
          <a:ln/>
        </p:spPr>
      </p:sp>
      <p:pic>
        <p:nvPicPr>
          <p:cNvPr id="24" name="Image 5" descr="/home/claude/pptx_build/icons/x_circl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6067" y="4618452"/>
            <a:ext cx="199705" cy="199705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482535" y="448056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than K-Means on very large or high-dimensional data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27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vs. DBSCAN, Side by Side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16052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clusters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 specify 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Discovered automatically from density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shape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Assumes spherical / convex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arbitrary shapes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/ noise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point forced into a cluster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Explicitly labeled as noise (−1)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parameters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(and n_init)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eps, min_samples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Well-separated, blob-like groups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Irregular shapes, spatial data, anomaly detection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K-Means and DBSCAN to a real-shaped retail dataset and turn clusters into customer segments a marketing team could actually 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926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7" name="Image 0" descr="/home/claude/pptx_build/icons/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304678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3886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age in years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269748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926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1" descr="/home/claude/pptx_build/icons/trending_u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701" y="3046781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(k$)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72000" y="3886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income, in thousands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269748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/>
        </p:spPr>
      </p:sp>
      <p:sp>
        <p:nvSpPr>
          <p:cNvPr id="16" name="Shape 12"/>
          <p:cNvSpPr/>
          <p:nvPr/>
        </p:nvSpPr>
        <p:spPr>
          <a:xfrm>
            <a:off x="8275320" y="2926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2" descr="/home/claude/pptx_build/icons/targe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021" y="3046781"/>
            <a:ext cx="261518" cy="26151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35661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Score (1–100)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75320" y="3886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Behavior-based score set by the mall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457200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0A896"/>
          </a:solidFill>
          <a:ln/>
        </p:spPr>
      </p:sp>
      <p:sp>
        <p:nvSpPr>
          <p:cNvPr id="21" name="Shape 16"/>
          <p:cNvSpPr/>
          <p:nvPr/>
        </p:nvSpPr>
        <p:spPr>
          <a:xfrm>
            <a:off x="914400" y="48463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home/claude/pptx_build/icons/book_open_02809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910" y="5043830"/>
            <a:ext cx="427939" cy="42793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20240" y="482803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notebook: Week5_KMeans_DBSCAN_Clustering.ipynb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920240" y="5257800"/>
            <a:ext cx="9326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F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Mall-Customer-style dataset · full EDA · K-Means from scratch · elbow &amp; silhouette · DBSCAN tuning · practice exercises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259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ptx_build/icon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2576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202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is unsupervised learning: finding structure in data with no labels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212598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pptx_build/icons/targe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3914" y="22576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23760" y="19202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assigns points to the nearest centroid, then updates centroids, until convergence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2461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358902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2" descr="/home/claude/pptx_build/icons/slid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372069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3832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Elbow Method and Silhouette Score together to choose a good K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263640" y="32461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492240" y="358902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8" name="Image 3" descr="/home/claude/pptx_build/icons/gri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914" y="3720694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23760" y="33832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groups by density, finds K automatically, and explicitly flags noise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47091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21" name="Shape 15"/>
          <p:cNvSpPr/>
          <p:nvPr/>
        </p:nvSpPr>
        <p:spPr>
          <a:xfrm>
            <a:off x="777240" y="50520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2" name="Image 4" descr="/home/claude/pptx_build/icons/shield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5183734"/>
            <a:ext cx="285293" cy="285293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48463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scale your features first — both algorithms rely on distance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263640" y="47091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/>
        </p:spPr>
      </p:sp>
      <p:sp>
        <p:nvSpPr>
          <p:cNvPr id="25" name="Shape 18"/>
          <p:cNvSpPr/>
          <p:nvPr/>
        </p:nvSpPr>
        <p:spPr>
          <a:xfrm>
            <a:off x="6492240" y="5052060"/>
            <a:ext cx="548640" cy="54864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26" name="Image 5" descr="/home/claude/pptx_build/icons/map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3914" y="5183734"/>
            <a:ext cx="285293" cy="285293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223760" y="484632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rarely one “correct” algorithm — try both and compare on your data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29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· WEEK 6 &amp;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Networks, CNN &amp; RNN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24028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Perceptron, MLP &amp; backpropagation</a:t>
            </a:r>
            <a:endParaRPr lang="en-US" sz="15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for image classification (CIFAR-10)</a:t>
            </a:r>
            <a:endParaRPr lang="en-US" sz="15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LSTM architectures for sequence data</a:t>
            </a:r>
            <a:endParaRPr lang="en-US" sz="1500" dirty="0"/>
          </a:p>
          <a:p>
            <a:pPr marL="177800" indent="-1778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MNIST classifier + LSTM stock forecaster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1088136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846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ready to build.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5394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customer data to actionable segments — in two algorithms.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256164" y="1688673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Shape 7"/>
          <p:cNvSpPr/>
          <p:nvPr/>
        </p:nvSpPr>
        <p:spPr>
          <a:xfrm>
            <a:off x="9405961" y="1588233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Shape 8"/>
          <p:cNvSpPr/>
          <p:nvPr/>
        </p:nvSpPr>
        <p:spPr>
          <a:xfrm>
            <a:off x="9362907" y="1740853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9"/>
          <p:cNvSpPr/>
          <p:nvPr/>
        </p:nvSpPr>
        <p:spPr>
          <a:xfrm>
            <a:off x="9324556" y="169215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9352998" y="166509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Shape 11"/>
          <p:cNvSpPr/>
          <p:nvPr/>
        </p:nvSpPr>
        <p:spPr>
          <a:xfrm>
            <a:off x="9324054" y="167095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Shape 12"/>
          <p:cNvSpPr/>
          <p:nvPr/>
        </p:nvSpPr>
        <p:spPr>
          <a:xfrm>
            <a:off x="9486081" y="1458568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Shape 13"/>
          <p:cNvSpPr/>
          <p:nvPr/>
        </p:nvSpPr>
        <p:spPr>
          <a:xfrm>
            <a:off x="9342367" y="1758884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Shape 14"/>
          <p:cNvSpPr/>
          <p:nvPr/>
        </p:nvSpPr>
        <p:spPr>
          <a:xfrm>
            <a:off x="9429135" y="156719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9588340" y="1978515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Shape 16"/>
          <p:cNvSpPr/>
          <p:nvPr/>
        </p:nvSpPr>
        <p:spPr>
          <a:xfrm>
            <a:off x="9221670" y="1717209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Shape 17"/>
          <p:cNvSpPr/>
          <p:nvPr/>
        </p:nvSpPr>
        <p:spPr>
          <a:xfrm>
            <a:off x="9297149" y="1734362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Shape 18"/>
          <p:cNvSpPr/>
          <p:nvPr/>
        </p:nvSpPr>
        <p:spPr>
          <a:xfrm>
            <a:off x="9478932" y="1727996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Shape 19"/>
          <p:cNvSpPr/>
          <p:nvPr/>
        </p:nvSpPr>
        <p:spPr>
          <a:xfrm>
            <a:off x="9295707" y="1844867"/>
            <a:ext cx="91440" cy="91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9235440" y="1600903"/>
            <a:ext cx="40233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247880" y="2568705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77641" y="224625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Shape 23"/>
          <p:cNvSpPr/>
          <p:nvPr/>
        </p:nvSpPr>
        <p:spPr>
          <a:xfrm>
            <a:off x="10427060" y="2309499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56161" y="2591941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Shape 25"/>
          <p:cNvSpPr/>
          <p:nvPr/>
        </p:nvSpPr>
        <p:spPr>
          <a:xfrm>
            <a:off x="10630699" y="228359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8" name="Shape 26"/>
          <p:cNvSpPr/>
          <p:nvPr/>
        </p:nvSpPr>
        <p:spPr>
          <a:xfrm>
            <a:off x="10433363" y="254722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27375" y="2657511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Shape 28"/>
          <p:cNvSpPr/>
          <p:nvPr/>
        </p:nvSpPr>
        <p:spPr>
          <a:xfrm>
            <a:off x="10800691" y="269347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Shape 29"/>
          <p:cNvSpPr/>
          <p:nvPr/>
        </p:nvSpPr>
        <p:spPr>
          <a:xfrm>
            <a:off x="10862999" y="2497083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66323" y="261301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3" name="Shape 31"/>
          <p:cNvSpPr/>
          <p:nvPr/>
        </p:nvSpPr>
        <p:spPr>
          <a:xfrm>
            <a:off x="10606616" y="240909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Shape 32"/>
          <p:cNvSpPr/>
          <p:nvPr/>
        </p:nvSpPr>
        <p:spPr>
          <a:xfrm>
            <a:off x="10420569" y="2463875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92003" y="253465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81875" y="242104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7" name="Text 35"/>
          <p:cNvSpPr/>
          <p:nvPr/>
        </p:nvSpPr>
        <p:spPr>
          <a:xfrm>
            <a:off x="10479024" y="2378143"/>
            <a:ext cx="402336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K-MEANS FAILS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to the Rescue</a:t>
            </a:r>
            <a:endParaRPr lang="en-US" sz="1200" dirty="0"/>
          </a:p>
        </p:txBody>
      </p:sp>
      <p:sp>
        <p:nvSpPr>
          <p:cNvPr id="4" name="ColHdr1"/>
          <p:cNvSpPr/>
          <p:nvPr/>
        </p:nvSpPr>
        <p:spPr>
          <a:xfrm>
            <a:off x="3931920" y="1560000"/>
            <a:ext cx="32004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(K=2)</a:t>
            </a:r>
            <a:endParaRPr lang="en-US" sz="1200" dirty="0"/>
          </a:p>
        </p:txBody>
      </p:sp>
      <p:sp>
        <p:nvSpPr>
          <p:cNvPr id="5" name="ColHdr2"/>
          <p:cNvSpPr/>
          <p:nvPr/>
        </p:nvSpPr>
        <p:spPr>
          <a:xfrm>
            <a:off x="8046720" y="1560000"/>
            <a:ext cx="32004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2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200" dirty="0"/>
          </a:p>
        </p:txBody>
      </p:sp>
      <p:sp>
        <p:nvSpPr>
          <p:cNvPr id="20" name="RowLbl1bg"/>
          <p:cNvSpPr/>
          <p:nvPr/>
        </p:nvSpPr>
        <p:spPr>
          <a:xfrm>
            <a:off x="548640" y="1905000"/>
            <a:ext cx="3109000" cy="192024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owLbl2bg"/>
          <p:cNvSpPr/>
          <p:nvPr/>
        </p:nvSpPr>
        <p:spPr>
          <a:xfrm>
            <a:off x="548640" y="4008120"/>
            <a:ext cx="3109000" cy="1920240"/>
          </a:xfrm>
          <a:prstGeom prst="roundRect">
            <a:avLst>
              <a:gd name="adj" fmla="val 4500"/>
            </a:avLst>
          </a:prstGeom>
          <a:solidFill>
            <a:srgbClr val="F1F5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RowLbl1"/>
          <p:cNvSpPr/>
          <p:nvPr/>
        </p:nvSpPr>
        <p:spPr>
          <a:xfrm>
            <a:off x="731520" y="190500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 Circles</a:t>
            </a:r>
            <a:br>
              <a:rPr lang="en-US" sz="1500"/>
            </a:br>
            <a:r>
              <a:rPr lang="en-US" sz="1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nested rings. K-Means cuts them straight down the middle; DBSCAN follows the density and recovers both rings.</a:t>
            </a:r>
            <a:endParaRPr lang="en-US" sz="1200" dirty="0"/>
          </a:p>
        </p:txBody>
      </p:sp>
      <p:sp>
        <p:nvSpPr>
          <p:cNvPr id="23" name="RowLbl2"/>
          <p:cNvSpPr/>
          <p:nvPr/>
        </p:nvSpPr>
        <p:spPr>
          <a:xfrm>
            <a:off x="731520" y="40081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Half-Moons</a:t>
            </a:r>
            <a:br>
              <a:rPr lang="en-US" sz="1500"/>
            </a:br>
            <a:r>
              <a:rPr lang="en-US" sz="11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interleaved crescents. K-Means splits by a straight boundary; DBSCAN traces each arc as one cluster.</a:t>
            </a:r>
            <a:endParaRPr lang="en-US" sz="1200" dirty="0"/>
          </a:p>
        </p:txBody>
      </p:sp>
      <p:pic>
        <p:nvPicPr>
          <p:cNvPr id="30" name="circles_km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31920" y="1905000"/>
            <a:ext cx="3200400" cy="1920240"/>
          </a:xfrm>
          <a:prstGeom prst="rect">
            <a:avLst/>
          </a:prstGeom>
        </p:spPr>
      </p:pic>
      <p:pic>
        <p:nvPicPr>
          <p:cNvPr id="31" name="circles_db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06640" y="1905000"/>
            <a:ext cx="3200400" cy="1920240"/>
          </a:xfrm>
          <a:prstGeom prst="rect">
            <a:avLst/>
          </a:prstGeom>
        </p:spPr>
      </p:pic>
      <p:pic>
        <p:nvPicPr>
          <p:cNvPr id="32" name="moons_km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931920" y="4008120"/>
            <a:ext cx="3200400" cy="1920240"/>
          </a:xfrm>
          <a:prstGeom prst="rect">
            <a:avLst/>
          </a:prstGeom>
        </p:spPr>
      </p:pic>
      <p:pic>
        <p:nvPicPr>
          <p:cNvPr id="33" name="moons_db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06640" y="4008120"/>
            <a:ext cx="3200400" cy="1920240"/>
          </a:xfrm>
          <a:prstGeom prst="rect">
            <a:avLst/>
          </a:prstGeom>
        </p:spPr>
      </p:pic>
      <p:sp>
        <p:nvSpPr>
          <p:cNvPr id="40" name="Caption"/>
          <p:cNvSpPr/>
          <p:nvPr/>
        </p:nvSpPr>
        <p:spPr>
          <a:xfrm>
            <a:off x="548640" y="6060000"/>
            <a:ext cx="111852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happens:  </a:t>
            </a:r>
            <a:r>
              <a:rPr lang="en-US" sz="115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minimizes distance to a centroid, so it can only carve out round, convex blobs. DBSCAN grows clusters through connected dense regions, so shape doesn't matter — and stray points become noise, not forced members.</a:t>
            </a:r>
            <a:endParaRPr lang="en-US" sz="1200" dirty="0"/>
          </a:p>
        </p:txBody>
      </p:sp>
      <p:sp>
        <p:nvSpPr>
          <p:cNvPr id="104" name="Footer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200" dirty="0"/>
          </a:p>
        </p:txBody>
      </p:sp>
      <p:sp>
        <p:nvSpPr>
          <p:cNvPr id="105" name="PageNum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· WATCH IT LEARN</a:t>
            </a:r>
            <a:endParaRPr lang="en-US" sz="1200" dirty="0"/>
          </a:p>
        </p:txBody>
      </p:sp>
      <p:sp>
        <p:nvSpPr>
          <p:cNvPr id="3" name="Title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Random Guess to Convergence</a:t>
            </a:r>
            <a:endParaRPr lang="en-US" sz="1200" dirty="0"/>
          </a:p>
        </p:txBody>
      </p:sp>
      <p:pic>
        <p:nvPicPr>
          <p:cNvPr id="30" name="iter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2130000"/>
            <a:ext cx="2145792" cy="1865906"/>
          </a:xfrm>
          <a:prstGeom prst="rect">
            <a:avLst/>
          </a:prstGeom>
        </p:spPr>
      </p:pic>
      <p:sp>
        <p:nvSpPr>
          <p:cNvPr id="50" name="step1"/>
          <p:cNvSpPr/>
          <p:nvPr/>
        </p:nvSpPr>
        <p:spPr>
          <a:xfrm>
            <a:off x="457200" y="4064486"/>
            <a:ext cx="214579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pic>
        <p:nvPicPr>
          <p:cNvPr id="31" name="iter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40152" y="2130000"/>
            <a:ext cx="2145792" cy="1865906"/>
          </a:xfrm>
          <a:prstGeom prst="rect">
            <a:avLst/>
          </a:prstGeom>
        </p:spPr>
      </p:pic>
      <p:sp>
        <p:nvSpPr>
          <p:cNvPr id="51" name="step2"/>
          <p:cNvSpPr/>
          <p:nvPr/>
        </p:nvSpPr>
        <p:spPr>
          <a:xfrm>
            <a:off x="2740152" y="4064486"/>
            <a:ext cx="214579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pic>
        <p:nvPicPr>
          <p:cNvPr id="32" name="iter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3104" y="2130000"/>
            <a:ext cx="2145792" cy="1865906"/>
          </a:xfrm>
          <a:prstGeom prst="rect">
            <a:avLst/>
          </a:prstGeom>
        </p:spPr>
      </p:pic>
      <p:sp>
        <p:nvSpPr>
          <p:cNvPr id="52" name="step3"/>
          <p:cNvSpPr/>
          <p:nvPr/>
        </p:nvSpPr>
        <p:spPr>
          <a:xfrm>
            <a:off x="5023104" y="4064486"/>
            <a:ext cx="214579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pic>
        <p:nvPicPr>
          <p:cNvPr id="33" name="iter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06056" y="2130000"/>
            <a:ext cx="2145792" cy="1865906"/>
          </a:xfrm>
          <a:prstGeom prst="rect">
            <a:avLst/>
          </a:prstGeom>
        </p:spPr>
      </p:pic>
      <p:sp>
        <p:nvSpPr>
          <p:cNvPr id="53" name="step4"/>
          <p:cNvSpPr/>
          <p:nvPr/>
        </p:nvSpPr>
        <p:spPr>
          <a:xfrm>
            <a:off x="7306056" y="4064486"/>
            <a:ext cx="214579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200" dirty="0"/>
          </a:p>
        </p:txBody>
      </p:sp>
      <p:pic>
        <p:nvPicPr>
          <p:cNvPr id="34" name="iter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89008" y="2130000"/>
            <a:ext cx="2145792" cy="1865906"/>
          </a:xfrm>
          <a:prstGeom prst="rect">
            <a:avLst/>
          </a:prstGeom>
        </p:spPr>
      </p:pic>
      <p:sp>
        <p:nvSpPr>
          <p:cNvPr id="54" name="step5"/>
          <p:cNvSpPr/>
          <p:nvPr/>
        </p:nvSpPr>
        <p:spPr>
          <a:xfrm>
            <a:off x="9589008" y="4064486"/>
            <a:ext cx="214579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200" dirty="0"/>
          </a:p>
        </p:txBody>
      </p:sp>
      <p:sp>
        <p:nvSpPr>
          <p:cNvPr id="70" name="Caption"/>
          <p:cNvSpPr/>
          <p:nvPr/>
        </p:nvSpPr>
        <p:spPr>
          <a:xfrm>
            <a:off x="548640" y="4475906"/>
            <a:ext cx="111852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five steps as the previous slide, in action:  </a:t>
            </a:r>
            <a:r>
              <a:rPr lang="en-US" sz="12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start in a poor random spot, points are assigned to the nearest one, centroids shift to the mean of their group, and the loop repeats — each pass tightening the fit until assignments stop changing.</a:t>
            </a:r>
            <a:endParaRPr lang="en-US" sz="1200" dirty="0"/>
          </a:p>
        </p:txBody>
      </p:sp>
      <p:sp>
        <p:nvSpPr>
          <p:cNvPr id="104" name="Footer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— Unsupervised Learning</a:t>
            </a:r>
            <a:endParaRPr lang="en-US" sz="1200" dirty="0"/>
          </a:p>
        </p:txBody>
      </p:sp>
      <p:sp>
        <p:nvSpPr>
          <p:cNvPr id="105" name="PageNum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2026-07-19T13:31:07Z</dcterms:created>
  <dcterms:modified xsi:type="dcterms:W3CDTF">2026-07-19T13:31:07Z</dcterms:modified>
</cp:coreProperties>
</file>