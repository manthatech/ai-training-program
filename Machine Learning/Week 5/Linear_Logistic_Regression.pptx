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10375C"/>
          </a:solidFill>
          <a:ln w="12700">
            <a:solidFill>
              <a:srgbClr val="10375C"/>
            </a:solidFill>
            <a:prstDash val="solid"/>
          </a:ln>
        </p:spPr>
      </p:sp>
      <p:sp>
        <p:nvSpPr>
          <p:cNvPr id="3" name="Shape 1"/>
          <p:cNvSpPr/>
          <p:nvPr/>
        </p:nvSpPr>
        <p:spPr>
          <a:xfrm>
            <a:off x="-1645920" y="4206240"/>
            <a:ext cx="3840480" cy="3840480"/>
          </a:xfrm>
          <a:prstGeom prst="ellipse">
            <a:avLst/>
          </a:prstGeom>
          <a:solidFill>
            <a:srgbClr val="0E3050"/>
          </a:solidFill>
          <a:ln w="12700">
            <a:solidFill>
              <a:srgbClr val="0E3050"/>
            </a:solidFill>
            <a:prstDash val="solid"/>
          </a:ln>
        </p:spPr>
      </p:sp>
      <p:sp>
        <p:nvSpPr>
          <p:cNvPr id="4" name="Shape 2"/>
          <p:cNvSpPr/>
          <p:nvPr/>
        </p:nvSpPr>
        <p:spPr>
          <a:xfrm>
            <a:off x="10607040" y="4846320"/>
            <a:ext cx="2377440" cy="2377440"/>
          </a:xfrm>
          <a:prstGeom prst="ellipse">
            <a:avLst/>
          </a:prstGeom>
          <a:solidFill>
            <a:srgbClr val="F2A541"/>
          </a:solidFill>
          <a:ln w="12700">
            <a:solidFill>
              <a:srgbClr val="F2A541"/>
            </a:solidFill>
            <a:prstDash val="solid"/>
          </a:ln>
        </p:spPr>
      </p:sp>
      <p:sp>
        <p:nvSpPr>
          <p:cNvPr id="5" name="Text 3"/>
          <p:cNvSpPr/>
          <p:nvPr/>
        </p:nvSpPr>
        <p:spPr>
          <a:xfrm>
            <a:off x="822960" y="1417320"/>
            <a:ext cx="9144000" cy="365760"/>
          </a:xfrm>
          <a:prstGeom prst="rect">
            <a:avLst/>
          </a:prstGeom>
          <a:noFill/>
          <a:ln/>
        </p:spPr>
        <p:txBody>
          <a:bodyPr wrap="square" rtlCol="0" anchor="ctr"/>
          <a:lstStyle/>
          <a:p>
            <a:pPr indent="0" marL="0">
              <a:buNone/>
            </a:pPr>
            <a:r>
              <a:rPr lang="en-US" sz="1400" b="1" spc="200" kern="0" dirty="0">
                <a:solidFill>
                  <a:srgbClr val="5DA9E9"/>
                </a:solidFill>
                <a:latin typeface="Calibri" pitchFamily="34" charset="0"/>
                <a:ea typeface="Calibri" pitchFamily="34" charset="-122"/>
                <a:cs typeface="Calibri" pitchFamily="34" charset="-120"/>
              </a:rPr>
              <a:t>PHASE 2 · WEEK 5 · REGRESSION &amp; CLUSTERING</a:t>
            </a:r>
            <a:endParaRPr lang="en-US" sz="1400" dirty="0"/>
          </a:p>
        </p:txBody>
      </p:sp>
      <p:sp>
        <p:nvSpPr>
          <p:cNvPr id="6" name="Text 4"/>
          <p:cNvSpPr/>
          <p:nvPr/>
        </p:nvSpPr>
        <p:spPr>
          <a:xfrm>
            <a:off x="777240" y="1874520"/>
            <a:ext cx="10515600" cy="1554480"/>
          </a:xfrm>
          <a:prstGeom prst="rect">
            <a:avLst/>
          </a:prstGeom>
          <a:noFill/>
          <a:ln/>
        </p:spPr>
        <p:txBody>
          <a:bodyPr wrap="square"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Linear &amp; Logistic Regression</a:t>
            </a:r>
            <a:endParaRPr lang="en-US" sz="5000" dirty="0"/>
          </a:p>
        </p:txBody>
      </p:sp>
      <p:sp>
        <p:nvSpPr>
          <p:cNvPr id="7" name="Text 5"/>
          <p:cNvSpPr/>
          <p:nvPr/>
        </p:nvSpPr>
        <p:spPr>
          <a:xfrm>
            <a:off x="822960" y="3383280"/>
            <a:ext cx="9601200" cy="548640"/>
          </a:xfrm>
          <a:prstGeom prst="rect">
            <a:avLst/>
          </a:prstGeom>
          <a:noFill/>
          <a:ln/>
        </p:spPr>
        <p:txBody>
          <a:bodyPr wrap="square" rtlCol="0" anchor="ctr"/>
          <a:lstStyle/>
          <a:p>
            <a:pPr indent="0" marL="0">
              <a:buNone/>
            </a:pPr>
            <a:r>
              <a:rPr lang="en-US" sz="1900" i="1" dirty="0">
                <a:solidFill>
                  <a:srgbClr val="CADCFC"/>
                </a:solidFill>
                <a:latin typeface="Calibri" pitchFamily="34" charset="0"/>
                <a:ea typeface="Calibri" pitchFamily="34" charset="-122"/>
                <a:cs typeface="Calibri" pitchFamily="34" charset="-120"/>
              </a:rPr>
              <a:t>Theory · Mathematical Derivations · Loss Functions · Optimization</a:t>
            </a:r>
            <a:endParaRPr lang="en-US" sz="1900" dirty="0"/>
          </a:p>
        </p:txBody>
      </p:sp>
      <p:sp>
        <p:nvSpPr>
          <p:cNvPr id="8" name="Shape 6"/>
          <p:cNvSpPr/>
          <p:nvPr/>
        </p:nvSpPr>
        <p:spPr>
          <a:xfrm>
            <a:off x="822960" y="4434840"/>
            <a:ext cx="4480560" cy="868680"/>
          </a:xfrm>
          <a:prstGeom prst="roundRect">
            <a:avLst>
              <a:gd name="adj" fmla="val 10526"/>
            </a:avLst>
          </a:prstGeom>
          <a:solidFill>
            <a:srgbClr val="0F2E4D"/>
          </a:solidFill>
          <a:ln w="12700">
            <a:solidFill>
              <a:srgbClr val="1C4A73"/>
            </a:solidFill>
            <a:prstDash val="solid"/>
          </a:ln>
        </p:spPr>
      </p:sp>
      <p:sp>
        <p:nvSpPr>
          <p:cNvPr id="9" name="Text 7"/>
          <p:cNvSpPr/>
          <p:nvPr/>
        </p:nvSpPr>
        <p:spPr>
          <a:xfrm>
            <a:off x="1051560" y="4517136"/>
            <a:ext cx="4023360" cy="274320"/>
          </a:xfrm>
          <a:prstGeom prst="rect">
            <a:avLst/>
          </a:prstGeom>
          <a:noFill/>
          <a:ln/>
        </p:spPr>
        <p:txBody>
          <a:bodyPr wrap="square" rtlCol="0" anchor="ctr"/>
          <a:lstStyle/>
          <a:p>
            <a:pPr indent="0" marL="0">
              <a:buNone/>
            </a:pPr>
            <a:r>
              <a:rPr lang="en-US" sz="1100" b="1" dirty="0">
                <a:solidFill>
                  <a:srgbClr val="5DA9E9"/>
                </a:solidFill>
                <a:latin typeface="Calibri" pitchFamily="34" charset="0"/>
                <a:ea typeface="Calibri" pitchFamily="34" charset="-122"/>
                <a:cs typeface="Calibri" pitchFamily="34" charset="-120"/>
              </a:rPr>
              <a:t>Includes:</a:t>
            </a:r>
            <a:endParaRPr lang="en-US" sz="1100" dirty="0"/>
          </a:p>
        </p:txBody>
      </p:sp>
      <p:sp>
        <p:nvSpPr>
          <p:cNvPr id="10" name="Text 8"/>
          <p:cNvSpPr/>
          <p:nvPr/>
        </p:nvSpPr>
        <p:spPr>
          <a:xfrm>
            <a:off x="1051560" y="4791456"/>
            <a:ext cx="4023360"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Slide Deck  •  Jupyter Notebook  •  Study Guide</a:t>
            </a:r>
            <a:endParaRPr lang="en-US" sz="1400" dirty="0"/>
          </a:p>
        </p:txBody>
      </p:sp>
      <p:sp>
        <p:nvSpPr>
          <p:cNvPr id="11" name="Text 9"/>
          <p:cNvSpPr/>
          <p:nvPr/>
        </p:nvSpPr>
        <p:spPr>
          <a:xfrm>
            <a:off x="822960" y="5989320"/>
            <a:ext cx="7315200" cy="365760"/>
          </a:xfrm>
          <a:prstGeom prst="rect">
            <a:avLst/>
          </a:prstGeom>
          <a:noFill/>
          <a:ln/>
        </p:spPr>
        <p:txBody>
          <a:bodyPr wrap="square" rtlCol="0" anchor="ctr"/>
          <a:lstStyle/>
          <a:p>
            <a:pPr indent="0" marL="0">
              <a:buNone/>
            </a:pPr>
            <a:r>
              <a:rPr lang="en-US" sz="1200" i="1" dirty="0">
                <a:solidFill>
                  <a:srgbClr val="8A97A5"/>
                </a:solidFill>
                <a:latin typeface="Calibri" pitchFamily="34" charset="0"/>
                <a:ea typeface="Calibri" pitchFamily="34" charset="-122"/>
                <a:cs typeface="Calibri" pitchFamily="34" charset="-120"/>
              </a:rPr>
              <a:t>From first principles to production-ready models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ROADMAP</a:t>
            </a:r>
            <a:endParaRPr lang="en-US" sz="1300" dirty="0"/>
          </a:p>
        </p:txBody>
      </p:sp>
      <p:sp>
        <p:nvSpPr>
          <p:cNvPr id="3" name="Text 1"/>
          <p:cNvSpPr/>
          <p:nvPr/>
        </p:nvSpPr>
        <p:spPr>
          <a:xfrm>
            <a:off x="548640" y="658368"/>
            <a:ext cx="10607040" cy="777240"/>
          </a:xfrm>
          <a:prstGeom prst="rect">
            <a:avLst/>
          </a:prstGeom>
          <a:noFill/>
          <a:ln/>
        </p:spPr>
        <p:txBody>
          <a:bodyPr wrap="square" rtlCol="0" anchor="ctr"/>
          <a:lstStyle/>
          <a:p>
            <a:pPr indent="0" marL="0">
              <a:buNone/>
            </a:pPr>
            <a:r>
              <a:rPr lang="en-US" sz="3000" b="1" dirty="0">
                <a:solidFill>
                  <a:srgbClr val="10375C"/>
                </a:solidFill>
                <a:latin typeface="Cambria" pitchFamily="34" charset="0"/>
                <a:ea typeface="Cambria" pitchFamily="34" charset="-122"/>
                <a:cs typeface="Cambria" pitchFamily="34" charset="-120"/>
              </a:rPr>
              <a:t>What we'll cover</a:t>
            </a:r>
            <a:endParaRPr lang="en-US" sz="3000" dirty="0"/>
          </a:p>
        </p:txBody>
      </p:sp>
      <p:sp>
        <p:nvSpPr>
          <p:cNvPr id="4" name="Shape 2"/>
          <p:cNvSpPr/>
          <p:nvPr/>
        </p:nvSpPr>
        <p:spPr>
          <a:xfrm>
            <a:off x="640080" y="1764792"/>
            <a:ext cx="566928" cy="566928"/>
          </a:xfrm>
          <a:prstGeom prst="ellipse">
            <a:avLst/>
          </a:prstGeom>
          <a:solidFill>
            <a:srgbClr val="1C7293"/>
          </a:solidFill>
          <a:ln w="12700">
            <a:solidFill>
              <a:srgbClr val="1C7293"/>
            </a:solidFill>
            <a:prstDash val="solid"/>
          </a:ln>
        </p:spPr>
      </p:sp>
      <p:sp>
        <p:nvSpPr>
          <p:cNvPr id="5" name="Text 3"/>
          <p:cNvSpPr/>
          <p:nvPr/>
        </p:nvSpPr>
        <p:spPr>
          <a:xfrm>
            <a:off x="640080" y="1764792"/>
            <a:ext cx="566928" cy="56692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6" name="Text 4"/>
          <p:cNvSpPr/>
          <p:nvPr/>
        </p:nvSpPr>
        <p:spPr>
          <a:xfrm>
            <a:off x="1463040" y="1673352"/>
            <a:ext cx="9326880" cy="384048"/>
          </a:xfrm>
          <a:prstGeom prst="rect">
            <a:avLst/>
          </a:prstGeom>
          <a:noFill/>
          <a:ln/>
        </p:spPr>
        <p:txBody>
          <a:bodyPr wrap="square" rtlCol="0" anchor="ctr"/>
          <a:lstStyle/>
          <a:p>
            <a:pPr indent="0" marL="0">
              <a:buNone/>
            </a:pPr>
            <a:r>
              <a:rPr lang="en-US" sz="1900" b="1" dirty="0">
                <a:solidFill>
                  <a:srgbClr val="10375C"/>
                </a:solidFill>
                <a:latin typeface="Cambria" pitchFamily="34" charset="0"/>
                <a:ea typeface="Cambria" pitchFamily="34" charset="-122"/>
                <a:cs typeface="Cambria" pitchFamily="34" charset="-120"/>
              </a:rPr>
              <a:t>Linear Regression</a:t>
            </a:r>
            <a:endParaRPr lang="en-US" sz="1900" dirty="0"/>
          </a:p>
        </p:txBody>
      </p:sp>
      <p:sp>
        <p:nvSpPr>
          <p:cNvPr id="7" name="Text 5"/>
          <p:cNvSpPr/>
          <p:nvPr/>
        </p:nvSpPr>
        <p:spPr>
          <a:xfrm>
            <a:off x="1463040" y="2075688"/>
            <a:ext cx="9509760" cy="457200"/>
          </a:xfrm>
          <a:prstGeom prst="rect">
            <a:avLst/>
          </a:prstGeom>
          <a:noFill/>
          <a:ln/>
        </p:spPr>
        <p:txBody>
          <a:bodyPr wrap="square" rtlCol="0" anchor="ctr"/>
          <a:lstStyle/>
          <a:p>
            <a:pPr indent="0" marL="0">
              <a:buNone/>
            </a:pPr>
            <a:r>
              <a:rPr lang="en-US" sz="1300" dirty="0">
                <a:solidFill>
                  <a:srgbClr val="22313F"/>
                </a:solidFill>
                <a:latin typeface="Calibri" pitchFamily="34" charset="0"/>
                <a:ea typeface="Calibri" pitchFamily="34" charset="-122"/>
                <a:cs typeface="Calibri" pitchFamily="34" charset="-120"/>
              </a:rPr>
              <a:t>Model, probabilistic foundations, cost function, normal equation &amp; gradient descent derivations</a:t>
            </a:r>
            <a:endParaRPr lang="en-US" sz="1300" dirty="0"/>
          </a:p>
        </p:txBody>
      </p:sp>
      <p:sp>
        <p:nvSpPr>
          <p:cNvPr id="8" name="Shape 6"/>
          <p:cNvSpPr/>
          <p:nvPr/>
        </p:nvSpPr>
        <p:spPr>
          <a:xfrm>
            <a:off x="923544" y="2377440"/>
            <a:ext cx="0" cy="384048"/>
          </a:xfrm>
          <a:prstGeom prst="line">
            <a:avLst/>
          </a:prstGeom>
          <a:noFill/>
          <a:ln w="19050">
            <a:solidFill>
              <a:srgbClr val="D9E3EC"/>
            </a:solidFill>
            <a:prstDash val="dash"/>
          </a:ln>
        </p:spPr>
      </p:sp>
      <p:sp>
        <p:nvSpPr>
          <p:cNvPr id="9" name="Shape 7"/>
          <p:cNvSpPr/>
          <p:nvPr/>
        </p:nvSpPr>
        <p:spPr>
          <a:xfrm>
            <a:off x="640080" y="2843784"/>
            <a:ext cx="566928" cy="566928"/>
          </a:xfrm>
          <a:prstGeom prst="ellipse">
            <a:avLst/>
          </a:prstGeom>
          <a:solidFill>
            <a:srgbClr val="10375C"/>
          </a:solidFill>
          <a:ln w="12700">
            <a:solidFill>
              <a:srgbClr val="10375C"/>
            </a:solidFill>
            <a:prstDash val="solid"/>
          </a:ln>
        </p:spPr>
      </p:sp>
      <p:sp>
        <p:nvSpPr>
          <p:cNvPr id="10" name="Text 8"/>
          <p:cNvSpPr/>
          <p:nvPr/>
        </p:nvSpPr>
        <p:spPr>
          <a:xfrm>
            <a:off x="640080" y="2843784"/>
            <a:ext cx="566928" cy="56692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1" name="Text 9"/>
          <p:cNvSpPr/>
          <p:nvPr/>
        </p:nvSpPr>
        <p:spPr>
          <a:xfrm>
            <a:off x="1463040" y="2752344"/>
            <a:ext cx="9326880" cy="384048"/>
          </a:xfrm>
          <a:prstGeom prst="rect">
            <a:avLst/>
          </a:prstGeom>
          <a:noFill/>
          <a:ln/>
        </p:spPr>
        <p:txBody>
          <a:bodyPr wrap="square" rtlCol="0" anchor="ctr"/>
          <a:lstStyle/>
          <a:p>
            <a:pPr indent="0" marL="0">
              <a:buNone/>
            </a:pPr>
            <a:r>
              <a:rPr lang="en-US" sz="1900" b="1" dirty="0">
                <a:solidFill>
                  <a:srgbClr val="10375C"/>
                </a:solidFill>
                <a:latin typeface="Cambria" pitchFamily="34" charset="0"/>
                <a:ea typeface="Cambria" pitchFamily="34" charset="-122"/>
                <a:cs typeface="Cambria" pitchFamily="34" charset="-120"/>
              </a:rPr>
              <a:t>Optimization &amp; Regularization</a:t>
            </a:r>
            <a:endParaRPr lang="en-US" sz="1900" dirty="0"/>
          </a:p>
        </p:txBody>
      </p:sp>
      <p:sp>
        <p:nvSpPr>
          <p:cNvPr id="12" name="Text 10"/>
          <p:cNvSpPr/>
          <p:nvPr/>
        </p:nvSpPr>
        <p:spPr>
          <a:xfrm>
            <a:off x="1463040" y="3154680"/>
            <a:ext cx="9509760" cy="457200"/>
          </a:xfrm>
          <a:prstGeom prst="rect">
            <a:avLst/>
          </a:prstGeom>
          <a:noFill/>
          <a:ln/>
        </p:spPr>
        <p:txBody>
          <a:bodyPr wrap="square" rtlCol="0" anchor="ctr"/>
          <a:lstStyle/>
          <a:p>
            <a:pPr indent="0" marL="0">
              <a:buNone/>
            </a:pPr>
            <a:r>
              <a:rPr lang="en-US" sz="1300" dirty="0">
                <a:solidFill>
                  <a:srgbClr val="22313F"/>
                </a:solidFill>
                <a:latin typeface="Calibri" pitchFamily="34" charset="0"/>
                <a:ea typeface="Calibri" pitchFamily="34" charset="-122"/>
                <a:cs typeface="Calibri" pitchFamily="34" charset="-120"/>
              </a:rPr>
              <a:t>Gradient descent variants, learning rate, Ridge (L2) and Lasso (L1)</a:t>
            </a:r>
            <a:endParaRPr lang="en-US" sz="1300" dirty="0"/>
          </a:p>
        </p:txBody>
      </p:sp>
      <p:sp>
        <p:nvSpPr>
          <p:cNvPr id="13" name="Shape 11"/>
          <p:cNvSpPr/>
          <p:nvPr/>
        </p:nvSpPr>
        <p:spPr>
          <a:xfrm>
            <a:off x="923544" y="3456432"/>
            <a:ext cx="0" cy="384048"/>
          </a:xfrm>
          <a:prstGeom prst="line">
            <a:avLst/>
          </a:prstGeom>
          <a:noFill/>
          <a:ln w="19050">
            <a:solidFill>
              <a:srgbClr val="D9E3EC"/>
            </a:solidFill>
            <a:prstDash val="dash"/>
          </a:ln>
        </p:spPr>
      </p:sp>
      <p:sp>
        <p:nvSpPr>
          <p:cNvPr id="14" name="Shape 12"/>
          <p:cNvSpPr/>
          <p:nvPr/>
        </p:nvSpPr>
        <p:spPr>
          <a:xfrm>
            <a:off x="640080" y="3922776"/>
            <a:ext cx="566928" cy="566928"/>
          </a:xfrm>
          <a:prstGeom prst="ellipse">
            <a:avLst/>
          </a:prstGeom>
          <a:solidFill>
            <a:srgbClr val="1C7293"/>
          </a:solidFill>
          <a:ln w="12700">
            <a:solidFill>
              <a:srgbClr val="1C7293"/>
            </a:solidFill>
            <a:prstDash val="solid"/>
          </a:ln>
        </p:spPr>
      </p:sp>
      <p:sp>
        <p:nvSpPr>
          <p:cNvPr id="15" name="Text 13"/>
          <p:cNvSpPr/>
          <p:nvPr/>
        </p:nvSpPr>
        <p:spPr>
          <a:xfrm>
            <a:off x="640080" y="3922776"/>
            <a:ext cx="566928" cy="56692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16" name="Text 14"/>
          <p:cNvSpPr/>
          <p:nvPr/>
        </p:nvSpPr>
        <p:spPr>
          <a:xfrm>
            <a:off x="1463040" y="3831336"/>
            <a:ext cx="9326880" cy="384048"/>
          </a:xfrm>
          <a:prstGeom prst="rect">
            <a:avLst/>
          </a:prstGeom>
          <a:noFill/>
          <a:ln/>
        </p:spPr>
        <p:txBody>
          <a:bodyPr wrap="square" rtlCol="0" anchor="ctr"/>
          <a:lstStyle/>
          <a:p>
            <a:pPr indent="0" marL="0">
              <a:buNone/>
            </a:pPr>
            <a:r>
              <a:rPr lang="en-US" sz="1900" b="1" dirty="0">
                <a:solidFill>
                  <a:srgbClr val="10375C"/>
                </a:solidFill>
                <a:latin typeface="Cambria" pitchFamily="34" charset="0"/>
                <a:ea typeface="Cambria" pitchFamily="34" charset="-122"/>
                <a:cs typeface="Cambria" pitchFamily="34" charset="-120"/>
              </a:rPr>
              <a:t>Logistic Regression</a:t>
            </a:r>
            <a:endParaRPr lang="en-US" sz="1900" dirty="0"/>
          </a:p>
        </p:txBody>
      </p:sp>
      <p:sp>
        <p:nvSpPr>
          <p:cNvPr id="17" name="Text 15"/>
          <p:cNvSpPr/>
          <p:nvPr/>
        </p:nvSpPr>
        <p:spPr>
          <a:xfrm>
            <a:off x="1463040" y="4233672"/>
            <a:ext cx="9509760" cy="457200"/>
          </a:xfrm>
          <a:prstGeom prst="rect">
            <a:avLst/>
          </a:prstGeom>
          <a:noFill/>
          <a:ln/>
        </p:spPr>
        <p:txBody>
          <a:bodyPr wrap="square" rtlCol="0" anchor="ctr"/>
          <a:lstStyle/>
          <a:p>
            <a:pPr indent="0" marL="0">
              <a:buNone/>
            </a:pPr>
            <a:r>
              <a:rPr lang="en-US" sz="1300" dirty="0">
                <a:solidFill>
                  <a:srgbClr val="22313F"/>
                </a:solidFill>
                <a:latin typeface="Calibri" pitchFamily="34" charset="0"/>
                <a:ea typeface="Calibri" pitchFamily="34" charset="-122"/>
                <a:cs typeface="Calibri" pitchFamily="34" charset="-120"/>
              </a:rPr>
              <a:t>Sigmoid, MLE, cross-entropy derivation, gradients, convexity, softmax</a:t>
            </a:r>
            <a:endParaRPr lang="en-US" sz="1300" dirty="0"/>
          </a:p>
        </p:txBody>
      </p:sp>
      <p:sp>
        <p:nvSpPr>
          <p:cNvPr id="18" name="Shape 16"/>
          <p:cNvSpPr/>
          <p:nvPr/>
        </p:nvSpPr>
        <p:spPr>
          <a:xfrm>
            <a:off x="923544" y="4535424"/>
            <a:ext cx="0" cy="384048"/>
          </a:xfrm>
          <a:prstGeom prst="line">
            <a:avLst/>
          </a:prstGeom>
          <a:noFill/>
          <a:ln w="19050">
            <a:solidFill>
              <a:srgbClr val="D9E3EC"/>
            </a:solidFill>
            <a:prstDash val="dash"/>
          </a:ln>
        </p:spPr>
      </p:sp>
      <p:sp>
        <p:nvSpPr>
          <p:cNvPr id="19" name="Shape 17"/>
          <p:cNvSpPr/>
          <p:nvPr/>
        </p:nvSpPr>
        <p:spPr>
          <a:xfrm>
            <a:off x="640080" y="5001768"/>
            <a:ext cx="566928" cy="566928"/>
          </a:xfrm>
          <a:prstGeom prst="ellipse">
            <a:avLst/>
          </a:prstGeom>
          <a:solidFill>
            <a:srgbClr val="10375C"/>
          </a:solidFill>
          <a:ln w="12700">
            <a:solidFill>
              <a:srgbClr val="10375C"/>
            </a:solidFill>
            <a:prstDash val="solid"/>
          </a:ln>
        </p:spPr>
      </p:sp>
      <p:sp>
        <p:nvSpPr>
          <p:cNvPr id="20" name="Text 18"/>
          <p:cNvSpPr/>
          <p:nvPr/>
        </p:nvSpPr>
        <p:spPr>
          <a:xfrm>
            <a:off x="640080" y="5001768"/>
            <a:ext cx="566928" cy="56692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21" name="Text 19"/>
          <p:cNvSpPr/>
          <p:nvPr/>
        </p:nvSpPr>
        <p:spPr>
          <a:xfrm>
            <a:off x="1463040" y="4910328"/>
            <a:ext cx="9326880" cy="384048"/>
          </a:xfrm>
          <a:prstGeom prst="rect">
            <a:avLst/>
          </a:prstGeom>
          <a:noFill/>
          <a:ln/>
        </p:spPr>
        <p:txBody>
          <a:bodyPr wrap="square" rtlCol="0" anchor="ctr"/>
          <a:lstStyle/>
          <a:p>
            <a:pPr indent="0" marL="0">
              <a:buNone/>
            </a:pPr>
            <a:r>
              <a:rPr lang="en-US" sz="1900" b="1" dirty="0">
                <a:solidFill>
                  <a:srgbClr val="10375C"/>
                </a:solidFill>
                <a:latin typeface="Cambria" pitchFamily="34" charset="0"/>
                <a:ea typeface="Cambria" pitchFamily="34" charset="-122"/>
                <a:cs typeface="Cambria" pitchFamily="34" charset="-120"/>
              </a:rPr>
              <a:t>Evaluation &amp; Practice</a:t>
            </a:r>
            <a:endParaRPr lang="en-US" sz="1900" dirty="0"/>
          </a:p>
        </p:txBody>
      </p:sp>
      <p:sp>
        <p:nvSpPr>
          <p:cNvPr id="22" name="Text 20"/>
          <p:cNvSpPr/>
          <p:nvPr/>
        </p:nvSpPr>
        <p:spPr>
          <a:xfrm>
            <a:off x="1463040" y="5312664"/>
            <a:ext cx="9509760" cy="457200"/>
          </a:xfrm>
          <a:prstGeom prst="rect">
            <a:avLst/>
          </a:prstGeom>
          <a:noFill/>
          <a:ln/>
        </p:spPr>
        <p:txBody>
          <a:bodyPr wrap="square" rtlCol="0" anchor="ctr"/>
          <a:lstStyle/>
          <a:p>
            <a:pPr indent="0" marL="0">
              <a:buNone/>
            </a:pPr>
            <a:r>
              <a:rPr lang="en-US" sz="1300" dirty="0">
                <a:solidFill>
                  <a:srgbClr val="22313F"/>
                </a:solidFill>
                <a:latin typeface="Calibri" pitchFamily="34" charset="0"/>
                <a:ea typeface="Calibri" pitchFamily="34" charset="-122"/>
                <a:cs typeface="Calibri" pitchFamily="34" charset="-120"/>
              </a:rPr>
              <a:t>Regression &amp; classification metrics, a worked project tie-in</a:t>
            </a:r>
            <a:endParaRPr lang="en-US" sz="1300" dirty="0"/>
          </a:p>
        </p:txBody>
      </p:sp>
      <p:sp>
        <p:nvSpPr>
          <p:cNvPr id="23" name="Text 21"/>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8A97A5"/>
                </a:solidFill>
                <a:latin typeface="Calibri" pitchFamily="34" charset="0"/>
                <a:ea typeface="Calibri" pitchFamily="34" charset="-122"/>
                <a:cs typeface="Calibri" pitchFamily="34" charset="-120"/>
              </a:rPr>
              <a:t>Linear &amp; Logistic Regression</a:t>
            </a:r>
            <a:endParaRPr lang="en-US" sz="900" dirty="0"/>
          </a:p>
        </p:txBody>
      </p:sp>
      <p:sp>
        <p:nvSpPr>
          <p:cNvPr id="24" name="Text 22"/>
          <p:cNvSpPr/>
          <p:nvPr/>
        </p:nvSpPr>
        <p:spPr>
          <a:xfrm>
            <a:off x="11368735" y="6547104"/>
            <a:ext cx="457200" cy="256032"/>
          </a:xfrm>
          <a:prstGeom prst="rect">
            <a:avLst/>
          </a:prstGeom>
          <a:noFill/>
          <a:ln/>
        </p:spPr>
        <p:txBody>
          <a:bodyPr wrap="square"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10375C"/>
          </a:solidFill>
          <a:ln w="12700">
            <a:solidFill>
              <a:srgbClr val="10375C"/>
            </a:solidFill>
            <a:prstDash val="solid"/>
          </a:ln>
        </p:spPr>
      </p:sp>
      <p:sp>
        <p:nvSpPr>
          <p:cNvPr id="3" name="Text 1"/>
          <p:cNvSpPr/>
          <p:nvPr/>
        </p:nvSpPr>
        <p:spPr>
          <a:xfrm>
            <a:off x="822960" y="2331720"/>
            <a:ext cx="5486400" cy="457200"/>
          </a:xfrm>
          <a:prstGeom prst="rect">
            <a:avLst/>
          </a:prstGeom>
          <a:noFill/>
          <a:ln/>
        </p:spPr>
        <p:txBody>
          <a:bodyPr wrap="square" rtlCol="0" anchor="ctr"/>
          <a:lstStyle/>
          <a:p>
            <a:pPr indent="0" marL="0">
              <a:buNone/>
            </a:pPr>
            <a:r>
              <a:rPr lang="en-US" sz="1600" b="1" spc="300" kern="0" dirty="0">
                <a:solidFill>
                  <a:srgbClr val="F2A541"/>
                </a:solidFill>
                <a:latin typeface="Calibri" pitchFamily="34" charset="0"/>
                <a:ea typeface="Calibri" pitchFamily="34" charset="-122"/>
                <a:cs typeface="Calibri" pitchFamily="34" charset="-120"/>
              </a:rPr>
              <a:t>PART 1</a:t>
            </a:r>
            <a:endParaRPr lang="en-US" sz="1600" dirty="0"/>
          </a:p>
        </p:txBody>
      </p:sp>
      <p:sp>
        <p:nvSpPr>
          <p:cNvPr id="4" name="Text 2"/>
          <p:cNvSpPr/>
          <p:nvPr/>
        </p:nvSpPr>
        <p:spPr>
          <a:xfrm>
            <a:off x="777240" y="2788920"/>
            <a:ext cx="9601200" cy="109728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Linear Regression</a:t>
            </a:r>
            <a:endParaRPr lang="en-US" sz="4400" dirty="0"/>
          </a:p>
        </p:txBody>
      </p:sp>
      <p:sp>
        <p:nvSpPr>
          <p:cNvPr id="5" name="Text 3"/>
          <p:cNvSpPr/>
          <p:nvPr/>
        </p:nvSpPr>
        <p:spPr>
          <a:xfrm>
            <a:off x="822960" y="3794760"/>
            <a:ext cx="8686800" cy="822960"/>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Predicting continuous outcomes — from a straight line to a full</a:t>
            </a:r>
            <a:endParaRPr lang="en-US" sz="1500" dirty="0"/>
          </a:p>
          <a:p>
            <a:pPr indent="0" marL="0">
              <a:buNone/>
            </a:pPr>
            <a:r>
              <a:rPr lang="en-US" sz="1500" dirty="0">
                <a:solidFill>
                  <a:srgbClr val="CADCFC"/>
                </a:solidFill>
                <a:latin typeface="Calibri" pitchFamily="34" charset="0"/>
                <a:ea typeface="Calibri" pitchFamily="34" charset="-122"/>
                <a:cs typeface="Calibri" pitchFamily="34" charset="-120"/>
              </a:rPr>
              <a:t>probabilistic and optimization framework.</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1.1  MODEL REPRESENTATION</a:t>
            </a:r>
            <a:endParaRPr lang="en-US" sz="1300" dirty="0"/>
          </a:p>
        </p:txBody>
      </p:sp>
      <p:sp>
        <p:nvSpPr>
          <p:cNvPr id="3" name="Text 1"/>
          <p:cNvSpPr/>
          <p:nvPr/>
        </p:nvSpPr>
        <p:spPr>
          <a:xfrm>
            <a:off x="548640" y="658368"/>
            <a:ext cx="10607040" cy="777240"/>
          </a:xfrm>
          <a:prstGeom prst="rect">
            <a:avLst/>
          </a:prstGeom>
          <a:noFill/>
          <a:ln/>
        </p:spPr>
        <p:txBody>
          <a:bodyPr wrap="square" rtlCol="0" anchor="ctr"/>
          <a:lstStyle/>
          <a:p>
            <a:pPr indent="0" marL="0">
              <a:buNone/>
            </a:pPr>
            <a:r>
              <a:rPr lang="en-US" sz="3000" b="1" dirty="0">
                <a:solidFill>
                  <a:srgbClr val="10375C"/>
                </a:solidFill>
                <a:latin typeface="Cambria" pitchFamily="34" charset="0"/>
                <a:ea typeface="Cambria" pitchFamily="34" charset="-122"/>
                <a:cs typeface="Cambria" pitchFamily="34" charset="-120"/>
              </a:rPr>
              <a:t>The Linear Regression Hypothesis</a:t>
            </a:r>
            <a:endParaRPr lang="en-US" sz="3000" dirty="0"/>
          </a:p>
        </p:txBody>
      </p:sp>
      <p:sp>
        <p:nvSpPr>
          <p:cNvPr id="4" name="Text 2"/>
          <p:cNvSpPr/>
          <p:nvPr/>
        </p:nvSpPr>
        <p:spPr>
          <a:xfrm>
            <a:off x="548640" y="1417320"/>
            <a:ext cx="6309360" cy="640080"/>
          </a:xfrm>
          <a:prstGeom prst="rect">
            <a:avLst/>
          </a:prstGeom>
          <a:noFill/>
          <a:ln/>
        </p:spPr>
        <p:txBody>
          <a:bodyPr wrap="square" rtlCol="0" anchor="ctr"/>
          <a:lstStyle/>
          <a:p>
            <a:pPr indent="0" marL="0">
              <a:buNone/>
            </a:pPr>
            <a:r>
              <a:rPr lang="en-US" sz="1350" dirty="0">
                <a:solidFill>
                  <a:srgbClr val="22313F"/>
                </a:solidFill>
                <a:latin typeface="Calibri" pitchFamily="34" charset="0"/>
                <a:ea typeface="Calibri" pitchFamily="34" charset="-122"/>
                <a:cs typeface="Calibri" pitchFamily="34" charset="-120"/>
              </a:rPr>
              <a:t>Linear regression models the target y as a weighted sum of input features, plus a bias (intercept) term.</a:t>
            </a:r>
            <a:endParaRPr lang="en-US" sz="1350" dirty="0"/>
          </a:p>
        </p:txBody>
      </p:sp>
      <p:sp>
        <p:nvSpPr>
          <p:cNvPr id="5" name="Shape 3"/>
          <p:cNvSpPr/>
          <p:nvPr/>
        </p:nvSpPr>
        <p:spPr>
          <a:xfrm>
            <a:off x="548640" y="2148840"/>
            <a:ext cx="6309360" cy="1051560"/>
          </a:xfrm>
          <a:prstGeom prst="roundRect">
            <a:avLst>
              <a:gd name="adj" fmla="val 6957"/>
            </a:avLst>
          </a:prstGeom>
          <a:solidFill>
            <a:srgbClr val="EFF4F8"/>
          </a:solidFill>
          <a:ln w="12700">
            <a:solidFill>
              <a:srgbClr val="D9E3EC"/>
            </a:solidFill>
            <a:prstDash val="solid"/>
          </a:ln>
        </p:spPr>
      </p:sp>
      <p:pic>
        <p:nvPicPr>
          <p:cNvPr id="6" name="Image 0" descr="/home/claude/work/equations/lr_hypothesis.png">    </p:cNvPr>
          <p:cNvPicPr>
            <a:picLocks noChangeAspect="1"/>
          </p:cNvPicPr>
          <p:nvPr/>
        </p:nvPicPr>
        <p:blipFill>
          <a:blip r:embed="rId1"/>
          <a:stretch>
            <a:fillRect/>
          </a:stretch>
        </p:blipFill>
        <p:spPr>
          <a:xfrm>
            <a:off x="731520" y="2415541"/>
            <a:ext cx="5943600" cy="518159"/>
          </a:xfrm>
          <a:prstGeom prst="rect">
            <a:avLst/>
          </a:prstGeom>
        </p:spPr>
      </p:pic>
      <p:sp>
        <p:nvSpPr>
          <p:cNvPr id="7" name="Text 4"/>
          <p:cNvSpPr/>
          <p:nvPr/>
        </p:nvSpPr>
        <p:spPr>
          <a:xfrm>
            <a:off x="548640" y="3429000"/>
            <a:ext cx="6309360" cy="365760"/>
          </a:xfrm>
          <a:prstGeom prst="rect">
            <a:avLst/>
          </a:prstGeom>
          <a:noFill/>
          <a:ln/>
        </p:spPr>
        <p:txBody>
          <a:bodyPr wrap="square"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θ₀, θ₁, …, θₙ  </a:t>
            </a:r>
            <a:pPr indent="0" marL="0">
              <a:buNone/>
            </a:pPr>
            <a:r>
              <a:rPr lang="en-US" sz="1250" dirty="0">
                <a:solidFill>
                  <a:srgbClr val="22313F"/>
                </a:solidFill>
                <a:latin typeface="Calibri" pitchFamily="34" charset="0"/>
                <a:ea typeface="Calibri" pitchFamily="34" charset="-122"/>
                <a:cs typeface="Calibri" pitchFamily="34" charset="-120"/>
              </a:rPr>
              <a:t>parameters (weights) learned from data</a:t>
            </a:r>
            <a:endParaRPr lang="en-US" sz="1250" dirty="0"/>
          </a:p>
        </p:txBody>
      </p:sp>
      <p:sp>
        <p:nvSpPr>
          <p:cNvPr id="8" name="Text 5"/>
          <p:cNvSpPr/>
          <p:nvPr/>
        </p:nvSpPr>
        <p:spPr>
          <a:xfrm>
            <a:off x="548640" y="3813048"/>
            <a:ext cx="6309360" cy="365760"/>
          </a:xfrm>
          <a:prstGeom prst="rect">
            <a:avLst/>
          </a:prstGeom>
          <a:noFill/>
          <a:ln/>
        </p:spPr>
        <p:txBody>
          <a:bodyPr wrap="square"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x₁, …, xₙ  </a:t>
            </a:r>
            <a:pPr indent="0" marL="0">
              <a:buNone/>
            </a:pPr>
            <a:r>
              <a:rPr lang="en-US" sz="1250" dirty="0">
                <a:solidFill>
                  <a:srgbClr val="22313F"/>
                </a:solidFill>
                <a:latin typeface="Calibri" pitchFamily="34" charset="0"/>
                <a:ea typeface="Calibri" pitchFamily="34" charset="-122"/>
                <a:cs typeface="Calibri" pitchFamily="34" charset="-120"/>
              </a:rPr>
              <a:t>input features (independent variables)</a:t>
            </a:r>
            <a:endParaRPr lang="en-US" sz="1250" dirty="0"/>
          </a:p>
        </p:txBody>
      </p:sp>
      <p:sp>
        <p:nvSpPr>
          <p:cNvPr id="9" name="Text 6"/>
          <p:cNvSpPr/>
          <p:nvPr/>
        </p:nvSpPr>
        <p:spPr>
          <a:xfrm>
            <a:off x="548640" y="4197096"/>
            <a:ext cx="6309360" cy="365760"/>
          </a:xfrm>
          <a:prstGeom prst="rect">
            <a:avLst/>
          </a:prstGeom>
          <a:noFill/>
          <a:ln/>
        </p:spPr>
        <p:txBody>
          <a:bodyPr wrap="square"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θᵀx  </a:t>
            </a:r>
            <a:pPr indent="0" marL="0">
              <a:buNone/>
            </a:pPr>
            <a:r>
              <a:rPr lang="en-US" sz="1250" dirty="0">
                <a:solidFill>
                  <a:srgbClr val="22313F"/>
                </a:solidFill>
                <a:latin typeface="Calibri" pitchFamily="34" charset="0"/>
                <a:ea typeface="Calibri" pitchFamily="34" charset="-122"/>
                <a:cs typeface="Calibri" pitchFamily="34" charset="-120"/>
              </a:rPr>
              <a:t>vectorized form — θ and x as column vectors, with x₀ = 1</a:t>
            </a:r>
            <a:endParaRPr lang="en-US" sz="1250" dirty="0"/>
          </a:p>
        </p:txBody>
      </p:sp>
      <p:sp>
        <p:nvSpPr>
          <p:cNvPr id="10" name="Shape 7"/>
          <p:cNvSpPr/>
          <p:nvPr/>
        </p:nvSpPr>
        <p:spPr>
          <a:xfrm>
            <a:off x="548640" y="4892040"/>
            <a:ext cx="6309360" cy="1005840"/>
          </a:xfrm>
          <a:prstGeom prst="roundRect">
            <a:avLst>
              <a:gd name="adj" fmla="val 7273"/>
            </a:avLst>
          </a:prstGeom>
          <a:solidFill>
            <a:srgbClr val="FDF3E3"/>
          </a:solidFill>
          <a:ln w="12700">
            <a:solidFill>
              <a:srgbClr val="F0D9A8"/>
            </a:solidFill>
            <a:prstDash val="solid"/>
          </a:ln>
        </p:spPr>
      </p:sp>
      <p:sp>
        <p:nvSpPr>
          <p:cNvPr id="11" name="Text 8"/>
          <p:cNvSpPr/>
          <p:nvPr/>
        </p:nvSpPr>
        <p:spPr>
          <a:xfrm>
            <a:off x="777240" y="5010912"/>
            <a:ext cx="5852160" cy="274320"/>
          </a:xfrm>
          <a:prstGeom prst="rect">
            <a:avLst/>
          </a:prstGeom>
          <a:noFill/>
          <a:ln/>
        </p:spPr>
        <p:txBody>
          <a:bodyPr wrap="square" rtlCol="0" anchor="ctr"/>
          <a:lstStyle/>
          <a:p>
            <a:pPr indent="0" marL="0">
              <a:buNone/>
            </a:pPr>
            <a:r>
              <a:rPr lang="en-US" sz="1200" b="1" dirty="0">
                <a:solidFill>
                  <a:srgbClr val="8A5A00"/>
                </a:solidFill>
                <a:latin typeface="Calibri" pitchFamily="34" charset="0"/>
                <a:ea typeface="Calibri" pitchFamily="34" charset="-122"/>
                <a:cs typeface="Calibri" pitchFamily="34" charset="-120"/>
              </a:rPr>
              <a:t>Goal:</a:t>
            </a:r>
            <a:endParaRPr lang="en-US" sz="1200" dirty="0"/>
          </a:p>
        </p:txBody>
      </p:sp>
      <p:sp>
        <p:nvSpPr>
          <p:cNvPr id="12" name="Text 9"/>
          <p:cNvSpPr/>
          <p:nvPr/>
        </p:nvSpPr>
        <p:spPr>
          <a:xfrm>
            <a:off x="777240" y="5285232"/>
            <a:ext cx="5852160" cy="548640"/>
          </a:xfrm>
          <a:prstGeom prst="rect">
            <a:avLst/>
          </a:prstGeom>
          <a:noFill/>
          <a:ln/>
        </p:spPr>
        <p:txBody>
          <a:bodyPr wrap="square" rtlCol="0" anchor="ctr"/>
          <a:lstStyle/>
          <a:p>
            <a:pPr indent="0" marL="0">
              <a:buNone/>
            </a:pPr>
            <a:r>
              <a:rPr lang="en-US" sz="1250" i="1" dirty="0">
                <a:solidFill>
                  <a:srgbClr val="22313F"/>
                </a:solidFill>
                <a:latin typeface="Calibri" pitchFamily="34" charset="0"/>
                <a:ea typeface="Calibri" pitchFamily="34" charset="-122"/>
                <a:cs typeface="Calibri" pitchFamily="34" charset="-120"/>
              </a:rPr>
              <a:t>Find the parameter vector θ that makes h_θ(x⁽ⁱ⁾) as close as possible to the true y⁽ⁱ⁾ for every training example i.</a:t>
            </a:r>
            <a:endParaRPr lang="en-US" sz="1250" dirty="0"/>
          </a:p>
        </p:txBody>
      </p:sp>
      <p:pic>
        <p:nvPicPr>
          <p:cNvPr id="13" name="Image 1" descr="/home/claude/work/plots/scatter_fit.png">    </p:cNvPr>
          <p:cNvPicPr>
            <a:picLocks noChangeAspect="1"/>
          </p:cNvPicPr>
          <p:nvPr/>
        </p:nvPicPr>
        <p:blipFill>
          <a:blip r:embed="rId2"/>
          <a:stretch>
            <a:fillRect/>
          </a:stretch>
        </p:blipFill>
        <p:spPr>
          <a:xfrm>
            <a:off x="7269480" y="2276203"/>
            <a:ext cx="4754880" cy="3311434"/>
          </a:xfrm>
          <a:prstGeom prst="rect">
            <a:avLst/>
          </a:prstGeom>
        </p:spPr>
      </p:pic>
      <p:sp>
        <p:nvSpPr>
          <p:cNvPr id="14" name="Text 10"/>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8A97A5"/>
                </a:solidFill>
                <a:latin typeface="Calibri" pitchFamily="34" charset="0"/>
                <a:ea typeface="Calibri" pitchFamily="34" charset="-122"/>
                <a:cs typeface="Calibri" pitchFamily="34" charset="-120"/>
              </a:rPr>
              <a:t>Linear &amp; Logistic Regression</a:t>
            </a:r>
            <a:endParaRPr lang="en-US" sz="900" dirty="0"/>
          </a:p>
        </p:txBody>
      </p:sp>
      <p:sp>
        <p:nvSpPr>
          <p:cNvPr id="15" name="Text 11"/>
          <p:cNvSpPr/>
          <p:nvPr/>
        </p:nvSpPr>
        <p:spPr>
          <a:xfrm>
            <a:off x="11368735" y="6547104"/>
            <a:ext cx="457200" cy="256032"/>
          </a:xfrm>
          <a:prstGeom prst="rect">
            <a:avLst/>
          </a:prstGeom>
          <a:noFill/>
          <a:ln/>
        </p:spPr>
        <p:txBody>
          <a:bodyPr wrap="square"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1.2  MODEL DIAGNOSTICS</a:t>
            </a:r>
            <a:endParaRPr lang="en-US" sz="1300" dirty="0"/>
          </a:p>
        </p:txBody>
      </p:sp>
      <p:sp>
        <p:nvSpPr>
          <p:cNvPr id="3" name="Text 1"/>
          <p:cNvSpPr/>
          <p:nvPr/>
        </p:nvSpPr>
        <p:spPr>
          <a:xfrm>
            <a:off x="548640" y="658368"/>
            <a:ext cx="10607040" cy="777240"/>
          </a:xfrm>
          <a:prstGeom prst="rect">
            <a:avLst/>
          </a:prstGeom>
          <a:noFill/>
          <a:ln/>
        </p:spPr>
        <p:txBody>
          <a:bodyPr wrap="square" rtlCol="0" anchor="ctr"/>
          <a:lstStyle/>
          <a:p>
            <a:pPr indent="0" marL="0">
              <a:buNone/>
            </a:pPr>
            <a:r>
              <a:rPr lang="en-US" sz="3000" b="1" dirty="0">
                <a:solidFill>
                  <a:srgbClr val="10375C"/>
                </a:solidFill>
                <a:latin typeface="Cambria" pitchFamily="34" charset="0"/>
                <a:ea typeface="Cambria" pitchFamily="34" charset="-122"/>
                <a:cs typeface="Cambria" pitchFamily="34" charset="-120"/>
              </a:rPr>
              <a:t>Assumptions of Linear Regression</a:t>
            </a:r>
            <a:endParaRPr lang="en-US" sz="3000" dirty="0"/>
          </a:p>
        </p:txBody>
      </p:sp>
      <p:sp>
        <p:nvSpPr>
          <p:cNvPr id="4" name="Shape 2"/>
          <p:cNvSpPr/>
          <p:nvPr/>
        </p:nvSpPr>
        <p:spPr>
          <a:xfrm>
            <a:off x="548640" y="1600200"/>
            <a:ext cx="5486400" cy="1280160"/>
          </a:xfrm>
          <a:prstGeom prst="roundRect">
            <a:avLst>
              <a:gd name="adj" fmla="val 5714"/>
            </a:avLst>
          </a:prstGeom>
          <a:solidFill>
            <a:srgbClr val="EFF4F8"/>
          </a:solidFill>
          <a:ln w="12700">
            <a:solidFill>
              <a:srgbClr val="D9E3EC"/>
            </a:solidFill>
            <a:prstDash val="solid"/>
          </a:ln>
        </p:spPr>
      </p:sp>
      <p:sp>
        <p:nvSpPr>
          <p:cNvPr id="5" name="Shape 3"/>
          <p:cNvSpPr/>
          <p:nvPr/>
        </p:nvSpPr>
        <p:spPr>
          <a:xfrm>
            <a:off x="749808" y="1801368"/>
            <a:ext cx="384048" cy="384048"/>
          </a:xfrm>
          <a:prstGeom prst="ellipse">
            <a:avLst/>
          </a:prstGeom>
          <a:solidFill>
            <a:srgbClr val="10375C"/>
          </a:solidFill>
          <a:ln w="12700">
            <a:solidFill>
              <a:srgbClr val="10375C"/>
            </a:solidFill>
            <a:prstDash val="solid"/>
          </a:ln>
        </p:spPr>
      </p:sp>
      <p:sp>
        <p:nvSpPr>
          <p:cNvPr id="6" name="Text 4"/>
          <p:cNvSpPr/>
          <p:nvPr/>
        </p:nvSpPr>
        <p:spPr>
          <a:xfrm>
            <a:off x="749808" y="1801368"/>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325880" y="1746504"/>
            <a:ext cx="4572000" cy="347472"/>
          </a:xfrm>
          <a:prstGeom prst="rect">
            <a:avLst/>
          </a:prstGeom>
          <a:noFill/>
          <a:ln/>
        </p:spPr>
        <p:txBody>
          <a:bodyPr wrap="square" rtlCol="0" anchor="ctr"/>
          <a:lstStyle/>
          <a:p>
            <a:pPr indent="0" marL="0">
              <a:buNone/>
            </a:pPr>
            <a:r>
              <a:rPr lang="en-US" sz="1500" b="1" dirty="0">
                <a:solidFill>
                  <a:srgbClr val="10375C"/>
                </a:solidFill>
                <a:latin typeface="Cambria" pitchFamily="34" charset="0"/>
                <a:ea typeface="Cambria" pitchFamily="34" charset="-122"/>
                <a:cs typeface="Cambria" pitchFamily="34" charset="-120"/>
              </a:rPr>
              <a:t>Linearity</a:t>
            </a:r>
            <a:endParaRPr lang="en-US" sz="1500" dirty="0"/>
          </a:p>
        </p:txBody>
      </p:sp>
      <p:sp>
        <p:nvSpPr>
          <p:cNvPr id="8" name="Text 6"/>
          <p:cNvSpPr/>
          <p:nvPr/>
        </p:nvSpPr>
        <p:spPr>
          <a:xfrm>
            <a:off x="1325880" y="2112264"/>
            <a:ext cx="4526280" cy="685800"/>
          </a:xfrm>
          <a:prstGeom prst="rect">
            <a:avLst/>
          </a:prstGeom>
          <a:noFill/>
          <a:ln/>
        </p:spPr>
        <p:txBody>
          <a:bodyPr wrap="square" rtlCol="0" anchor="ctr"/>
          <a:lstStyle/>
          <a:p>
            <a:pPr indent="0" marL="0">
              <a:buNone/>
            </a:pPr>
            <a:r>
              <a:rPr lang="en-US" sz="1100" dirty="0">
                <a:solidFill>
                  <a:srgbClr val="22313F"/>
                </a:solidFill>
                <a:latin typeface="Calibri" pitchFamily="34" charset="0"/>
                <a:ea typeface="Calibri" pitchFamily="34" charset="-122"/>
                <a:cs typeface="Calibri" pitchFamily="34" charset="-120"/>
              </a:rPr>
              <a:t>The relationship between features and target is linear in the parameters θ.</a:t>
            </a:r>
            <a:endParaRPr lang="en-US" sz="1100" dirty="0"/>
          </a:p>
        </p:txBody>
      </p:sp>
      <p:sp>
        <p:nvSpPr>
          <p:cNvPr id="9" name="Shape 7"/>
          <p:cNvSpPr/>
          <p:nvPr/>
        </p:nvSpPr>
        <p:spPr>
          <a:xfrm>
            <a:off x="6355080" y="1600200"/>
            <a:ext cx="5486400" cy="1280160"/>
          </a:xfrm>
          <a:prstGeom prst="roundRect">
            <a:avLst>
              <a:gd name="adj" fmla="val 5714"/>
            </a:avLst>
          </a:prstGeom>
          <a:solidFill>
            <a:srgbClr val="EFF4F8"/>
          </a:solidFill>
          <a:ln w="12700">
            <a:solidFill>
              <a:srgbClr val="D9E3EC"/>
            </a:solidFill>
            <a:prstDash val="solid"/>
          </a:ln>
        </p:spPr>
      </p:sp>
      <p:sp>
        <p:nvSpPr>
          <p:cNvPr id="10" name="Shape 8"/>
          <p:cNvSpPr/>
          <p:nvPr/>
        </p:nvSpPr>
        <p:spPr>
          <a:xfrm>
            <a:off x="6556248" y="1801368"/>
            <a:ext cx="384048" cy="384048"/>
          </a:xfrm>
          <a:prstGeom prst="ellipse">
            <a:avLst/>
          </a:prstGeom>
          <a:solidFill>
            <a:srgbClr val="1C7293"/>
          </a:solidFill>
          <a:ln w="12700">
            <a:solidFill>
              <a:srgbClr val="1C7293"/>
            </a:solidFill>
            <a:prstDash val="solid"/>
          </a:ln>
        </p:spPr>
      </p:sp>
      <p:sp>
        <p:nvSpPr>
          <p:cNvPr id="11" name="Text 9"/>
          <p:cNvSpPr/>
          <p:nvPr/>
        </p:nvSpPr>
        <p:spPr>
          <a:xfrm>
            <a:off x="6556248" y="1801368"/>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7132320" y="1746504"/>
            <a:ext cx="4572000" cy="347472"/>
          </a:xfrm>
          <a:prstGeom prst="rect">
            <a:avLst/>
          </a:prstGeom>
          <a:noFill/>
          <a:ln/>
        </p:spPr>
        <p:txBody>
          <a:bodyPr wrap="square" rtlCol="0" anchor="ctr"/>
          <a:lstStyle/>
          <a:p>
            <a:pPr indent="0" marL="0">
              <a:buNone/>
            </a:pPr>
            <a:r>
              <a:rPr lang="en-US" sz="1500" b="1" dirty="0">
                <a:solidFill>
                  <a:srgbClr val="10375C"/>
                </a:solidFill>
                <a:latin typeface="Cambria" pitchFamily="34" charset="0"/>
                <a:ea typeface="Cambria" pitchFamily="34" charset="-122"/>
                <a:cs typeface="Cambria" pitchFamily="34" charset="-120"/>
              </a:rPr>
              <a:t>Independence</a:t>
            </a:r>
            <a:endParaRPr lang="en-US" sz="1500" dirty="0"/>
          </a:p>
        </p:txBody>
      </p:sp>
      <p:sp>
        <p:nvSpPr>
          <p:cNvPr id="13" name="Text 11"/>
          <p:cNvSpPr/>
          <p:nvPr/>
        </p:nvSpPr>
        <p:spPr>
          <a:xfrm>
            <a:off x="7132320" y="2112264"/>
            <a:ext cx="4526280" cy="685800"/>
          </a:xfrm>
          <a:prstGeom prst="rect">
            <a:avLst/>
          </a:prstGeom>
          <a:noFill/>
          <a:ln/>
        </p:spPr>
        <p:txBody>
          <a:bodyPr wrap="square" rtlCol="0" anchor="ctr"/>
          <a:lstStyle/>
          <a:p>
            <a:pPr indent="0" marL="0">
              <a:buNone/>
            </a:pPr>
            <a:r>
              <a:rPr lang="en-US" sz="1100" dirty="0">
                <a:solidFill>
                  <a:srgbClr val="22313F"/>
                </a:solidFill>
                <a:latin typeface="Calibri" pitchFamily="34" charset="0"/>
                <a:ea typeface="Calibri" pitchFamily="34" charset="-122"/>
                <a:cs typeface="Calibri" pitchFamily="34" charset="-120"/>
              </a:rPr>
              <a:t>Observations (and residuals) are independent of one another.</a:t>
            </a:r>
            <a:endParaRPr lang="en-US" sz="1100" dirty="0"/>
          </a:p>
        </p:txBody>
      </p:sp>
      <p:sp>
        <p:nvSpPr>
          <p:cNvPr id="14" name="Shape 12"/>
          <p:cNvSpPr/>
          <p:nvPr/>
        </p:nvSpPr>
        <p:spPr>
          <a:xfrm>
            <a:off x="548640" y="3081528"/>
            <a:ext cx="5486400" cy="1280160"/>
          </a:xfrm>
          <a:prstGeom prst="roundRect">
            <a:avLst>
              <a:gd name="adj" fmla="val 5714"/>
            </a:avLst>
          </a:prstGeom>
          <a:solidFill>
            <a:srgbClr val="EFF4F8"/>
          </a:solidFill>
          <a:ln w="12700">
            <a:solidFill>
              <a:srgbClr val="D9E3EC"/>
            </a:solidFill>
            <a:prstDash val="solid"/>
          </a:ln>
        </p:spPr>
      </p:sp>
      <p:sp>
        <p:nvSpPr>
          <p:cNvPr id="15" name="Shape 13"/>
          <p:cNvSpPr/>
          <p:nvPr/>
        </p:nvSpPr>
        <p:spPr>
          <a:xfrm>
            <a:off x="749808" y="3282696"/>
            <a:ext cx="384048" cy="384048"/>
          </a:xfrm>
          <a:prstGeom prst="ellipse">
            <a:avLst/>
          </a:prstGeom>
          <a:solidFill>
            <a:srgbClr val="10375C"/>
          </a:solidFill>
          <a:ln w="12700">
            <a:solidFill>
              <a:srgbClr val="10375C"/>
            </a:solidFill>
            <a:prstDash val="solid"/>
          </a:ln>
        </p:spPr>
      </p:sp>
      <p:sp>
        <p:nvSpPr>
          <p:cNvPr id="16" name="Text 14"/>
          <p:cNvSpPr/>
          <p:nvPr/>
        </p:nvSpPr>
        <p:spPr>
          <a:xfrm>
            <a:off x="749808" y="3282696"/>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325880" y="3227832"/>
            <a:ext cx="4572000" cy="347472"/>
          </a:xfrm>
          <a:prstGeom prst="rect">
            <a:avLst/>
          </a:prstGeom>
          <a:noFill/>
          <a:ln/>
        </p:spPr>
        <p:txBody>
          <a:bodyPr wrap="square" rtlCol="0" anchor="ctr"/>
          <a:lstStyle/>
          <a:p>
            <a:pPr indent="0" marL="0">
              <a:buNone/>
            </a:pPr>
            <a:r>
              <a:rPr lang="en-US" sz="1500" b="1" dirty="0">
                <a:solidFill>
                  <a:srgbClr val="10375C"/>
                </a:solidFill>
                <a:latin typeface="Cambria" pitchFamily="34" charset="0"/>
                <a:ea typeface="Cambria" pitchFamily="34" charset="-122"/>
                <a:cs typeface="Cambria" pitchFamily="34" charset="-120"/>
              </a:rPr>
              <a:t>Homoscedasticity</a:t>
            </a:r>
            <a:endParaRPr lang="en-US" sz="1500" dirty="0"/>
          </a:p>
        </p:txBody>
      </p:sp>
      <p:sp>
        <p:nvSpPr>
          <p:cNvPr id="18" name="Text 16"/>
          <p:cNvSpPr/>
          <p:nvPr/>
        </p:nvSpPr>
        <p:spPr>
          <a:xfrm>
            <a:off x="1325880" y="3593592"/>
            <a:ext cx="4526280" cy="685800"/>
          </a:xfrm>
          <a:prstGeom prst="rect">
            <a:avLst/>
          </a:prstGeom>
          <a:noFill/>
          <a:ln/>
        </p:spPr>
        <p:txBody>
          <a:bodyPr wrap="square" rtlCol="0" anchor="ctr"/>
          <a:lstStyle/>
          <a:p>
            <a:pPr indent="0" marL="0">
              <a:buNone/>
            </a:pPr>
            <a:r>
              <a:rPr lang="en-US" sz="1100" dirty="0">
                <a:solidFill>
                  <a:srgbClr val="22313F"/>
                </a:solidFill>
                <a:latin typeface="Calibri" pitchFamily="34" charset="0"/>
                <a:ea typeface="Calibri" pitchFamily="34" charset="-122"/>
                <a:cs typeface="Calibri" pitchFamily="34" charset="-120"/>
              </a:rPr>
              <a:t>Residuals have constant variance across all levels of the fitted value.</a:t>
            </a:r>
            <a:endParaRPr lang="en-US" sz="1100" dirty="0"/>
          </a:p>
        </p:txBody>
      </p:sp>
      <p:sp>
        <p:nvSpPr>
          <p:cNvPr id="19" name="Shape 17"/>
          <p:cNvSpPr/>
          <p:nvPr/>
        </p:nvSpPr>
        <p:spPr>
          <a:xfrm>
            <a:off x="6355080" y="3081528"/>
            <a:ext cx="5486400" cy="1280160"/>
          </a:xfrm>
          <a:prstGeom prst="roundRect">
            <a:avLst>
              <a:gd name="adj" fmla="val 5714"/>
            </a:avLst>
          </a:prstGeom>
          <a:solidFill>
            <a:srgbClr val="EFF4F8"/>
          </a:solidFill>
          <a:ln w="12700">
            <a:solidFill>
              <a:srgbClr val="D9E3EC"/>
            </a:solidFill>
            <a:prstDash val="solid"/>
          </a:ln>
        </p:spPr>
      </p:sp>
      <p:sp>
        <p:nvSpPr>
          <p:cNvPr id="20" name="Shape 18"/>
          <p:cNvSpPr/>
          <p:nvPr/>
        </p:nvSpPr>
        <p:spPr>
          <a:xfrm>
            <a:off x="6556248" y="3282696"/>
            <a:ext cx="384048" cy="384048"/>
          </a:xfrm>
          <a:prstGeom prst="ellipse">
            <a:avLst/>
          </a:prstGeom>
          <a:solidFill>
            <a:srgbClr val="1C7293"/>
          </a:solidFill>
          <a:ln w="12700">
            <a:solidFill>
              <a:srgbClr val="1C7293"/>
            </a:solidFill>
            <a:prstDash val="solid"/>
          </a:ln>
        </p:spPr>
      </p:sp>
      <p:sp>
        <p:nvSpPr>
          <p:cNvPr id="21" name="Text 19"/>
          <p:cNvSpPr/>
          <p:nvPr/>
        </p:nvSpPr>
        <p:spPr>
          <a:xfrm>
            <a:off x="6556248" y="3282696"/>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7132320" y="3227832"/>
            <a:ext cx="4572000" cy="347472"/>
          </a:xfrm>
          <a:prstGeom prst="rect">
            <a:avLst/>
          </a:prstGeom>
          <a:noFill/>
          <a:ln/>
        </p:spPr>
        <p:txBody>
          <a:bodyPr wrap="square" rtlCol="0" anchor="ctr"/>
          <a:lstStyle/>
          <a:p>
            <a:pPr indent="0" marL="0">
              <a:buNone/>
            </a:pPr>
            <a:r>
              <a:rPr lang="en-US" sz="1500" b="1" dirty="0">
                <a:solidFill>
                  <a:srgbClr val="10375C"/>
                </a:solidFill>
                <a:latin typeface="Cambria" pitchFamily="34" charset="0"/>
                <a:ea typeface="Cambria" pitchFamily="34" charset="-122"/>
                <a:cs typeface="Cambria" pitchFamily="34" charset="-120"/>
              </a:rPr>
              <a:t>Normality of errors</a:t>
            </a:r>
            <a:endParaRPr lang="en-US" sz="1500" dirty="0"/>
          </a:p>
        </p:txBody>
      </p:sp>
      <p:sp>
        <p:nvSpPr>
          <p:cNvPr id="23" name="Text 21"/>
          <p:cNvSpPr/>
          <p:nvPr/>
        </p:nvSpPr>
        <p:spPr>
          <a:xfrm>
            <a:off x="7132320" y="3593592"/>
            <a:ext cx="4526280" cy="685800"/>
          </a:xfrm>
          <a:prstGeom prst="rect">
            <a:avLst/>
          </a:prstGeom>
          <a:noFill/>
          <a:ln/>
        </p:spPr>
        <p:txBody>
          <a:bodyPr wrap="square" rtlCol="0" anchor="ctr"/>
          <a:lstStyle/>
          <a:p>
            <a:pPr indent="0" marL="0">
              <a:buNone/>
            </a:pPr>
            <a:r>
              <a:rPr lang="en-US" sz="1100" dirty="0">
                <a:solidFill>
                  <a:srgbClr val="22313F"/>
                </a:solidFill>
                <a:latin typeface="Calibri" pitchFamily="34" charset="0"/>
                <a:ea typeface="Calibri" pitchFamily="34" charset="-122"/>
                <a:cs typeface="Calibri" pitchFamily="34" charset="-120"/>
              </a:rPr>
              <a:t>Residuals ε are normally distributed — this justifies using MSE (next slide).</a:t>
            </a:r>
            <a:endParaRPr lang="en-US" sz="1100" dirty="0"/>
          </a:p>
        </p:txBody>
      </p:sp>
      <p:sp>
        <p:nvSpPr>
          <p:cNvPr id="24" name="Shape 22"/>
          <p:cNvSpPr/>
          <p:nvPr/>
        </p:nvSpPr>
        <p:spPr>
          <a:xfrm>
            <a:off x="548640" y="4562856"/>
            <a:ext cx="5486400" cy="1280160"/>
          </a:xfrm>
          <a:prstGeom prst="roundRect">
            <a:avLst>
              <a:gd name="adj" fmla="val 5714"/>
            </a:avLst>
          </a:prstGeom>
          <a:solidFill>
            <a:srgbClr val="EFF4F8"/>
          </a:solidFill>
          <a:ln w="12700">
            <a:solidFill>
              <a:srgbClr val="D9E3EC"/>
            </a:solidFill>
            <a:prstDash val="solid"/>
          </a:ln>
        </p:spPr>
      </p:sp>
      <p:sp>
        <p:nvSpPr>
          <p:cNvPr id="25" name="Shape 23"/>
          <p:cNvSpPr/>
          <p:nvPr/>
        </p:nvSpPr>
        <p:spPr>
          <a:xfrm>
            <a:off x="749808" y="4764024"/>
            <a:ext cx="384048" cy="384048"/>
          </a:xfrm>
          <a:prstGeom prst="ellipse">
            <a:avLst/>
          </a:prstGeom>
          <a:solidFill>
            <a:srgbClr val="10375C"/>
          </a:solidFill>
          <a:ln w="12700">
            <a:solidFill>
              <a:srgbClr val="10375C"/>
            </a:solidFill>
            <a:prstDash val="solid"/>
          </a:ln>
        </p:spPr>
      </p:sp>
      <p:sp>
        <p:nvSpPr>
          <p:cNvPr id="26" name="Text 24"/>
          <p:cNvSpPr/>
          <p:nvPr/>
        </p:nvSpPr>
        <p:spPr>
          <a:xfrm>
            <a:off x="749808" y="4764024"/>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1325880" y="4709160"/>
            <a:ext cx="4572000" cy="347472"/>
          </a:xfrm>
          <a:prstGeom prst="rect">
            <a:avLst/>
          </a:prstGeom>
          <a:noFill/>
          <a:ln/>
        </p:spPr>
        <p:txBody>
          <a:bodyPr wrap="square" rtlCol="0" anchor="ctr"/>
          <a:lstStyle/>
          <a:p>
            <a:pPr indent="0" marL="0">
              <a:buNone/>
            </a:pPr>
            <a:r>
              <a:rPr lang="en-US" sz="1500" b="1" dirty="0">
                <a:solidFill>
                  <a:srgbClr val="10375C"/>
                </a:solidFill>
                <a:latin typeface="Cambria" pitchFamily="34" charset="0"/>
                <a:ea typeface="Cambria" pitchFamily="34" charset="-122"/>
                <a:cs typeface="Cambria" pitchFamily="34" charset="-120"/>
              </a:rPr>
              <a:t>No multicollinearity</a:t>
            </a:r>
            <a:endParaRPr lang="en-US" sz="1500" dirty="0"/>
          </a:p>
        </p:txBody>
      </p:sp>
      <p:sp>
        <p:nvSpPr>
          <p:cNvPr id="28" name="Text 26"/>
          <p:cNvSpPr/>
          <p:nvPr/>
        </p:nvSpPr>
        <p:spPr>
          <a:xfrm>
            <a:off x="1325880" y="5074920"/>
            <a:ext cx="4526280" cy="685800"/>
          </a:xfrm>
          <a:prstGeom prst="rect">
            <a:avLst/>
          </a:prstGeom>
          <a:noFill/>
          <a:ln/>
        </p:spPr>
        <p:txBody>
          <a:bodyPr wrap="square" rtlCol="0" anchor="ctr"/>
          <a:lstStyle/>
          <a:p>
            <a:pPr indent="0" marL="0">
              <a:buNone/>
            </a:pPr>
            <a:r>
              <a:rPr lang="en-US" sz="1100" dirty="0">
                <a:solidFill>
                  <a:srgbClr val="22313F"/>
                </a:solidFill>
                <a:latin typeface="Calibri" pitchFamily="34" charset="0"/>
                <a:ea typeface="Calibri" pitchFamily="34" charset="-122"/>
                <a:cs typeface="Calibri" pitchFamily="34" charset="-120"/>
              </a:rPr>
              <a:t>Features aren't highly correlated with each other, so θ estimates stay stable.</a:t>
            </a:r>
            <a:endParaRPr lang="en-US" sz="1100" dirty="0"/>
          </a:p>
        </p:txBody>
      </p:sp>
      <p:sp>
        <p:nvSpPr>
          <p:cNvPr id="29" name="Shape 27"/>
          <p:cNvSpPr/>
          <p:nvPr/>
        </p:nvSpPr>
        <p:spPr>
          <a:xfrm>
            <a:off x="6355080" y="4562856"/>
            <a:ext cx="5486400" cy="1280160"/>
          </a:xfrm>
          <a:prstGeom prst="roundRect">
            <a:avLst>
              <a:gd name="adj" fmla="val 5714"/>
            </a:avLst>
          </a:prstGeom>
          <a:solidFill>
            <a:srgbClr val="EFF4F8"/>
          </a:solidFill>
          <a:ln w="12700">
            <a:solidFill>
              <a:srgbClr val="D9E3EC"/>
            </a:solidFill>
            <a:prstDash val="solid"/>
          </a:ln>
        </p:spPr>
      </p:sp>
      <p:sp>
        <p:nvSpPr>
          <p:cNvPr id="30" name="Shape 28"/>
          <p:cNvSpPr/>
          <p:nvPr/>
        </p:nvSpPr>
        <p:spPr>
          <a:xfrm>
            <a:off x="6556248" y="4764024"/>
            <a:ext cx="384048" cy="384048"/>
          </a:xfrm>
          <a:prstGeom prst="ellipse">
            <a:avLst/>
          </a:prstGeom>
          <a:solidFill>
            <a:srgbClr val="1C7293"/>
          </a:solidFill>
          <a:ln w="12700">
            <a:solidFill>
              <a:srgbClr val="1C7293"/>
            </a:solidFill>
            <a:prstDash val="solid"/>
          </a:ln>
        </p:spPr>
      </p:sp>
      <p:sp>
        <p:nvSpPr>
          <p:cNvPr id="31" name="Text 29"/>
          <p:cNvSpPr/>
          <p:nvPr/>
        </p:nvSpPr>
        <p:spPr>
          <a:xfrm>
            <a:off x="6556248" y="4764024"/>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p:nvPr/>
        </p:nvSpPr>
        <p:spPr>
          <a:xfrm>
            <a:off x="7132320" y="4709160"/>
            <a:ext cx="4572000" cy="347472"/>
          </a:xfrm>
          <a:prstGeom prst="rect">
            <a:avLst/>
          </a:prstGeom>
          <a:noFill/>
          <a:ln/>
        </p:spPr>
        <p:txBody>
          <a:bodyPr wrap="square" rtlCol="0" anchor="ctr"/>
          <a:lstStyle/>
          <a:p>
            <a:pPr indent="0" marL="0">
              <a:buNone/>
            </a:pPr>
            <a:r>
              <a:rPr lang="en-US" sz="1500" b="1" dirty="0">
                <a:solidFill>
                  <a:srgbClr val="10375C"/>
                </a:solidFill>
                <a:latin typeface="Cambria" pitchFamily="34" charset="0"/>
                <a:ea typeface="Cambria" pitchFamily="34" charset="-122"/>
                <a:cs typeface="Cambria" pitchFamily="34" charset="-120"/>
              </a:rPr>
              <a:t>No/limited outliers</a:t>
            </a:r>
            <a:endParaRPr lang="en-US" sz="1500" dirty="0"/>
          </a:p>
        </p:txBody>
      </p:sp>
      <p:sp>
        <p:nvSpPr>
          <p:cNvPr id="33" name="Text 31"/>
          <p:cNvSpPr/>
          <p:nvPr/>
        </p:nvSpPr>
        <p:spPr>
          <a:xfrm>
            <a:off x="7132320" y="5074920"/>
            <a:ext cx="4526280" cy="685800"/>
          </a:xfrm>
          <a:prstGeom prst="rect">
            <a:avLst/>
          </a:prstGeom>
          <a:noFill/>
          <a:ln/>
        </p:spPr>
        <p:txBody>
          <a:bodyPr wrap="square" rtlCol="0" anchor="ctr"/>
          <a:lstStyle/>
          <a:p>
            <a:pPr indent="0" marL="0">
              <a:buNone/>
            </a:pPr>
            <a:r>
              <a:rPr lang="en-US" sz="1100" dirty="0">
                <a:solidFill>
                  <a:srgbClr val="22313F"/>
                </a:solidFill>
                <a:latin typeface="Calibri" pitchFamily="34" charset="0"/>
                <a:ea typeface="Calibri" pitchFamily="34" charset="-122"/>
                <a:cs typeface="Calibri" pitchFamily="34" charset="-120"/>
              </a:rPr>
              <a:t>Extreme points can disproportionately pull the least-squares fit.</a:t>
            </a:r>
            <a:endParaRPr lang="en-US" sz="1100" dirty="0"/>
          </a:p>
        </p:txBody>
      </p:sp>
      <p:sp>
        <p:nvSpPr>
          <p:cNvPr id="34" name="Text 32"/>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8A97A5"/>
                </a:solidFill>
                <a:latin typeface="Calibri" pitchFamily="34" charset="0"/>
                <a:ea typeface="Calibri" pitchFamily="34" charset="-122"/>
                <a:cs typeface="Calibri" pitchFamily="34" charset="-120"/>
              </a:rPr>
              <a:t>Linear &amp; Logistic Regression</a:t>
            </a:r>
            <a:endParaRPr lang="en-US" sz="900" dirty="0"/>
          </a:p>
        </p:txBody>
      </p:sp>
      <p:sp>
        <p:nvSpPr>
          <p:cNvPr id="35" name="Text 33"/>
          <p:cNvSpPr/>
          <p:nvPr/>
        </p:nvSpPr>
        <p:spPr>
          <a:xfrm>
            <a:off x="11368735" y="6547104"/>
            <a:ext cx="457200" cy="256032"/>
          </a:xfrm>
          <a:prstGeom prst="rect">
            <a:avLst/>
          </a:prstGeom>
          <a:noFill/>
          <a:ln/>
        </p:spPr>
        <p:txBody>
          <a:bodyPr wrap="square"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1.3  WHY SQUARED ERROR?</a:t>
            </a:r>
            <a:endParaRPr lang="en-US" sz="1300" dirty="0"/>
          </a:p>
        </p:txBody>
      </p:sp>
      <p:sp>
        <p:nvSpPr>
          <p:cNvPr id="3" name="Text 1"/>
          <p:cNvSpPr/>
          <p:nvPr/>
        </p:nvSpPr>
        <p:spPr>
          <a:xfrm>
            <a:off x="548640" y="658368"/>
            <a:ext cx="10607040" cy="777240"/>
          </a:xfrm>
          <a:prstGeom prst="rect">
            <a:avLst/>
          </a:prstGeom>
          <a:noFill/>
          <a:ln/>
        </p:spPr>
        <p:txBody>
          <a:bodyPr wrap="square" rtlCol="0" anchor="ctr"/>
          <a:lstStyle/>
          <a:p>
            <a:pPr indent="0" marL="0">
              <a:buNone/>
            </a:pPr>
            <a:r>
              <a:rPr lang="en-US" sz="3000" b="1" dirty="0">
                <a:solidFill>
                  <a:srgbClr val="10375C"/>
                </a:solidFill>
                <a:latin typeface="Cambria" pitchFamily="34" charset="0"/>
                <a:ea typeface="Cambria" pitchFamily="34" charset="-122"/>
                <a:cs typeface="Cambria" pitchFamily="34" charset="-120"/>
              </a:rPr>
              <a:t>A Probabilistic View of Linear Regression</a:t>
            </a:r>
            <a:endParaRPr lang="en-US" sz="3000" dirty="0"/>
          </a:p>
        </p:txBody>
      </p:sp>
      <p:sp>
        <p:nvSpPr>
          <p:cNvPr id="4" name="Text 2"/>
          <p:cNvSpPr/>
          <p:nvPr/>
        </p:nvSpPr>
        <p:spPr>
          <a:xfrm>
            <a:off x="548640" y="1417320"/>
            <a:ext cx="10515600" cy="365760"/>
          </a:xfrm>
          <a:prstGeom prst="rect">
            <a:avLst/>
          </a:prstGeom>
          <a:noFill/>
          <a:ln/>
        </p:spPr>
        <p:txBody>
          <a:bodyPr wrap="square" rtlCol="0" anchor="ctr"/>
          <a:lstStyle/>
          <a:p>
            <a:pPr indent="0" marL="0">
              <a:buNone/>
            </a:pPr>
            <a:r>
              <a:rPr lang="en-US" sz="1350" dirty="0">
                <a:solidFill>
                  <a:srgbClr val="22313F"/>
                </a:solidFill>
                <a:latin typeface="Calibri" pitchFamily="34" charset="0"/>
                <a:ea typeface="Calibri" pitchFamily="34" charset="-122"/>
                <a:cs typeface="Calibri" pitchFamily="34" charset="-120"/>
              </a:rPr>
              <a:t>Assume each target is the true linear signal plus Gaussian noise:</a:t>
            </a:r>
            <a:endParaRPr lang="en-US" sz="1350" dirty="0"/>
          </a:p>
        </p:txBody>
      </p:sp>
      <p:sp>
        <p:nvSpPr>
          <p:cNvPr id="5" name="Shape 3"/>
          <p:cNvSpPr/>
          <p:nvPr/>
        </p:nvSpPr>
        <p:spPr>
          <a:xfrm>
            <a:off x="548640" y="1828800"/>
            <a:ext cx="11064240" cy="868680"/>
          </a:xfrm>
          <a:prstGeom prst="roundRect">
            <a:avLst>
              <a:gd name="adj" fmla="val 8421"/>
            </a:avLst>
          </a:prstGeom>
          <a:solidFill>
            <a:srgbClr val="EFF4F8"/>
          </a:solidFill>
          <a:ln w="12700">
            <a:solidFill>
              <a:srgbClr val="D9E3EC"/>
            </a:solidFill>
            <a:prstDash val="solid"/>
          </a:ln>
        </p:spPr>
      </p:sp>
      <p:pic>
        <p:nvPicPr>
          <p:cNvPr id="6" name="Image 0" descr="/home/claude/work/equations/lr_noise_model.png">    </p:cNvPr>
          <p:cNvPicPr>
            <a:picLocks noChangeAspect="1"/>
          </p:cNvPicPr>
          <p:nvPr/>
        </p:nvPicPr>
        <p:blipFill>
          <a:blip r:embed="rId1"/>
          <a:stretch>
            <a:fillRect/>
          </a:stretch>
        </p:blipFill>
        <p:spPr>
          <a:xfrm>
            <a:off x="2956780" y="1943100"/>
            <a:ext cx="6247959" cy="640080"/>
          </a:xfrm>
          <a:prstGeom prst="rect">
            <a:avLst/>
          </a:prstGeom>
        </p:spPr>
      </p:pic>
      <p:sp>
        <p:nvSpPr>
          <p:cNvPr id="7" name="Text 4"/>
          <p:cNvSpPr/>
          <p:nvPr/>
        </p:nvSpPr>
        <p:spPr>
          <a:xfrm>
            <a:off x="548640" y="2880360"/>
            <a:ext cx="10515600" cy="365760"/>
          </a:xfrm>
          <a:prstGeom prst="rect">
            <a:avLst/>
          </a:prstGeom>
          <a:noFill/>
          <a:ln/>
        </p:spPr>
        <p:txBody>
          <a:bodyPr wrap="square" rtlCol="0" anchor="ctr"/>
          <a:lstStyle/>
          <a:p>
            <a:pPr indent="0" marL="0">
              <a:buNone/>
            </a:pPr>
            <a:r>
              <a:rPr lang="en-US" sz="1350" dirty="0">
                <a:solidFill>
                  <a:srgbClr val="22313F"/>
                </a:solidFill>
                <a:latin typeface="Calibri" pitchFamily="34" charset="0"/>
                <a:ea typeface="Calibri" pitchFamily="34" charset="-122"/>
                <a:cs typeface="Calibri" pitchFamily="34" charset="-120"/>
              </a:rPr>
              <a:t>This says y⁽ⁱ⁾, given x⁽ⁱ⁾, is normally distributed around the line θᵀx⁽ⁱ⁾:</a:t>
            </a:r>
            <a:endParaRPr lang="en-US" sz="1350" dirty="0"/>
          </a:p>
        </p:txBody>
      </p:sp>
      <p:sp>
        <p:nvSpPr>
          <p:cNvPr id="8" name="Shape 5"/>
          <p:cNvSpPr/>
          <p:nvPr/>
        </p:nvSpPr>
        <p:spPr>
          <a:xfrm>
            <a:off x="548640" y="3291840"/>
            <a:ext cx="11064240" cy="1051560"/>
          </a:xfrm>
          <a:prstGeom prst="roundRect">
            <a:avLst>
              <a:gd name="adj" fmla="val 6957"/>
            </a:avLst>
          </a:prstGeom>
          <a:solidFill>
            <a:srgbClr val="EFF4F8"/>
          </a:solidFill>
          <a:ln w="12700">
            <a:solidFill>
              <a:srgbClr val="D9E3EC"/>
            </a:solidFill>
            <a:prstDash val="solid"/>
          </a:ln>
        </p:spPr>
      </p:sp>
      <p:pic>
        <p:nvPicPr>
          <p:cNvPr id="9" name="Image 1" descr="/home/claude/work/equations/lr_gaussian_density.png">    </p:cNvPr>
          <p:cNvPicPr>
            <a:picLocks noChangeAspect="1"/>
          </p:cNvPicPr>
          <p:nvPr/>
        </p:nvPicPr>
        <p:blipFill>
          <a:blip r:embed="rId2"/>
          <a:stretch>
            <a:fillRect/>
          </a:stretch>
        </p:blipFill>
        <p:spPr>
          <a:xfrm>
            <a:off x="3294643" y="3383280"/>
            <a:ext cx="5572234" cy="868680"/>
          </a:xfrm>
          <a:prstGeom prst="rect">
            <a:avLst/>
          </a:prstGeom>
        </p:spPr>
      </p:pic>
      <p:sp>
        <p:nvSpPr>
          <p:cNvPr id="10" name="Shape 6"/>
          <p:cNvSpPr/>
          <p:nvPr/>
        </p:nvSpPr>
        <p:spPr>
          <a:xfrm>
            <a:off x="548640" y="4572000"/>
            <a:ext cx="11064240" cy="1600200"/>
          </a:xfrm>
          <a:prstGeom prst="roundRect">
            <a:avLst>
              <a:gd name="adj" fmla="val 4571"/>
            </a:avLst>
          </a:prstGeom>
          <a:solidFill>
            <a:srgbClr val="FDF3E3"/>
          </a:solidFill>
          <a:ln w="12700">
            <a:solidFill>
              <a:srgbClr val="F0D9A8"/>
            </a:solidFill>
            <a:prstDash val="solid"/>
          </a:ln>
        </p:spPr>
      </p:sp>
      <p:sp>
        <p:nvSpPr>
          <p:cNvPr id="11" name="Text 7"/>
          <p:cNvSpPr/>
          <p:nvPr/>
        </p:nvSpPr>
        <p:spPr>
          <a:xfrm>
            <a:off x="822960" y="4700016"/>
            <a:ext cx="4572000" cy="292608"/>
          </a:xfrm>
          <a:prstGeom prst="rect">
            <a:avLst/>
          </a:prstGeom>
          <a:noFill/>
          <a:ln/>
        </p:spPr>
        <p:txBody>
          <a:bodyPr wrap="square" rtlCol="0" anchor="ctr"/>
          <a:lstStyle/>
          <a:p>
            <a:pPr indent="0" marL="0">
              <a:buNone/>
            </a:pPr>
            <a:r>
              <a:rPr lang="en-US" sz="1200" b="1" dirty="0">
                <a:solidFill>
                  <a:srgbClr val="8A5A00"/>
                </a:solidFill>
                <a:latin typeface="Calibri" pitchFamily="34" charset="0"/>
                <a:ea typeface="Calibri" pitchFamily="34" charset="-122"/>
                <a:cs typeface="Calibri" pitchFamily="34" charset="-120"/>
              </a:rPr>
              <a:t>Key insight</a:t>
            </a:r>
            <a:endParaRPr lang="en-US" sz="1200" dirty="0"/>
          </a:p>
        </p:txBody>
      </p:sp>
      <p:sp>
        <p:nvSpPr>
          <p:cNvPr id="12" name="Text 8"/>
          <p:cNvSpPr/>
          <p:nvPr/>
        </p:nvSpPr>
        <p:spPr>
          <a:xfrm>
            <a:off x="822960" y="5029200"/>
            <a:ext cx="10332720" cy="1051560"/>
          </a:xfrm>
          <a:prstGeom prst="rect">
            <a:avLst/>
          </a:prstGeom>
          <a:noFill/>
          <a:ln/>
        </p:spPr>
        <p:txBody>
          <a:bodyPr wrap="square" rtlCol="0" anchor="ctr"/>
          <a:lstStyle/>
          <a:p>
            <a:pPr indent="0" marL="0">
              <a:buNone/>
            </a:pPr>
            <a:r>
              <a:rPr lang="en-US" sz="1250" dirty="0">
                <a:solidFill>
                  <a:srgbClr val="22313F"/>
                </a:solidFill>
                <a:latin typeface="Calibri" pitchFamily="34" charset="0"/>
                <a:ea typeface="Calibri" pitchFamily="34" charset="-122"/>
                <a:cs typeface="Calibri" pitchFamily="34" charset="-120"/>
              </a:rPr>
              <a:t>Under this Gaussian-noise assumption, finding θ that maximizes the likelihood of the observed data (Maximum Likelihood Estimation, MLE) turns out to be exactly equivalent to minimizing the sum of squared errors. This is why 'least squares' isn't an arbitrary choice — it falls directly out of assuming Gaussian noise.</a:t>
            </a:r>
            <a:endParaRPr lang="en-US" sz="1250" dirty="0"/>
          </a:p>
        </p:txBody>
      </p:sp>
      <p:sp>
        <p:nvSpPr>
          <p:cNvPr id="13" name="Text 9"/>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8A97A5"/>
                </a:solidFill>
                <a:latin typeface="Calibri" pitchFamily="34" charset="0"/>
                <a:ea typeface="Calibri" pitchFamily="34" charset="-122"/>
                <a:cs typeface="Calibri" pitchFamily="34" charset="-120"/>
              </a:rPr>
              <a:t>Linear &amp; Logistic Regression</a:t>
            </a:r>
            <a:endParaRPr lang="en-US" sz="900" dirty="0"/>
          </a:p>
        </p:txBody>
      </p:sp>
      <p:sp>
        <p:nvSpPr>
          <p:cNvPr id="14" name="Text 10"/>
          <p:cNvSpPr/>
          <p:nvPr/>
        </p:nvSpPr>
        <p:spPr>
          <a:xfrm>
            <a:off x="11368735" y="6547104"/>
            <a:ext cx="457200" cy="256032"/>
          </a:xfrm>
          <a:prstGeom prst="rect">
            <a:avLst/>
          </a:prstGeom>
          <a:noFill/>
          <a:ln/>
        </p:spPr>
        <p:txBody>
          <a:bodyPr wrap="square"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1.4  DERIVATION</a:t>
            </a:r>
            <a:endParaRPr lang="en-US" sz="1300" dirty="0"/>
          </a:p>
        </p:txBody>
      </p:sp>
      <p:sp>
        <p:nvSpPr>
          <p:cNvPr id="3" name="Text 1"/>
          <p:cNvSpPr/>
          <p:nvPr/>
        </p:nvSpPr>
        <p:spPr>
          <a:xfrm>
            <a:off x="548640" y="658368"/>
            <a:ext cx="10607040" cy="777240"/>
          </a:xfrm>
          <a:prstGeom prst="rect">
            <a:avLst/>
          </a:prstGeom>
          <a:noFill/>
          <a:ln/>
        </p:spPr>
        <p:txBody>
          <a:bodyPr wrap="square" rtlCol="0" anchor="ctr"/>
          <a:lstStyle/>
          <a:p>
            <a:pPr indent="0" marL="0">
              <a:buNone/>
            </a:pPr>
            <a:r>
              <a:rPr lang="en-US" sz="3000" b="1" dirty="0">
                <a:solidFill>
                  <a:srgbClr val="10375C"/>
                </a:solidFill>
                <a:latin typeface="Cambria" pitchFamily="34" charset="0"/>
                <a:ea typeface="Cambria" pitchFamily="34" charset="-122"/>
                <a:cs typeface="Cambria" pitchFamily="34" charset="-120"/>
              </a:rPr>
              <a:t>From Maximum Likelihood to Mean Squared Error</a:t>
            </a:r>
            <a:endParaRPr lang="en-US" sz="3000" dirty="0"/>
          </a:p>
        </p:txBody>
      </p:sp>
      <p:sp>
        <p:nvSpPr>
          <p:cNvPr id="4" name="Text 2"/>
          <p:cNvSpPr/>
          <p:nvPr/>
        </p:nvSpPr>
        <p:spPr>
          <a:xfrm>
            <a:off x="548640" y="1463040"/>
            <a:ext cx="10789920" cy="320040"/>
          </a:xfrm>
          <a:prstGeom prst="rect">
            <a:avLst/>
          </a:prstGeom>
          <a:noFill/>
          <a:ln/>
        </p:spPr>
        <p:txBody>
          <a:bodyPr wrap="square" rtlCol="0" anchor="ctr"/>
          <a:lstStyle/>
          <a:p>
            <a:pPr indent="0" marL="0">
              <a:buNone/>
            </a:pPr>
            <a:r>
              <a:rPr lang="en-US" sz="1350" b="1" dirty="0">
                <a:solidFill>
                  <a:srgbClr val="1C7293"/>
                </a:solidFill>
                <a:latin typeface="Calibri" pitchFamily="34" charset="0"/>
                <a:ea typeface="Calibri" pitchFamily="34" charset="-122"/>
                <a:cs typeface="Calibri" pitchFamily="34" charset="-120"/>
              </a:rPr>
              <a:t>Step 1 — Likelihood of the full dataset</a:t>
            </a:r>
            <a:endParaRPr lang="en-US" sz="1350" dirty="0"/>
          </a:p>
        </p:txBody>
      </p:sp>
      <p:sp>
        <p:nvSpPr>
          <p:cNvPr id="5" name="Shape 3"/>
          <p:cNvSpPr/>
          <p:nvPr/>
        </p:nvSpPr>
        <p:spPr>
          <a:xfrm>
            <a:off x="548640" y="1792224"/>
            <a:ext cx="11064240" cy="713232"/>
          </a:xfrm>
          <a:prstGeom prst="roundRect">
            <a:avLst>
              <a:gd name="adj" fmla="val 10256"/>
            </a:avLst>
          </a:prstGeom>
          <a:solidFill>
            <a:srgbClr val="EFF4F8"/>
          </a:solidFill>
          <a:ln w="12700">
            <a:solidFill>
              <a:srgbClr val="D9E3EC"/>
            </a:solidFill>
            <a:prstDash val="solid"/>
          </a:ln>
        </p:spPr>
      </p:sp>
      <p:pic>
        <p:nvPicPr>
          <p:cNvPr id="6" name="Image 0" descr="/home/claude/work/equations/lr_likelihood.png">    </p:cNvPr>
          <p:cNvPicPr>
            <a:picLocks noChangeAspect="1"/>
          </p:cNvPicPr>
          <p:nvPr/>
        </p:nvPicPr>
        <p:blipFill>
          <a:blip r:embed="rId1"/>
          <a:stretch>
            <a:fillRect/>
          </a:stretch>
        </p:blipFill>
        <p:spPr>
          <a:xfrm>
            <a:off x="5138853" y="1874520"/>
            <a:ext cx="1883814" cy="548640"/>
          </a:xfrm>
          <a:prstGeom prst="rect">
            <a:avLst/>
          </a:prstGeom>
        </p:spPr>
      </p:pic>
      <p:sp>
        <p:nvSpPr>
          <p:cNvPr id="7" name="Text 4"/>
          <p:cNvSpPr/>
          <p:nvPr/>
        </p:nvSpPr>
        <p:spPr>
          <a:xfrm>
            <a:off x="548640" y="2578608"/>
            <a:ext cx="11064240" cy="365760"/>
          </a:xfrm>
          <a:prstGeom prst="rect">
            <a:avLst/>
          </a:prstGeom>
          <a:noFill/>
          <a:ln/>
        </p:spPr>
        <p:txBody>
          <a:bodyPr wrap="square" rtlCol="0" anchor="ctr"/>
          <a:lstStyle/>
          <a:p>
            <a:pPr indent="0" marL="0">
              <a:buNone/>
            </a:pPr>
            <a:r>
              <a:rPr lang="en-US" sz="1150" i="1" dirty="0">
                <a:solidFill>
                  <a:srgbClr val="22313F"/>
                </a:solidFill>
                <a:latin typeface="Calibri" pitchFamily="34" charset="0"/>
                <a:ea typeface="Calibri" pitchFamily="34" charset="-122"/>
                <a:cs typeface="Calibri" pitchFamily="34" charset="-120"/>
              </a:rPr>
              <a:t>Assuming i.i.d. samples, the joint likelihood is the product of individual densities.</a:t>
            </a:r>
            <a:endParaRPr lang="en-US" sz="1150" dirty="0"/>
          </a:p>
        </p:txBody>
      </p:sp>
      <p:sp>
        <p:nvSpPr>
          <p:cNvPr id="8" name="Text 5"/>
          <p:cNvSpPr/>
          <p:nvPr/>
        </p:nvSpPr>
        <p:spPr>
          <a:xfrm>
            <a:off x="548640" y="3054096"/>
            <a:ext cx="10789920" cy="320040"/>
          </a:xfrm>
          <a:prstGeom prst="rect">
            <a:avLst/>
          </a:prstGeom>
          <a:noFill/>
          <a:ln/>
        </p:spPr>
        <p:txBody>
          <a:bodyPr wrap="square" rtlCol="0" anchor="ctr"/>
          <a:lstStyle/>
          <a:p>
            <a:pPr indent="0" marL="0">
              <a:buNone/>
            </a:pPr>
            <a:r>
              <a:rPr lang="en-US" sz="1350" b="1" dirty="0">
                <a:solidFill>
                  <a:srgbClr val="1C7293"/>
                </a:solidFill>
                <a:latin typeface="Calibri" pitchFamily="34" charset="0"/>
                <a:ea typeface="Calibri" pitchFamily="34" charset="-122"/>
                <a:cs typeface="Calibri" pitchFamily="34" charset="-120"/>
              </a:rPr>
              <a:t>Step 2 — Take the log-likelihood</a:t>
            </a:r>
            <a:endParaRPr lang="en-US" sz="1350" dirty="0"/>
          </a:p>
        </p:txBody>
      </p:sp>
      <p:sp>
        <p:nvSpPr>
          <p:cNvPr id="9" name="Shape 6"/>
          <p:cNvSpPr/>
          <p:nvPr/>
        </p:nvSpPr>
        <p:spPr>
          <a:xfrm>
            <a:off x="548640" y="3383280"/>
            <a:ext cx="11064240" cy="713232"/>
          </a:xfrm>
          <a:prstGeom prst="roundRect">
            <a:avLst>
              <a:gd name="adj" fmla="val 10256"/>
            </a:avLst>
          </a:prstGeom>
          <a:solidFill>
            <a:srgbClr val="EFF4F8"/>
          </a:solidFill>
          <a:ln w="12700">
            <a:solidFill>
              <a:srgbClr val="D9E3EC"/>
            </a:solidFill>
            <a:prstDash val="solid"/>
          </a:ln>
        </p:spPr>
      </p:sp>
      <p:pic>
        <p:nvPicPr>
          <p:cNvPr id="10" name="Image 1" descr="/home/claude/work/equations/lr_loglikelihood.png">    </p:cNvPr>
          <p:cNvPicPr>
            <a:picLocks noChangeAspect="1"/>
          </p:cNvPicPr>
          <p:nvPr/>
        </p:nvPicPr>
        <p:blipFill>
          <a:blip r:embed="rId2"/>
          <a:stretch>
            <a:fillRect/>
          </a:stretch>
        </p:blipFill>
        <p:spPr>
          <a:xfrm>
            <a:off x="4336143" y="3465576"/>
            <a:ext cx="3489234" cy="548640"/>
          </a:xfrm>
          <a:prstGeom prst="rect">
            <a:avLst/>
          </a:prstGeom>
        </p:spPr>
      </p:pic>
      <p:sp>
        <p:nvSpPr>
          <p:cNvPr id="11" name="Text 7"/>
          <p:cNvSpPr/>
          <p:nvPr/>
        </p:nvSpPr>
        <p:spPr>
          <a:xfrm>
            <a:off x="548640" y="4169664"/>
            <a:ext cx="11064240" cy="365760"/>
          </a:xfrm>
          <a:prstGeom prst="rect">
            <a:avLst/>
          </a:prstGeom>
          <a:noFill/>
          <a:ln/>
        </p:spPr>
        <p:txBody>
          <a:bodyPr wrap="square" rtlCol="0" anchor="ctr"/>
          <a:lstStyle/>
          <a:p>
            <a:pPr indent="0" marL="0">
              <a:buNone/>
            </a:pPr>
            <a:r>
              <a:rPr lang="en-US" sz="1150" i="1" dirty="0">
                <a:solidFill>
                  <a:srgbClr val="22313F"/>
                </a:solidFill>
                <a:latin typeface="Calibri" pitchFamily="34" charset="0"/>
                <a:ea typeface="Calibri" pitchFamily="34" charset="-122"/>
                <a:cs typeface="Calibri" pitchFamily="34" charset="-120"/>
              </a:rPr>
              <a:t>Logs turn the product into a sum, which is far easier to differentiate. The first term doesn't depend on θ.</a:t>
            </a:r>
            <a:endParaRPr lang="en-US" sz="1150" dirty="0"/>
          </a:p>
        </p:txBody>
      </p:sp>
      <p:sp>
        <p:nvSpPr>
          <p:cNvPr id="12" name="Text 8"/>
          <p:cNvSpPr/>
          <p:nvPr/>
        </p:nvSpPr>
        <p:spPr>
          <a:xfrm>
            <a:off x="548640" y="4645152"/>
            <a:ext cx="10789920" cy="320040"/>
          </a:xfrm>
          <a:prstGeom prst="rect">
            <a:avLst/>
          </a:prstGeom>
          <a:noFill/>
          <a:ln/>
        </p:spPr>
        <p:txBody>
          <a:bodyPr wrap="square" rtlCol="0" anchor="ctr"/>
          <a:lstStyle/>
          <a:p>
            <a:pPr indent="0" marL="0">
              <a:buNone/>
            </a:pPr>
            <a:r>
              <a:rPr lang="en-US" sz="1350" b="1" dirty="0">
                <a:solidFill>
                  <a:srgbClr val="1C7293"/>
                </a:solidFill>
                <a:latin typeface="Calibri" pitchFamily="34" charset="0"/>
                <a:ea typeface="Calibri" pitchFamily="34" charset="-122"/>
                <a:cs typeface="Calibri" pitchFamily="34" charset="-120"/>
              </a:rPr>
              <a:t>Step 3 — Maximizing ℓ(θ) ⇔ minimizing squared error</a:t>
            </a:r>
            <a:endParaRPr lang="en-US" sz="1350" dirty="0"/>
          </a:p>
        </p:txBody>
      </p:sp>
      <p:sp>
        <p:nvSpPr>
          <p:cNvPr id="13" name="Shape 9"/>
          <p:cNvSpPr/>
          <p:nvPr/>
        </p:nvSpPr>
        <p:spPr>
          <a:xfrm>
            <a:off x="548640" y="4974336"/>
            <a:ext cx="11064240" cy="713232"/>
          </a:xfrm>
          <a:prstGeom prst="roundRect">
            <a:avLst>
              <a:gd name="adj" fmla="val 10256"/>
            </a:avLst>
          </a:prstGeom>
          <a:solidFill>
            <a:srgbClr val="EFF4F8"/>
          </a:solidFill>
          <a:ln w="12700">
            <a:solidFill>
              <a:srgbClr val="D9E3EC"/>
            </a:solidFill>
            <a:prstDash val="solid"/>
          </a:ln>
        </p:spPr>
      </p:sp>
      <p:pic>
        <p:nvPicPr>
          <p:cNvPr id="14" name="Image 2" descr="/home/claude/work/equations/lr_mle_to_mse.png">    </p:cNvPr>
          <p:cNvPicPr>
            <a:picLocks noChangeAspect="1"/>
          </p:cNvPicPr>
          <p:nvPr/>
        </p:nvPicPr>
        <p:blipFill>
          <a:blip r:embed="rId3"/>
          <a:stretch>
            <a:fillRect/>
          </a:stretch>
        </p:blipFill>
        <p:spPr>
          <a:xfrm>
            <a:off x="4480063" y="5056632"/>
            <a:ext cx="3201393" cy="548640"/>
          </a:xfrm>
          <a:prstGeom prst="rect">
            <a:avLst/>
          </a:prstGeom>
        </p:spPr>
      </p:pic>
      <p:sp>
        <p:nvSpPr>
          <p:cNvPr id="15" name="Text 10"/>
          <p:cNvSpPr/>
          <p:nvPr/>
        </p:nvSpPr>
        <p:spPr>
          <a:xfrm>
            <a:off x="548640" y="5760720"/>
            <a:ext cx="11064240" cy="365760"/>
          </a:xfrm>
          <a:prstGeom prst="rect">
            <a:avLst/>
          </a:prstGeom>
          <a:noFill/>
          <a:ln/>
        </p:spPr>
        <p:txBody>
          <a:bodyPr wrap="square" rtlCol="0" anchor="ctr"/>
          <a:lstStyle/>
          <a:p>
            <a:pPr indent="0" marL="0">
              <a:buNone/>
            </a:pPr>
            <a:r>
              <a:rPr lang="en-US" sz="1150" i="1" dirty="0">
                <a:solidFill>
                  <a:srgbClr val="22313F"/>
                </a:solidFill>
                <a:latin typeface="Calibri" pitchFamily="34" charset="0"/>
                <a:ea typeface="Calibri" pitchFamily="34" charset="-122"/>
                <a:cs typeface="Calibri" pitchFamily="34" charset="-120"/>
              </a:rPr>
              <a:t>Since the first term is constant in θ and σ² &gt; 0, maximizing ℓ(θ) is equivalent to minimizing the sum of squared residuals.</a:t>
            </a:r>
            <a:endParaRPr lang="en-US" sz="1150" dirty="0"/>
          </a:p>
        </p:txBody>
      </p:sp>
      <p:sp>
        <p:nvSpPr>
          <p:cNvPr id="16" name="Text 11"/>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8A97A5"/>
                </a:solidFill>
                <a:latin typeface="Calibri" pitchFamily="34" charset="0"/>
                <a:ea typeface="Calibri" pitchFamily="34" charset="-122"/>
                <a:cs typeface="Calibri" pitchFamily="34" charset="-120"/>
              </a:rPr>
              <a:t>Linear &amp; Logistic Regression</a:t>
            </a:r>
            <a:endParaRPr lang="en-US" sz="900" dirty="0"/>
          </a:p>
        </p:txBody>
      </p:sp>
      <p:sp>
        <p:nvSpPr>
          <p:cNvPr id="17" name="Text 12"/>
          <p:cNvSpPr/>
          <p:nvPr/>
        </p:nvSpPr>
        <p:spPr>
          <a:xfrm>
            <a:off x="11368735" y="6547104"/>
            <a:ext cx="457200" cy="256032"/>
          </a:xfrm>
          <a:prstGeom prst="rect">
            <a:avLst/>
          </a:prstGeom>
          <a:noFill/>
          <a:ln/>
        </p:spPr>
        <p:txBody>
          <a:bodyPr wrap="square"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1.5  LOSS FUNCTION</a:t>
            </a:r>
            <a:endParaRPr lang="en-US" sz="1300" dirty="0"/>
          </a:p>
        </p:txBody>
      </p:sp>
      <p:sp>
        <p:nvSpPr>
          <p:cNvPr id="3" name="Text 1"/>
          <p:cNvSpPr/>
          <p:nvPr/>
        </p:nvSpPr>
        <p:spPr>
          <a:xfrm>
            <a:off x="548640" y="658368"/>
            <a:ext cx="10607040" cy="777240"/>
          </a:xfrm>
          <a:prstGeom prst="rect">
            <a:avLst/>
          </a:prstGeom>
          <a:noFill/>
          <a:ln/>
        </p:spPr>
        <p:txBody>
          <a:bodyPr wrap="square" rtlCol="0" anchor="ctr"/>
          <a:lstStyle/>
          <a:p>
            <a:pPr indent="0" marL="0">
              <a:buNone/>
            </a:pPr>
            <a:r>
              <a:rPr lang="en-US" sz="3000" b="1" dirty="0">
                <a:solidFill>
                  <a:srgbClr val="10375C"/>
                </a:solidFill>
                <a:latin typeface="Cambria" pitchFamily="34" charset="0"/>
                <a:ea typeface="Cambria" pitchFamily="34" charset="-122"/>
                <a:cs typeface="Cambria" pitchFamily="34" charset="-120"/>
              </a:rPr>
              <a:t>The Mean Squared Error Cost Function</a:t>
            </a:r>
            <a:endParaRPr lang="en-US" sz="3000" dirty="0"/>
          </a:p>
        </p:txBody>
      </p:sp>
      <p:sp>
        <p:nvSpPr>
          <p:cNvPr id="4" name="Shape 2"/>
          <p:cNvSpPr/>
          <p:nvPr/>
        </p:nvSpPr>
        <p:spPr>
          <a:xfrm>
            <a:off x="548640" y="1508760"/>
            <a:ext cx="6309360" cy="1051560"/>
          </a:xfrm>
          <a:prstGeom prst="roundRect">
            <a:avLst>
              <a:gd name="adj" fmla="val 6957"/>
            </a:avLst>
          </a:prstGeom>
          <a:solidFill>
            <a:srgbClr val="EFF4F8"/>
          </a:solidFill>
          <a:ln w="12700">
            <a:solidFill>
              <a:srgbClr val="D9E3EC"/>
            </a:solidFill>
            <a:prstDash val="solid"/>
          </a:ln>
        </p:spPr>
      </p:sp>
      <p:pic>
        <p:nvPicPr>
          <p:cNvPr id="5" name="Image 0" descr="/home/claude/work/equations/lr_cost.png">    </p:cNvPr>
          <p:cNvPicPr>
            <a:picLocks noChangeAspect="1"/>
          </p:cNvPicPr>
          <p:nvPr/>
        </p:nvPicPr>
        <p:blipFill>
          <a:blip r:embed="rId1"/>
          <a:stretch>
            <a:fillRect/>
          </a:stretch>
        </p:blipFill>
        <p:spPr>
          <a:xfrm>
            <a:off x="2009048" y="1645920"/>
            <a:ext cx="3388544" cy="777240"/>
          </a:xfrm>
          <a:prstGeom prst="rect">
            <a:avLst/>
          </a:prstGeom>
        </p:spPr>
      </p:pic>
      <p:sp>
        <p:nvSpPr>
          <p:cNvPr id="6" name="Shape 3"/>
          <p:cNvSpPr/>
          <p:nvPr/>
        </p:nvSpPr>
        <p:spPr>
          <a:xfrm>
            <a:off x="548640" y="2798064"/>
            <a:ext cx="82296" cy="82296"/>
          </a:xfrm>
          <a:prstGeom prst="ellipse">
            <a:avLst/>
          </a:prstGeom>
          <a:solidFill>
            <a:srgbClr val="F2A541"/>
          </a:solidFill>
          <a:ln w="12700">
            <a:solidFill>
              <a:srgbClr val="333333"/>
            </a:solidFill>
            <a:prstDash val="solid"/>
          </a:ln>
        </p:spPr>
      </p:sp>
      <p:sp>
        <p:nvSpPr>
          <p:cNvPr id="7" name="Text 4"/>
          <p:cNvSpPr/>
          <p:nvPr/>
        </p:nvSpPr>
        <p:spPr>
          <a:xfrm>
            <a:off x="777240" y="2743200"/>
            <a:ext cx="6126480" cy="502920"/>
          </a:xfrm>
          <a:prstGeom prst="rect">
            <a:avLst/>
          </a:prstGeom>
          <a:noFill/>
          <a:ln/>
        </p:spPr>
        <p:txBody>
          <a:bodyPr wrap="square" rtlCol="0" anchor="ctr"/>
          <a:lstStyle/>
          <a:p>
            <a:pPr indent="0" marL="0">
              <a:buNone/>
            </a:pPr>
            <a:r>
              <a:rPr lang="en-US" sz="1200" dirty="0">
                <a:solidFill>
                  <a:srgbClr val="22313F"/>
                </a:solidFill>
                <a:latin typeface="Calibri" pitchFamily="34" charset="0"/>
                <a:ea typeface="Calibri" pitchFamily="34" charset="-122"/>
                <a:cs typeface="Calibri" pitchFamily="34" charset="-120"/>
              </a:rPr>
              <a:t>The factor 1/2 is a convention that cancels neatly when we differentiate (it doesn't change the minimizer θ).</a:t>
            </a:r>
            <a:endParaRPr lang="en-US" sz="1200" dirty="0"/>
          </a:p>
        </p:txBody>
      </p:sp>
      <p:sp>
        <p:nvSpPr>
          <p:cNvPr id="8" name="Shape 5"/>
          <p:cNvSpPr/>
          <p:nvPr/>
        </p:nvSpPr>
        <p:spPr>
          <a:xfrm>
            <a:off x="548640" y="3328416"/>
            <a:ext cx="82296" cy="82296"/>
          </a:xfrm>
          <a:prstGeom prst="ellipse">
            <a:avLst/>
          </a:prstGeom>
          <a:solidFill>
            <a:srgbClr val="F2A541"/>
          </a:solidFill>
          <a:ln w="12700">
            <a:solidFill>
              <a:srgbClr val="333333"/>
            </a:solidFill>
            <a:prstDash val="solid"/>
          </a:ln>
        </p:spPr>
      </p:sp>
      <p:sp>
        <p:nvSpPr>
          <p:cNvPr id="9" name="Text 6"/>
          <p:cNvSpPr/>
          <p:nvPr/>
        </p:nvSpPr>
        <p:spPr>
          <a:xfrm>
            <a:off x="777240" y="3273552"/>
            <a:ext cx="6126480" cy="502920"/>
          </a:xfrm>
          <a:prstGeom prst="rect">
            <a:avLst/>
          </a:prstGeom>
          <a:noFill/>
          <a:ln/>
        </p:spPr>
        <p:txBody>
          <a:bodyPr wrap="square" rtlCol="0" anchor="ctr"/>
          <a:lstStyle/>
          <a:p>
            <a:pPr indent="0" marL="0">
              <a:buNone/>
            </a:pPr>
            <a:r>
              <a:rPr lang="en-US" sz="1200" dirty="0">
                <a:solidFill>
                  <a:srgbClr val="22313F"/>
                </a:solidFill>
                <a:latin typeface="Calibri" pitchFamily="34" charset="0"/>
                <a:ea typeface="Calibri" pitchFamily="34" charset="-122"/>
                <a:cs typeface="Calibri" pitchFamily="34" charset="-120"/>
              </a:rPr>
              <a:t>1/m averages the error over all m training examples, so cost is comparable across dataset sizes.</a:t>
            </a:r>
            <a:endParaRPr lang="en-US" sz="1200" dirty="0"/>
          </a:p>
        </p:txBody>
      </p:sp>
      <p:sp>
        <p:nvSpPr>
          <p:cNvPr id="10" name="Shape 7"/>
          <p:cNvSpPr/>
          <p:nvPr/>
        </p:nvSpPr>
        <p:spPr>
          <a:xfrm>
            <a:off x="548640" y="3858768"/>
            <a:ext cx="82296" cy="82296"/>
          </a:xfrm>
          <a:prstGeom prst="ellipse">
            <a:avLst/>
          </a:prstGeom>
          <a:solidFill>
            <a:srgbClr val="F2A541"/>
          </a:solidFill>
          <a:ln w="12700">
            <a:solidFill>
              <a:srgbClr val="333333"/>
            </a:solidFill>
            <a:prstDash val="solid"/>
          </a:ln>
        </p:spPr>
      </p:sp>
      <p:sp>
        <p:nvSpPr>
          <p:cNvPr id="11" name="Text 8"/>
          <p:cNvSpPr/>
          <p:nvPr/>
        </p:nvSpPr>
        <p:spPr>
          <a:xfrm>
            <a:off x="777240" y="3803904"/>
            <a:ext cx="6126480" cy="502920"/>
          </a:xfrm>
          <a:prstGeom prst="rect">
            <a:avLst/>
          </a:prstGeom>
          <a:noFill/>
          <a:ln/>
        </p:spPr>
        <p:txBody>
          <a:bodyPr wrap="square" rtlCol="0" anchor="ctr"/>
          <a:lstStyle/>
          <a:p>
            <a:pPr indent="0" marL="0">
              <a:buNone/>
            </a:pPr>
            <a:r>
              <a:rPr lang="en-US" sz="1200" dirty="0">
                <a:solidFill>
                  <a:srgbClr val="22313F"/>
                </a:solidFill>
                <a:latin typeface="Calibri" pitchFamily="34" charset="0"/>
                <a:ea typeface="Calibri" pitchFamily="34" charset="-122"/>
                <a:cs typeface="Calibri" pitchFamily="34" charset="-120"/>
              </a:rPr>
              <a:t>Squaring penalizes larger errors disproportionately and keeps the function differentiable everywhere.</a:t>
            </a:r>
            <a:endParaRPr lang="en-US" sz="1200" dirty="0"/>
          </a:p>
        </p:txBody>
      </p:sp>
      <p:sp>
        <p:nvSpPr>
          <p:cNvPr id="12" name="Shape 9"/>
          <p:cNvSpPr/>
          <p:nvPr/>
        </p:nvSpPr>
        <p:spPr>
          <a:xfrm>
            <a:off x="548640" y="4389120"/>
            <a:ext cx="82296" cy="82296"/>
          </a:xfrm>
          <a:prstGeom prst="ellipse">
            <a:avLst/>
          </a:prstGeom>
          <a:solidFill>
            <a:srgbClr val="F2A541"/>
          </a:solidFill>
          <a:ln w="12700">
            <a:solidFill>
              <a:srgbClr val="333333"/>
            </a:solidFill>
            <a:prstDash val="solid"/>
          </a:ln>
        </p:spPr>
      </p:sp>
      <p:sp>
        <p:nvSpPr>
          <p:cNvPr id="13" name="Text 10"/>
          <p:cNvSpPr/>
          <p:nvPr/>
        </p:nvSpPr>
        <p:spPr>
          <a:xfrm>
            <a:off x="777240" y="4334256"/>
            <a:ext cx="6126480" cy="502920"/>
          </a:xfrm>
          <a:prstGeom prst="rect">
            <a:avLst/>
          </a:prstGeom>
          <a:noFill/>
          <a:ln/>
        </p:spPr>
        <p:txBody>
          <a:bodyPr wrap="square" rtlCol="0" anchor="ctr"/>
          <a:lstStyle/>
          <a:p>
            <a:pPr indent="0" marL="0">
              <a:buNone/>
            </a:pPr>
            <a:r>
              <a:rPr lang="en-US" sz="1200" dirty="0">
                <a:solidFill>
                  <a:srgbClr val="22313F"/>
                </a:solidFill>
                <a:latin typeface="Calibri" pitchFamily="34" charset="0"/>
                <a:ea typeface="Calibri" pitchFamily="34" charset="-122"/>
                <a:cs typeface="Calibri" pitchFamily="34" charset="-120"/>
              </a:rPr>
              <a:t>J(θ) is a convex quadratic bowl in θ — it has exactly one global minimum, no local minima to get stuck in.</a:t>
            </a:r>
            <a:endParaRPr lang="en-US" sz="1200" dirty="0"/>
          </a:p>
        </p:txBody>
      </p:sp>
      <p:pic>
        <p:nvPicPr>
          <p:cNvPr id="14" name="Image 1" descr="/home/claude/work/plots/cost_bowl.png">    </p:cNvPr>
          <p:cNvPicPr>
            <a:picLocks noChangeAspect="1"/>
          </p:cNvPicPr>
          <p:nvPr/>
        </p:nvPicPr>
        <p:blipFill>
          <a:blip r:embed="rId2"/>
          <a:stretch>
            <a:fillRect/>
          </a:stretch>
        </p:blipFill>
        <p:spPr>
          <a:xfrm>
            <a:off x="7223760" y="1957493"/>
            <a:ext cx="4846320" cy="3948853"/>
          </a:xfrm>
          <a:prstGeom prst="rect">
            <a:avLst/>
          </a:prstGeom>
        </p:spPr>
      </p:pic>
      <p:sp>
        <p:nvSpPr>
          <p:cNvPr id="15" name="Text 11"/>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8A97A5"/>
                </a:solidFill>
                <a:latin typeface="Calibri" pitchFamily="34" charset="0"/>
                <a:ea typeface="Calibri" pitchFamily="34" charset="-122"/>
                <a:cs typeface="Calibri" pitchFamily="34" charset="-120"/>
              </a:rPr>
              <a:t>Linear &amp; Logistic Regression</a:t>
            </a:r>
            <a:endParaRPr lang="en-US" sz="900" dirty="0"/>
          </a:p>
        </p:txBody>
      </p:sp>
      <p:sp>
        <p:nvSpPr>
          <p:cNvPr id="16" name="Text 12"/>
          <p:cNvSpPr/>
          <p:nvPr/>
        </p:nvSpPr>
        <p:spPr>
          <a:xfrm>
            <a:off x="11368735" y="6547104"/>
            <a:ext cx="457200" cy="256032"/>
          </a:xfrm>
          <a:prstGeom prst="rect">
            <a:avLst/>
          </a:prstGeom>
          <a:noFill/>
          <a:ln/>
        </p:spPr>
        <p:txBody>
          <a:bodyPr wrap="square"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1.6  VECTORIZED DERIVATION</a:t>
            </a:r>
            <a:endParaRPr lang="en-US" sz="1300" dirty="0"/>
          </a:p>
        </p:txBody>
      </p:sp>
      <p:sp>
        <p:nvSpPr>
          <p:cNvPr id="3" name="Text 1"/>
          <p:cNvSpPr/>
          <p:nvPr/>
        </p:nvSpPr>
        <p:spPr>
          <a:xfrm>
            <a:off x="548640" y="658368"/>
            <a:ext cx="10607040" cy="777240"/>
          </a:xfrm>
          <a:prstGeom prst="rect">
            <a:avLst/>
          </a:prstGeom>
          <a:noFill/>
          <a:ln/>
        </p:spPr>
        <p:txBody>
          <a:bodyPr wrap="square" rtlCol="0" anchor="ctr"/>
          <a:lstStyle/>
          <a:p>
            <a:pPr indent="0" marL="0">
              <a:buNone/>
            </a:pPr>
            <a:r>
              <a:rPr lang="en-US" sz="3000" b="1" dirty="0">
                <a:solidFill>
                  <a:srgbClr val="10375C"/>
                </a:solidFill>
                <a:latin typeface="Cambria" pitchFamily="34" charset="0"/>
                <a:ea typeface="Cambria" pitchFamily="34" charset="-122"/>
                <a:cs typeface="Cambria" pitchFamily="34" charset="-120"/>
              </a:rPr>
              <a:t>Cost &amp; Gradient in Matrix Form</a:t>
            </a:r>
            <a:endParaRPr lang="en-US" sz="3000" dirty="0"/>
          </a:p>
        </p:txBody>
      </p:sp>
      <p:sp>
        <p:nvSpPr>
          <p:cNvPr id="4" name="Text 2"/>
          <p:cNvSpPr/>
          <p:nvPr/>
        </p:nvSpPr>
        <p:spPr>
          <a:xfrm>
            <a:off x="548640" y="1417320"/>
            <a:ext cx="10698480" cy="457200"/>
          </a:xfrm>
          <a:prstGeom prst="rect">
            <a:avLst/>
          </a:prstGeom>
          <a:noFill/>
          <a:ln/>
        </p:spPr>
        <p:txBody>
          <a:bodyPr wrap="square" rtlCol="0" anchor="ctr"/>
          <a:lstStyle/>
          <a:p>
            <a:pPr indent="0" marL="0">
              <a:buNone/>
            </a:pPr>
            <a:r>
              <a:rPr lang="en-US" sz="1300" dirty="0">
                <a:solidFill>
                  <a:srgbClr val="22313F"/>
                </a:solidFill>
                <a:latin typeface="Calibri" pitchFamily="34" charset="0"/>
                <a:ea typeface="Calibri" pitchFamily="34" charset="-122"/>
                <a:cs typeface="Calibri" pitchFamily="34" charset="-120"/>
              </a:rPr>
              <a:t>Stacking all m examples into a design matrix X ∈ ℝ^(m×(n+1)) and targets y ∈ ℝᵐ, the cost becomes:</a:t>
            </a:r>
            <a:endParaRPr lang="en-US" sz="1300" dirty="0"/>
          </a:p>
        </p:txBody>
      </p:sp>
      <p:sp>
        <p:nvSpPr>
          <p:cNvPr id="5" name="Shape 3"/>
          <p:cNvSpPr/>
          <p:nvPr/>
        </p:nvSpPr>
        <p:spPr>
          <a:xfrm>
            <a:off x="548640" y="1874520"/>
            <a:ext cx="11064240" cy="777240"/>
          </a:xfrm>
          <a:prstGeom prst="roundRect">
            <a:avLst>
              <a:gd name="adj" fmla="val 9412"/>
            </a:avLst>
          </a:prstGeom>
          <a:solidFill>
            <a:srgbClr val="EFF4F8"/>
          </a:solidFill>
          <a:ln w="12700">
            <a:solidFill>
              <a:srgbClr val="D9E3EC"/>
            </a:solidFill>
            <a:prstDash val="solid"/>
          </a:ln>
        </p:spPr>
      </p:sp>
      <p:pic>
        <p:nvPicPr>
          <p:cNvPr id="6" name="Image 0" descr="/home/claude/work/equations/lr_cost_matrix.png">    </p:cNvPr>
          <p:cNvPicPr>
            <a:picLocks noChangeAspect="1"/>
          </p:cNvPicPr>
          <p:nvPr/>
        </p:nvPicPr>
        <p:blipFill>
          <a:blip r:embed="rId1"/>
          <a:stretch>
            <a:fillRect/>
          </a:stretch>
        </p:blipFill>
        <p:spPr>
          <a:xfrm>
            <a:off x="4444842" y="1979676"/>
            <a:ext cx="3271837" cy="566928"/>
          </a:xfrm>
          <a:prstGeom prst="rect">
            <a:avLst/>
          </a:prstGeom>
        </p:spPr>
      </p:pic>
      <p:sp>
        <p:nvSpPr>
          <p:cNvPr id="7" name="Text 4"/>
          <p:cNvSpPr/>
          <p:nvPr/>
        </p:nvSpPr>
        <p:spPr>
          <a:xfrm>
            <a:off x="548640" y="2788920"/>
            <a:ext cx="10698480" cy="365760"/>
          </a:xfrm>
          <a:prstGeom prst="rect">
            <a:avLst/>
          </a:prstGeom>
          <a:noFill/>
          <a:ln/>
        </p:spPr>
        <p:txBody>
          <a:bodyPr wrap="square" rtlCol="0" anchor="ctr"/>
          <a:lstStyle/>
          <a:p>
            <a:pPr indent="0" marL="0">
              <a:buNone/>
            </a:pPr>
            <a:r>
              <a:rPr lang="en-US" sz="1300" dirty="0">
                <a:solidFill>
                  <a:srgbClr val="22313F"/>
                </a:solidFill>
                <a:latin typeface="Calibri" pitchFamily="34" charset="0"/>
                <a:ea typeface="Calibri" pitchFamily="34" charset="-122"/>
                <a:cs typeface="Calibri" pitchFamily="34" charset="-120"/>
              </a:rPr>
              <a:t>Differentiating with respect to the vector θ (using matrix calculus) gives the gradient:</a:t>
            </a:r>
            <a:endParaRPr lang="en-US" sz="1300" dirty="0"/>
          </a:p>
        </p:txBody>
      </p:sp>
      <p:sp>
        <p:nvSpPr>
          <p:cNvPr id="8" name="Shape 5"/>
          <p:cNvSpPr/>
          <p:nvPr/>
        </p:nvSpPr>
        <p:spPr>
          <a:xfrm>
            <a:off x="548640" y="3200400"/>
            <a:ext cx="11064240" cy="777240"/>
          </a:xfrm>
          <a:prstGeom prst="roundRect">
            <a:avLst>
              <a:gd name="adj" fmla="val 9412"/>
            </a:avLst>
          </a:prstGeom>
          <a:solidFill>
            <a:srgbClr val="EFF4F8"/>
          </a:solidFill>
          <a:ln w="12700">
            <a:solidFill>
              <a:srgbClr val="D9E3EC"/>
            </a:solidFill>
            <a:prstDash val="solid"/>
          </a:ln>
        </p:spPr>
      </p:sp>
      <p:pic>
        <p:nvPicPr>
          <p:cNvPr id="9" name="Image 1" descr="/home/claude/work/equations/lr_grad_matrix.png">    </p:cNvPr>
          <p:cNvPicPr>
            <a:picLocks noChangeAspect="1"/>
          </p:cNvPicPr>
          <p:nvPr/>
        </p:nvPicPr>
        <p:blipFill>
          <a:blip r:embed="rId2"/>
          <a:stretch>
            <a:fillRect/>
          </a:stretch>
        </p:blipFill>
        <p:spPr>
          <a:xfrm>
            <a:off x="4531569" y="3305556"/>
            <a:ext cx="3098382" cy="566928"/>
          </a:xfrm>
          <a:prstGeom prst="rect">
            <a:avLst/>
          </a:prstGeom>
        </p:spPr>
      </p:pic>
      <p:sp>
        <p:nvSpPr>
          <p:cNvPr id="10" name="Shape 6"/>
          <p:cNvSpPr/>
          <p:nvPr/>
        </p:nvSpPr>
        <p:spPr>
          <a:xfrm>
            <a:off x="548640" y="4160520"/>
            <a:ext cx="11064240" cy="2011680"/>
          </a:xfrm>
          <a:prstGeom prst="roundRect">
            <a:avLst>
              <a:gd name="adj" fmla="val 3636"/>
            </a:avLst>
          </a:prstGeom>
          <a:solidFill>
            <a:srgbClr val="FDF3E3"/>
          </a:solidFill>
          <a:ln w="12700">
            <a:solidFill>
              <a:srgbClr val="F0D9A8"/>
            </a:solidFill>
            <a:prstDash val="solid"/>
          </a:ln>
        </p:spPr>
      </p:sp>
      <p:sp>
        <p:nvSpPr>
          <p:cNvPr id="11" name="Text 7"/>
          <p:cNvSpPr/>
          <p:nvPr/>
        </p:nvSpPr>
        <p:spPr>
          <a:xfrm>
            <a:off x="822960" y="4279392"/>
            <a:ext cx="5486400" cy="292608"/>
          </a:xfrm>
          <a:prstGeom prst="rect">
            <a:avLst/>
          </a:prstGeom>
          <a:noFill/>
          <a:ln/>
        </p:spPr>
        <p:txBody>
          <a:bodyPr wrap="square" rtlCol="0" anchor="ctr"/>
          <a:lstStyle/>
          <a:p>
            <a:pPr indent="0" marL="0">
              <a:buNone/>
            </a:pPr>
            <a:r>
              <a:rPr lang="en-US" sz="1200" b="1" dirty="0">
                <a:solidFill>
                  <a:srgbClr val="8A5A00"/>
                </a:solidFill>
                <a:latin typeface="Calibri" pitchFamily="34" charset="0"/>
                <a:ea typeface="Calibri" pitchFamily="34" charset="-122"/>
                <a:cs typeface="Calibri" pitchFamily="34" charset="-120"/>
              </a:rPr>
              <a:t>Derivation sketch</a:t>
            </a:r>
            <a:endParaRPr lang="en-US" sz="1200" dirty="0"/>
          </a:p>
        </p:txBody>
      </p:sp>
      <p:sp>
        <p:nvSpPr>
          <p:cNvPr id="12" name="Text 8"/>
          <p:cNvSpPr/>
          <p:nvPr/>
        </p:nvSpPr>
        <p:spPr>
          <a:xfrm>
            <a:off x="822960" y="4617720"/>
            <a:ext cx="10332720" cy="320040"/>
          </a:xfrm>
          <a:prstGeom prst="rect">
            <a:avLst/>
          </a:prstGeom>
          <a:noFill/>
          <a:ln/>
        </p:spPr>
        <p:txBody>
          <a:bodyPr wrap="square" rtlCol="0" anchor="ctr"/>
          <a:lstStyle/>
          <a:p>
            <a:pPr indent="0" marL="0">
              <a:buNone/>
            </a:pPr>
            <a:r>
              <a:rPr lang="en-US" sz="1150" dirty="0">
                <a:solidFill>
                  <a:srgbClr val="22313F"/>
                </a:solidFill>
                <a:latin typeface="Calibri" pitchFamily="34" charset="0"/>
                <a:ea typeface="Calibri" pitchFamily="34" charset="-122"/>
                <a:cs typeface="Calibri" pitchFamily="34" charset="-120"/>
              </a:rPr>
              <a:t>•  Expand (Xθ − y)ᵀ(Xθ − y) = θᵀXᵀXθ − 2θᵀXᵀy + yᵀy</a:t>
            </a:r>
            <a:endParaRPr lang="en-US" sz="1150" dirty="0"/>
          </a:p>
        </p:txBody>
      </p:sp>
      <p:sp>
        <p:nvSpPr>
          <p:cNvPr id="13" name="Text 9"/>
          <p:cNvSpPr/>
          <p:nvPr/>
        </p:nvSpPr>
        <p:spPr>
          <a:xfrm>
            <a:off x="822960" y="4946904"/>
            <a:ext cx="10332720" cy="320040"/>
          </a:xfrm>
          <a:prstGeom prst="rect">
            <a:avLst/>
          </a:prstGeom>
          <a:noFill/>
          <a:ln/>
        </p:spPr>
        <p:txBody>
          <a:bodyPr wrap="square" rtlCol="0" anchor="ctr"/>
          <a:lstStyle/>
          <a:p>
            <a:pPr indent="0" marL="0">
              <a:buNone/>
            </a:pPr>
            <a:r>
              <a:rPr lang="en-US" sz="1150" dirty="0">
                <a:solidFill>
                  <a:srgbClr val="22313F"/>
                </a:solidFill>
                <a:latin typeface="Calibri" pitchFamily="34" charset="0"/>
                <a:ea typeface="Calibri" pitchFamily="34" charset="-122"/>
                <a:cs typeface="Calibri" pitchFamily="34" charset="-120"/>
              </a:rPr>
              <a:t>•  Use the matrix-calculus identities ∂(θᵀAθ)/∂θ = 2Aθ (for symmetric A) and ∂(bᵀθ)/∂θ = b</a:t>
            </a:r>
            <a:endParaRPr lang="en-US" sz="1150" dirty="0"/>
          </a:p>
        </p:txBody>
      </p:sp>
      <p:sp>
        <p:nvSpPr>
          <p:cNvPr id="14" name="Text 10"/>
          <p:cNvSpPr/>
          <p:nvPr/>
        </p:nvSpPr>
        <p:spPr>
          <a:xfrm>
            <a:off x="822960" y="5276088"/>
            <a:ext cx="10332720" cy="320040"/>
          </a:xfrm>
          <a:prstGeom prst="rect">
            <a:avLst/>
          </a:prstGeom>
          <a:noFill/>
          <a:ln/>
        </p:spPr>
        <p:txBody>
          <a:bodyPr wrap="square" rtlCol="0" anchor="ctr"/>
          <a:lstStyle/>
          <a:p>
            <a:pPr indent="0" marL="0">
              <a:buNone/>
            </a:pPr>
            <a:r>
              <a:rPr lang="en-US" sz="1150" dirty="0">
                <a:solidFill>
                  <a:srgbClr val="22313F"/>
                </a:solidFill>
                <a:latin typeface="Calibri" pitchFamily="34" charset="0"/>
                <a:ea typeface="Calibri" pitchFamily="34" charset="-122"/>
                <a:cs typeface="Calibri" pitchFamily="34" charset="-120"/>
              </a:rPr>
              <a:t>•  ∇_θ J(θ) = (1/m)[XᵀXθ − Xᵀy] = (1/m) Xᵀ(Xθ − y)</a:t>
            </a:r>
            <a:endParaRPr lang="en-US" sz="1150" dirty="0"/>
          </a:p>
        </p:txBody>
      </p:sp>
      <p:sp>
        <p:nvSpPr>
          <p:cNvPr id="15" name="Text 11"/>
          <p:cNvSpPr/>
          <p:nvPr/>
        </p:nvSpPr>
        <p:spPr>
          <a:xfrm>
            <a:off x="822960" y="5605272"/>
            <a:ext cx="10332720" cy="320040"/>
          </a:xfrm>
          <a:prstGeom prst="rect">
            <a:avLst/>
          </a:prstGeom>
          <a:noFill/>
          <a:ln/>
        </p:spPr>
        <p:txBody>
          <a:bodyPr wrap="square" rtlCol="0" anchor="ctr"/>
          <a:lstStyle/>
          <a:p>
            <a:pPr indent="0" marL="0">
              <a:buNone/>
            </a:pPr>
            <a:r>
              <a:rPr lang="en-US" sz="1150" dirty="0">
                <a:solidFill>
                  <a:srgbClr val="22313F"/>
                </a:solidFill>
                <a:latin typeface="Calibri" pitchFamily="34" charset="0"/>
                <a:ea typeface="Calibri" pitchFamily="34" charset="-122"/>
                <a:cs typeface="Calibri" pitchFamily="34" charset="-120"/>
              </a:rPr>
              <a:t>•  This single vectorized expression drives BOTH the normal equation and gradient descent below.</a:t>
            </a:r>
            <a:endParaRPr lang="en-US" sz="1150" dirty="0"/>
          </a:p>
        </p:txBody>
      </p:sp>
      <p:sp>
        <p:nvSpPr>
          <p:cNvPr id="16" name="Text 12"/>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8A97A5"/>
                </a:solidFill>
                <a:latin typeface="Calibri" pitchFamily="34" charset="0"/>
                <a:ea typeface="Calibri" pitchFamily="34" charset="-122"/>
                <a:cs typeface="Calibri" pitchFamily="34" charset="-120"/>
              </a:rPr>
              <a:t>Linear &amp; Logistic Regression</a:t>
            </a:r>
            <a:endParaRPr lang="en-US" sz="900" dirty="0"/>
          </a:p>
        </p:txBody>
      </p:sp>
      <p:sp>
        <p:nvSpPr>
          <p:cNvPr id="17" name="Text 13"/>
          <p:cNvSpPr/>
          <p:nvPr/>
        </p:nvSpPr>
        <p:spPr>
          <a:xfrm>
            <a:off x="11368735" y="6547104"/>
            <a:ext cx="457200" cy="256032"/>
          </a:xfrm>
          <a:prstGeom prst="rect">
            <a:avLst/>
          </a:prstGeom>
          <a:noFill/>
          <a:ln/>
        </p:spPr>
        <p:txBody>
          <a:bodyPr wrap="square"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1.7  CLOSED-FORM SOLUTION</a:t>
            </a:r>
            <a:endParaRPr lang="en-US" sz="1300" dirty="0"/>
          </a:p>
        </p:txBody>
      </p:sp>
      <p:sp>
        <p:nvSpPr>
          <p:cNvPr id="3" name="Text 1"/>
          <p:cNvSpPr/>
          <p:nvPr/>
        </p:nvSpPr>
        <p:spPr>
          <a:xfrm>
            <a:off x="548640" y="658368"/>
            <a:ext cx="10607040" cy="777240"/>
          </a:xfrm>
          <a:prstGeom prst="rect">
            <a:avLst/>
          </a:prstGeom>
          <a:noFill/>
          <a:ln/>
        </p:spPr>
        <p:txBody>
          <a:bodyPr wrap="square" rtlCol="0" anchor="ctr"/>
          <a:lstStyle/>
          <a:p>
            <a:pPr indent="0" marL="0">
              <a:buNone/>
            </a:pPr>
            <a:r>
              <a:rPr lang="en-US" sz="3000" b="1" dirty="0">
                <a:solidFill>
                  <a:srgbClr val="10375C"/>
                </a:solidFill>
                <a:latin typeface="Cambria" pitchFamily="34" charset="0"/>
                <a:ea typeface="Cambria" pitchFamily="34" charset="-122"/>
                <a:cs typeface="Cambria" pitchFamily="34" charset="-120"/>
              </a:rPr>
              <a:t>The Normal Equation</a:t>
            </a:r>
            <a:endParaRPr lang="en-US" sz="3000" dirty="0"/>
          </a:p>
        </p:txBody>
      </p:sp>
      <p:sp>
        <p:nvSpPr>
          <p:cNvPr id="4" name="Text 2"/>
          <p:cNvSpPr/>
          <p:nvPr/>
        </p:nvSpPr>
        <p:spPr>
          <a:xfrm>
            <a:off x="548640" y="1417320"/>
            <a:ext cx="6309360" cy="457200"/>
          </a:xfrm>
          <a:prstGeom prst="rect">
            <a:avLst/>
          </a:prstGeom>
          <a:noFill/>
          <a:ln/>
        </p:spPr>
        <p:txBody>
          <a:bodyPr wrap="square" rtlCol="0" anchor="ctr"/>
          <a:lstStyle/>
          <a:p>
            <a:pPr indent="0" marL="0">
              <a:buNone/>
            </a:pPr>
            <a:r>
              <a:rPr lang="en-US" sz="1300" dirty="0">
                <a:solidFill>
                  <a:srgbClr val="22313F"/>
                </a:solidFill>
                <a:latin typeface="Calibri" pitchFamily="34" charset="0"/>
                <a:ea typeface="Calibri" pitchFamily="34" charset="-122"/>
                <a:cs typeface="Calibri" pitchFamily="34" charset="-120"/>
              </a:rPr>
              <a:t>Setting the gradient from the previous slide to zero and solving for θ directly:</a:t>
            </a:r>
            <a:endParaRPr lang="en-US" sz="1300" dirty="0"/>
          </a:p>
        </p:txBody>
      </p:sp>
      <p:sp>
        <p:nvSpPr>
          <p:cNvPr id="5" name="Shape 3"/>
          <p:cNvSpPr/>
          <p:nvPr/>
        </p:nvSpPr>
        <p:spPr>
          <a:xfrm>
            <a:off x="548640" y="1920240"/>
            <a:ext cx="6309360" cy="822960"/>
          </a:xfrm>
          <a:prstGeom prst="roundRect">
            <a:avLst>
              <a:gd name="adj" fmla="val 8889"/>
            </a:avLst>
          </a:prstGeom>
          <a:solidFill>
            <a:srgbClr val="10375C"/>
          </a:solidFill>
          <a:ln w="12700">
            <a:solidFill>
              <a:srgbClr val="10375C"/>
            </a:solidFill>
            <a:prstDash val="solid"/>
          </a:ln>
        </p:spPr>
      </p:sp>
      <p:pic>
        <p:nvPicPr>
          <p:cNvPr id="6" name="Image 0" descr="/home/claude/work/equations/lr_normal_eq_white.png">    </p:cNvPr>
          <p:cNvPicPr>
            <a:picLocks noChangeAspect="1"/>
          </p:cNvPicPr>
          <p:nvPr/>
        </p:nvPicPr>
        <p:blipFill>
          <a:blip r:embed="rId1"/>
          <a:stretch>
            <a:fillRect/>
          </a:stretch>
        </p:blipFill>
        <p:spPr>
          <a:xfrm>
            <a:off x="2287336" y="2048256"/>
            <a:ext cx="2831967" cy="566928"/>
          </a:xfrm>
          <a:prstGeom prst="rect">
            <a:avLst/>
          </a:prstGeom>
        </p:spPr>
      </p:pic>
      <p:sp>
        <p:nvSpPr>
          <p:cNvPr id="7" name="Text 4"/>
          <p:cNvSpPr/>
          <p:nvPr/>
        </p:nvSpPr>
        <p:spPr>
          <a:xfrm>
            <a:off x="548640" y="2880360"/>
            <a:ext cx="6309360" cy="365760"/>
          </a:xfrm>
          <a:prstGeom prst="rect">
            <a:avLst/>
          </a:prstGeom>
          <a:noFill/>
          <a:ln/>
        </p:spPr>
        <p:txBody>
          <a:bodyPr wrap="square" rtlCol="0" anchor="ctr"/>
          <a:lstStyle/>
          <a:p>
            <a:pPr indent="0" marL="0">
              <a:buNone/>
            </a:pPr>
            <a:r>
              <a:rPr lang="en-US" sz="1200" i="1" dirty="0">
                <a:solidFill>
                  <a:srgbClr val="1C7293"/>
                </a:solidFill>
                <a:latin typeface="Calibri" pitchFamily="34" charset="0"/>
                <a:ea typeface="Calibri" pitchFamily="34" charset="-122"/>
                <a:cs typeface="Calibri" pitchFamily="34" charset="-120"/>
              </a:rPr>
              <a:t>This gives the exact optimum in one step — no iterations, no learning rate.</a:t>
            </a:r>
            <a:endParaRPr lang="en-US" sz="1200" dirty="0"/>
          </a:p>
        </p:txBody>
      </p:sp>
      <p:sp>
        <p:nvSpPr>
          <p:cNvPr id="8" name="Text 5"/>
          <p:cNvSpPr/>
          <p:nvPr/>
        </p:nvSpPr>
        <p:spPr>
          <a:xfrm>
            <a:off x="548640" y="3429000"/>
            <a:ext cx="6309360" cy="502920"/>
          </a:xfrm>
          <a:prstGeom prst="rect">
            <a:avLst/>
          </a:prstGeom>
          <a:noFill/>
          <a:ln/>
        </p:spPr>
        <p:txBody>
          <a:bodyPr wrap="square" rtlCol="0" anchor="ctr"/>
          <a:lstStyle/>
          <a:p>
            <a:pPr indent="0" marL="0">
              <a:buNone/>
            </a:pPr>
            <a:r>
              <a:rPr lang="en-US" sz="1150" b="1" dirty="0">
                <a:solidFill>
                  <a:srgbClr val="10375C"/>
                </a:solidFill>
                <a:latin typeface="Calibri" pitchFamily="34" charset="0"/>
                <a:ea typeface="Calibri" pitchFamily="34" charset="-122"/>
                <a:cs typeface="Calibri" pitchFamily="34" charset="-120"/>
              </a:rPr>
              <a:t>Complexity:  </a:t>
            </a:r>
            <a:pPr indent="0" marL="0">
              <a:buNone/>
            </a:pPr>
            <a:r>
              <a:rPr lang="en-US" sz="1150" dirty="0">
                <a:solidFill>
                  <a:srgbClr val="22313F"/>
                </a:solidFill>
                <a:latin typeface="Calibri" pitchFamily="34" charset="0"/>
                <a:ea typeface="Calibri" pitchFamily="34" charset="-122"/>
                <a:cs typeface="Calibri" pitchFamily="34" charset="-120"/>
              </a:rPr>
              <a:t>O(n³) to invert XᵀX  (n = number of features)</a:t>
            </a:r>
            <a:endParaRPr lang="en-US" sz="1150" dirty="0"/>
          </a:p>
        </p:txBody>
      </p:sp>
      <p:sp>
        <p:nvSpPr>
          <p:cNvPr id="9" name="Text 6"/>
          <p:cNvSpPr/>
          <p:nvPr/>
        </p:nvSpPr>
        <p:spPr>
          <a:xfrm>
            <a:off x="548640" y="3959352"/>
            <a:ext cx="6309360" cy="502920"/>
          </a:xfrm>
          <a:prstGeom prst="rect">
            <a:avLst/>
          </a:prstGeom>
          <a:noFill/>
          <a:ln/>
        </p:spPr>
        <p:txBody>
          <a:bodyPr wrap="square" rtlCol="0" anchor="ctr"/>
          <a:lstStyle/>
          <a:p>
            <a:pPr indent="0" marL="0">
              <a:buNone/>
            </a:pPr>
            <a:r>
              <a:rPr lang="en-US" sz="1150" b="1" dirty="0">
                <a:solidFill>
                  <a:srgbClr val="10375C"/>
                </a:solidFill>
                <a:latin typeface="Calibri" pitchFamily="34" charset="0"/>
                <a:ea typeface="Calibri" pitchFamily="34" charset="-122"/>
                <a:cs typeface="Calibri" pitchFamily="34" charset="-120"/>
              </a:rPr>
              <a:t>Best when:  </a:t>
            </a:r>
            <a:pPr indent="0" marL="0">
              <a:buNone/>
            </a:pPr>
            <a:r>
              <a:rPr lang="en-US" sz="1150" dirty="0">
                <a:solidFill>
                  <a:srgbClr val="22313F"/>
                </a:solidFill>
                <a:latin typeface="Calibri" pitchFamily="34" charset="0"/>
                <a:ea typeface="Calibri" pitchFamily="34" charset="-122"/>
                <a:cs typeface="Calibri" pitchFamily="34" charset="-120"/>
              </a:rPr>
              <a:t>n is small–moderate (roughly n &lt; 10,000)</a:t>
            </a:r>
            <a:endParaRPr lang="en-US" sz="1150" dirty="0"/>
          </a:p>
        </p:txBody>
      </p:sp>
      <p:sp>
        <p:nvSpPr>
          <p:cNvPr id="10" name="Text 7"/>
          <p:cNvSpPr/>
          <p:nvPr/>
        </p:nvSpPr>
        <p:spPr>
          <a:xfrm>
            <a:off x="548640" y="4489704"/>
            <a:ext cx="6309360" cy="502920"/>
          </a:xfrm>
          <a:prstGeom prst="rect">
            <a:avLst/>
          </a:prstGeom>
          <a:noFill/>
          <a:ln/>
        </p:spPr>
        <p:txBody>
          <a:bodyPr wrap="square" rtlCol="0" anchor="ctr"/>
          <a:lstStyle/>
          <a:p>
            <a:pPr indent="0" marL="0">
              <a:buNone/>
            </a:pPr>
            <a:r>
              <a:rPr lang="en-US" sz="1150" b="1" dirty="0">
                <a:solidFill>
                  <a:srgbClr val="10375C"/>
                </a:solidFill>
                <a:latin typeface="Calibri" pitchFamily="34" charset="0"/>
                <a:ea typeface="Calibri" pitchFamily="34" charset="-122"/>
                <a:cs typeface="Calibri" pitchFamily="34" charset="-120"/>
              </a:rPr>
              <a:t>Feature scaling:  </a:t>
            </a:r>
            <a:pPr indent="0" marL="0">
              <a:buNone/>
            </a:pPr>
            <a:r>
              <a:rPr lang="en-US" sz="1150" dirty="0">
                <a:solidFill>
                  <a:srgbClr val="22313F"/>
                </a:solidFill>
                <a:latin typeface="Calibri" pitchFamily="34" charset="0"/>
                <a:ea typeface="Calibri" pitchFamily="34" charset="-122"/>
                <a:cs typeface="Calibri" pitchFamily="34" charset="-120"/>
              </a:rPr>
              <a:t>Not required (unlike gradient descent)</a:t>
            </a:r>
            <a:endParaRPr lang="en-US" sz="1150" dirty="0"/>
          </a:p>
        </p:txBody>
      </p:sp>
      <p:sp>
        <p:nvSpPr>
          <p:cNvPr id="11" name="Text 8"/>
          <p:cNvSpPr/>
          <p:nvPr/>
        </p:nvSpPr>
        <p:spPr>
          <a:xfrm>
            <a:off x="548640" y="5020056"/>
            <a:ext cx="6309360" cy="502920"/>
          </a:xfrm>
          <a:prstGeom prst="rect">
            <a:avLst/>
          </a:prstGeom>
          <a:noFill/>
          <a:ln/>
        </p:spPr>
        <p:txBody>
          <a:bodyPr wrap="square" rtlCol="0" anchor="ctr"/>
          <a:lstStyle/>
          <a:p>
            <a:pPr indent="0" marL="0">
              <a:buNone/>
            </a:pPr>
            <a:r>
              <a:rPr lang="en-US" sz="1150" b="1" dirty="0">
                <a:solidFill>
                  <a:srgbClr val="10375C"/>
                </a:solidFill>
                <a:latin typeface="Calibri" pitchFamily="34" charset="0"/>
                <a:ea typeface="Calibri" pitchFamily="34" charset="-122"/>
                <a:cs typeface="Calibri" pitchFamily="34" charset="-120"/>
              </a:rPr>
              <a:t>Watch out for:  </a:t>
            </a:r>
            <a:pPr indent="0" marL="0">
              <a:buNone/>
            </a:pPr>
            <a:r>
              <a:rPr lang="en-US" sz="1150" dirty="0">
                <a:solidFill>
                  <a:srgbClr val="22313F"/>
                </a:solidFill>
                <a:latin typeface="Calibri" pitchFamily="34" charset="0"/>
                <a:ea typeface="Calibri" pitchFamily="34" charset="-122"/>
                <a:cs typeface="Calibri" pitchFamily="34" charset="-120"/>
              </a:rPr>
              <a:t>XᵀX must be invertible — fails with redundant / perfectly correlated features (use Ridge, next section, to fix this)</a:t>
            </a:r>
            <a:endParaRPr lang="en-US" sz="1150" dirty="0"/>
          </a:p>
        </p:txBody>
      </p:sp>
      <p:sp>
        <p:nvSpPr>
          <p:cNvPr id="12" name="Shape 9"/>
          <p:cNvSpPr/>
          <p:nvPr/>
        </p:nvSpPr>
        <p:spPr>
          <a:xfrm>
            <a:off x="7178040" y="1920240"/>
            <a:ext cx="4480560" cy="4297680"/>
          </a:xfrm>
          <a:prstGeom prst="roundRect">
            <a:avLst>
              <a:gd name="adj" fmla="val 1702"/>
            </a:avLst>
          </a:prstGeom>
          <a:solidFill>
            <a:srgbClr val="EFF4F8"/>
          </a:solidFill>
          <a:ln w="12700">
            <a:solidFill>
              <a:srgbClr val="D9E3EC"/>
            </a:solidFill>
            <a:prstDash val="solid"/>
          </a:ln>
        </p:spPr>
      </p:sp>
      <p:sp>
        <p:nvSpPr>
          <p:cNvPr id="13" name="Text 10"/>
          <p:cNvSpPr/>
          <p:nvPr/>
        </p:nvSpPr>
        <p:spPr>
          <a:xfrm>
            <a:off x="7406640" y="2103120"/>
            <a:ext cx="4023360" cy="457200"/>
          </a:xfrm>
          <a:prstGeom prst="rect">
            <a:avLst/>
          </a:prstGeom>
          <a:noFill/>
          <a:ln/>
        </p:spPr>
        <p:txBody>
          <a:bodyPr wrap="square" rtlCol="0" anchor="ctr"/>
          <a:lstStyle/>
          <a:p>
            <a:pPr indent="0" marL="0">
              <a:buNone/>
            </a:pPr>
            <a:r>
              <a:rPr lang="en-US" sz="1400" b="1" dirty="0">
                <a:solidFill>
                  <a:srgbClr val="10375C"/>
                </a:solidFill>
                <a:latin typeface="Cambria" pitchFamily="34" charset="0"/>
                <a:ea typeface="Cambria" pitchFamily="34" charset="-122"/>
                <a:cs typeface="Cambria" pitchFamily="34" charset="-120"/>
              </a:rPr>
              <a:t>Normal Equation  vs  Gradient Descent</a:t>
            </a:r>
            <a:endParaRPr lang="en-US" sz="1400" dirty="0"/>
          </a:p>
        </p:txBody>
      </p:sp>
      <p:sp>
        <p:nvSpPr>
          <p:cNvPr id="14" name="Text 11"/>
          <p:cNvSpPr/>
          <p:nvPr/>
        </p:nvSpPr>
        <p:spPr>
          <a:xfrm>
            <a:off x="7406640" y="2651760"/>
            <a:ext cx="4023360" cy="320040"/>
          </a:xfrm>
          <a:prstGeom prst="rect">
            <a:avLst/>
          </a:prstGeom>
          <a:noFill/>
          <a:ln/>
        </p:spPr>
        <p:txBody>
          <a:bodyPr wrap="square" rtlCol="0" anchor="ctr"/>
          <a:lstStyle/>
          <a:p>
            <a:pPr indent="0" marL="0">
              <a:buNone/>
            </a:pPr>
            <a:r>
              <a:rPr lang="en-US" sz="1080" b="1" dirty="0">
                <a:solidFill>
                  <a:srgbClr val="1C7293"/>
                </a:solidFill>
                <a:latin typeface="Calibri" pitchFamily="34" charset="0"/>
                <a:ea typeface="Calibri" pitchFamily="34" charset="-122"/>
                <a:cs typeface="Calibri" pitchFamily="34" charset="-120"/>
              </a:rPr>
              <a:t>✓ No learning rate α to tune</a:t>
            </a:r>
            <a:endParaRPr lang="en-US" sz="1080" dirty="0"/>
          </a:p>
        </p:txBody>
      </p:sp>
      <p:sp>
        <p:nvSpPr>
          <p:cNvPr id="15" name="Text 12"/>
          <p:cNvSpPr/>
          <p:nvPr/>
        </p:nvSpPr>
        <p:spPr>
          <a:xfrm>
            <a:off x="7406640" y="2980944"/>
            <a:ext cx="4023360" cy="320040"/>
          </a:xfrm>
          <a:prstGeom prst="rect">
            <a:avLst/>
          </a:prstGeom>
          <a:noFill/>
          <a:ln/>
        </p:spPr>
        <p:txBody>
          <a:bodyPr wrap="square" rtlCol="0" anchor="ctr"/>
          <a:lstStyle/>
          <a:p>
            <a:pPr indent="0" marL="0">
              <a:buNone/>
            </a:pPr>
            <a:r>
              <a:rPr lang="en-US" sz="1050" dirty="0">
                <a:solidFill>
                  <a:srgbClr val="8A97A5"/>
                </a:solidFill>
                <a:latin typeface="Calibri" pitchFamily="34" charset="0"/>
                <a:ea typeface="Calibri" pitchFamily="34" charset="-122"/>
                <a:cs typeface="Calibri" pitchFamily="34" charset="-120"/>
              </a:rPr>
              <a:t>→ Requires choosing α</a:t>
            </a:r>
            <a:endParaRPr lang="en-US" sz="1050" dirty="0"/>
          </a:p>
        </p:txBody>
      </p:sp>
      <p:sp>
        <p:nvSpPr>
          <p:cNvPr id="16" name="Text 13"/>
          <p:cNvSpPr/>
          <p:nvPr/>
        </p:nvSpPr>
        <p:spPr>
          <a:xfrm>
            <a:off x="7406640" y="3429000"/>
            <a:ext cx="4023360" cy="320040"/>
          </a:xfrm>
          <a:prstGeom prst="rect">
            <a:avLst/>
          </a:prstGeom>
          <a:noFill/>
          <a:ln/>
        </p:spPr>
        <p:txBody>
          <a:bodyPr wrap="square" rtlCol="0" anchor="ctr"/>
          <a:lstStyle/>
          <a:p>
            <a:pPr indent="0" marL="0">
              <a:buNone/>
            </a:pPr>
            <a:r>
              <a:rPr lang="en-US" sz="1080" b="1" dirty="0">
                <a:solidFill>
                  <a:srgbClr val="1C7293"/>
                </a:solidFill>
                <a:latin typeface="Calibri" pitchFamily="34" charset="0"/>
                <a:ea typeface="Calibri" pitchFamily="34" charset="-122"/>
                <a:cs typeface="Calibri" pitchFamily="34" charset="-120"/>
              </a:rPr>
              <a:t>✓ No iteration needed</a:t>
            </a:r>
            <a:endParaRPr lang="en-US" sz="1080" dirty="0"/>
          </a:p>
        </p:txBody>
      </p:sp>
      <p:sp>
        <p:nvSpPr>
          <p:cNvPr id="17" name="Text 14"/>
          <p:cNvSpPr/>
          <p:nvPr/>
        </p:nvSpPr>
        <p:spPr>
          <a:xfrm>
            <a:off x="7406640" y="3758184"/>
            <a:ext cx="4023360" cy="320040"/>
          </a:xfrm>
          <a:prstGeom prst="rect">
            <a:avLst/>
          </a:prstGeom>
          <a:noFill/>
          <a:ln/>
        </p:spPr>
        <p:txBody>
          <a:bodyPr wrap="square" rtlCol="0" anchor="ctr"/>
          <a:lstStyle/>
          <a:p>
            <a:pPr indent="0" marL="0">
              <a:buNone/>
            </a:pPr>
            <a:r>
              <a:rPr lang="en-US" sz="1050" dirty="0">
                <a:solidFill>
                  <a:srgbClr val="8A97A5"/>
                </a:solidFill>
                <a:latin typeface="Calibri" pitchFamily="34" charset="0"/>
                <a:ea typeface="Calibri" pitchFamily="34" charset="-122"/>
                <a:cs typeface="Calibri" pitchFamily="34" charset="-120"/>
              </a:rPr>
              <a:t>→ Needs many iterations</a:t>
            </a:r>
            <a:endParaRPr lang="en-US" sz="1050" dirty="0"/>
          </a:p>
        </p:txBody>
      </p:sp>
      <p:sp>
        <p:nvSpPr>
          <p:cNvPr id="18" name="Text 15"/>
          <p:cNvSpPr/>
          <p:nvPr/>
        </p:nvSpPr>
        <p:spPr>
          <a:xfrm>
            <a:off x="7406640" y="4206240"/>
            <a:ext cx="4023360" cy="320040"/>
          </a:xfrm>
          <a:prstGeom prst="rect">
            <a:avLst/>
          </a:prstGeom>
          <a:noFill/>
          <a:ln/>
        </p:spPr>
        <p:txBody>
          <a:bodyPr wrap="square" rtlCol="0" anchor="ctr"/>
          <a:lstStyle/>
          <a:p>
            <a:pPr indent="0" marL="0">
              <a:buNone/>
            </a:pPr>
            <a:r>
              <a:rPr lang="en-US" sz="1080" b="1" dirty="0">
                <a:solidFill>
                  <a:srgbClr val="1C7293"/>
                </a:solidFill>
                <a:latin typeface="Calibri" pitchFamily="34" charset="0"/>
                <a:ea typeface="Calibri" pitchFamily="34" charset="-122"/>
                <a:cs typeface="Calibri" pitchFamily="34" charset="-120"/>
              </a:rPr>
              <a:t>✓ Slow / infeasible for large n</a:t>
            </a:r>
            <a:endParaRPr lang="en-US" sz="1080" dirty="0"/>
          </a:p>
        </p:txBody>
      </p:sp>
      <p:sp>
        <p:nvSpPr>
          <p:cNvPr id="19" name="Text 16"/>
          <p:cNvSpPr/>
          <p:nvPr/>
        </p:nvSpPr>
        <p:spPr>
          <a:xfrm>
            <a:off x="7406640" y="4535424"/>
            <a:ext cx="4023360" cy="320040"/>
          </a:xfrm>
          <a:prstGeom prst="rect">
            <a:avLst/>
          </a:prstGeom>
          <a:noFill/>
          <a:ln/>
        </p:spPr>
        <p:txBody>
          <a:bodyPr wrap="square" rtlCol="0" anchor="ctr"/>
          <a:lstStyle/>
          <a:p>
            <a:pPr indent="0" marL="0">
              <a:buNone/>
            </a:pPr>
            <a:r>
              <a:rPr lang="en-US" sz="1050" dirty="0">
                <a:solidFill>
                  <a:srgbClr val="8A97A5"/>
                </a:solidFill>
                <a:latin typeface="Calibri" pitchFamily="34" charset="0"/>
                <a:ea typeface="Calibri" pitchFamily="34" charset="-122"/>
                <a:cs typeface="Calibri" pitchFamily="34" charset="-120"/>
              </a:rPr>
              <a:t>→ Scales well to large n</a:t>
            </a:r>
            <a:endParaRPr lang="en-US" sz="1050" dirty="0"/>
          </a:p>
        </p:txBody>
      </p:sp>
      <p:sp>
        <p:nvSpPr>
          <p:cNvPr id="20" name="Text 17"/>
          <p:cNvSpPr/>
          <p:nvPr/>
        </p:nvSpPr>
        <p:spPr>
          <a:xfrm>
            <a:off x="7406640" y="4983480"/>
            <a:ext cx="4023360" cy="320040"/>
          </a:xfrm>
          <a:prstGeom prst="rect">
            <a:avLst/>
          </a:prstGeom>
          <a:noFill/>
          <a:ln/>
        </p:spPr>
        <p:txBody>
          <a:bodyPr wrap="square" rtlCol="0" anchor="ctr"/>
          <a:lstStyle/>
          <a:p>
            <a:pPr indent="0" marL="0">
              <a:buNone/>
            </a:pPr>
            <a:r>
              <a:rPr lang="en-US" sz="1080" b="1" dirty="0">
                <a:solidFill>
                  <a:srgbClr val="1C7293"/>
                </a:solidFill>
                <a:latin typeface="Calibri" pitchFamily="34" charset="0"/>
                <a:ea typeface="Calibri" pitchFamily="34" charset="-122"/>
                <a:cs typeface="Calibri" pitchFamily="34" charset="-120"/>
              </a:rPr>
              <a:t>✓ Exact solution</a:t>
            </a:r>
            <a:endParaRPr lang="en-US" sz="1080" dirty="0"/>
          </a:p>
        </p:txBody>
      </p:sp>
      <p:sp>
        <p:nvSpPr>
          <p:cNvPr id="21" name="Text 18"/>
          <p:cNvSpPr/>
          <p:nvPr/>
        </p:nvSpPr>
        <p:spPr>
          <a:xfrm>
            <a:off x="7406640" y="5312664"/>
            <a:ext cx="4023360" cy="320040"/>
          </a:xfrm>
          <a:prstGeom prst="rect">
            <a:avLst/>
          </a:prstGeom>
          <a:noFill/>
          <a:ln/>
        </p:spPr>
        <p:txBody>
          <a:bodyPr wrap="square" rtlCol="0" anchor="ctr"/>
          <a:lstStyle/>
          <a:p>
            <a:pPr indent="0" marL="0">
              <a:buNone/>
            </a:pPr>
            <a:r>
              <a:rPr lang="en-US" sz="1050" dirty="0">
                <a:solidFill>
                  <a:srgbClr val="8A97A5"/>
                </a:solidFill>
                <a:latin typeface="Calibri" pitchFamily="34" charset="0"/>
                <a:ea typeface="Calibri" pitchFamily="34" charset="-122"/>
                <a:cs typeface="Calibri" pitchFamily="34" charset="-120"/>
              </a:rPr>
              <a:t>→ Approximate, converges to optimum</a:t>
            </a:r>
            <a:endParaRPr lang="en-US" sz="1050" dirty="0"/>
          </a:p>
        </p:txBody>
      </p:sp>
      <p:sp>
        <p:nvSpPr>
          <p:cNvPr id="22" name="Text 19"/>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8A97A5"/>
                </a:solidFill>
                <a:latin typeface="Calibri" pitchFamily="34" charset="0"/>
                <a:ea typeface="Calibri" pitchFamily="34" charset="-122"/>
                <a:cs typeface="Calibri" pitchFamily="34" charset="-120"/>
              </a:rPr>
              <a:t>Linear &amp; Logistic Regression</a:t>
            </a:r>
            <a:endParaRPr lang="en-US" sz="900" dirty="0"/>
          </a:p>
        </p:txBody>
      </p:sp>
      <p:sp>
        <p:nvSpPr>
          <p:cNvPr id="23" name="Text 20"/>
          <p:cNvSpPr/>
          <p:nvPr/>
        </p:nvSpPr>
        <p:spPr>
          <a:xfrm>
            <a:off x="11368735" y="6547104"/>
            <a:ext cx="457200" cy="256032"/>
          </a:xfrm>
          <a:prstGeom prst="rect">
            <a:avLst/>
          </a:prstGeom>
          <a:noFill/>
          <a:ln/>
        </p:spPr>
        <p:txBody>
          <a:bodyPr wrap="square"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1.8  ITERATIVE OPTIMIZATION</a:t>
            </a:r>
            <a:endParaRPr lang="en-US" sz="1300" dirty="0"/>
          </a:p>
        </p:txBody>
      </p:sp>
      <p:sp>
        <p:nvSpPr>
          <p:cNvPr id="3" name="Text 1"/>
          <p:cNvSpPr/>
          <p:nvPr/>
        </p:nvSpPr>
        <p:spPr>
          <a:xfrm>
            <a:off x="548640" y="658368"/>
            <a:ext cx="10607040" cy="777240"/>
          </a:xfrm>
          <a:prstGeom prst="rect">
            <a:avLst/>
          </a:prstGeom>
          <a:noFill/>
          <a:ln/>
        </p:spPr>
        <p:txBody>
          <a:bodyPr wrap="square" rtlCol="0" anchor="ctr"/>
          <a:lstStyle/>
          <a:p>
            <a:pPr indent="0" marL="0">
              <a:buNone/>
            </a:pPr>
            <a:r>
              <a:rPr lang="en-US" sz="3000" b="1" dirty="0">
                <a:solidFill>
                  <a:srgbClr val="10375C"/>
                </a:solidFill>
                <a:latin typeface="Cambria" pitchFamily="34" charset="0"/>
                <a:ea typeface="Cambria" pitchFamily="34" charset="-122"/>
                <a:cs typeface="Cambria" pitchFamily="34" charset="-120"/>
              </a:rPr>
              <a:t>Gradient Descent — Update Rule</a:t>
            </a:r>
            <a:endParaRPr lang="en-US" sz="3000" dirty="0"/>
          </a:p>
        </p:txBody>
      </p:sp>
      <p:sp>
        <p:nvSpPr>
          <p:cNvPr id="4" name="Text 2"/>
          <p:cNvSpPr/>
          <p:nvPr/>
        </p:nvSpPr>
        <p:spPr>
          <a:xfrm>
            <a:off x="548640" y="1417320"/>
            <a:ext cx="10698480" cy="365760"/>
          </a:xfrm>
          <a:prstGeom prst="rect">
            <a:avLst/>
          </a:prstGeom>
          <a:noFill/>
          <a:ln/>
        </p:spPr>
        <p:txBody>
          <a:bodyPr wrap="square" rtlCol="0" anchor="ctr"/>
          <a:lstStyle/>
          <a:p>
            <a:pPr indent="0" marL="0">
              <a:buNone/>
            </a:pPr>
            <a:r>
              <a:rPr lang="en-US" sz="1300" dirty="0">
                <a:solidFill>
                  <a:srgbClr val="22313F"/>
                </a:solidFill>
                <a:latin typeface="Calibri" pitchFamily="34" charset="0"/>
                <a:ea typeface="Calibri" pitchFamily="34" charset="-122"/>
                <a:cs typeface="Calibri" pitchFamily="34" charset="-120"/>
              </a:rPr>
              <a:t>Taking the partial derivative of J(θ) with respect to a single parameter θⱼ:</a:t>
            </a:r>
            <a:endParaRPr lang="en-US" sz="1300" dirty="0"/>
          </a:p>
        </p:txBody>
      </p:sp>
      <p:sp>
        <p:nvSpPr>
          <p:cNvPr id="5" name="Shape 3"/>
          <p:cNvSpPr/>
          <p:nvPr/>
        </p:nvSpPr>
        <p:spPr>
          <a:xfrm>
            <a:off x="548640" y="1828800"/>
            <a:ext cx="11064240" cy="822960"/>
          </a:xfrm>
          <a:prstGeom prst="roundRect">
            <a:avLst>
              <a:gd name="adj" fmla="val 8889"/>
            </a:avLst>
          </a:prstGeom>
          <a:solidFill>
            <a:srgbClr val="EFF4F8"/>
          </a:solidFill>
          <a:ln w="12700">
            <a:solidFill>
              <a:srgbClr val="D9E3EC"/>
            </a:solidFill>
            <a:prstDash val="solid"/>
          </a:ln>
        </p:spPr>
      </p:sp>
      <p:pic>
        <p:nvPicPr>
          <p:cNvPr id="6" name="Image 0" descr="/home/claude/work/equations/lr_partial_deriv.png">    </p:cNvPr>
          <p:cNvPicPr>
            <a:picLocks noChangeAspect="1"/>
          </p:cNvPicPr>
          <p:nvPr/>
        </p:nvPicPr>
        <p:blipFill>
          <a:blip r:embed="rId1"/>
          <a:stretch>
            <a:fillRect/>
          </a:stretch>
        </p:blipFill>
        <p:spPr>
          <a:xfrm>
            <a:off x="4657444" y="1938528"/>
            <a:ext cx="2846632" cy="603504"/>
          </a:xfrm>
          <a:prstGeom prst="rect">
            <a:avLst/>
          </a:prstGeom>
        </p:spPr>
      </p:pic>
      <p:sp>
        <p:nvSpPr>
          <p:cNvPr id="7" name="Text 4"/>
          <p:cNvSpPr/>
          <p:nvPr/>
        </p:nvSpPr>
        <p:spPr>
          <a:xfrm>
            <a:off x="548640" y="2788920"/>
            <a:ext cx="10698480" cy="457200"/>
          </a:xfrm>
          <a:prstGeom prst="rect">
            <a:avLst/>
          </a:prstGeom>
          <a:noFill/>
          <a:ln/>
        </p:spPr>
        <p:txBody>
          <a:bodyPr wrap="square" rtlCol="0" anchor="ctr"/>
          <a:lstStyle/>
          <a:p>
            <a:pPr indent="0" marL="0">
              <a:buNone/>
            </a:pPr>
            <a:r>
              <a:rPr lang="en-US" sz="1300" dirty="0">
                <a:solidFill>
                  <a:srgbClr val="22313F"/>
                </a:solidFill>
                <a:latin typeface="Calibri" pitchFamily="34" charset="0"/>
                <a:ea typeface="Calibri" pitchFamily="34" charset="-122"/>
                <a:cs typeface="Calibri" pitchFamily="34" charset="-120"/>
              </a:rPr>
              <a:t>Gradient descent repeatedly moves θⱼ a small step opposite to the gradient (the direction of steepest ascent):</a:t>
            </a:r>
            <a:endParaRPr lang="en-US" sz="1300" dirty="0"/>
          </a:p>
        </p:txBody>
      </p:sp>
      <p:sp>
        <p:nvSpPr>
          <p:cNvPr id="8" name="Shape 5"/>
          <p:cNvSpPr/>
          <p:nvPr/>
        </p:nvSpPr>
        <p:spPr>
          <a:xfrm>
            <a:off x="548640" y="3246120"/>
            <a:ext cx="11064240" cy="822960"/>
          </a:xfrm>
          <a:prstGeom prst="roundRect">
            <a:avLst>
              <a:gd name="adj" fmla="val 8889"/>
            </a:avLst>
          </a:prstGeom>
          <a:solidFill>
            <a:srgbClr val="10375C"/>
          </a:solidFill>
          <a:ln w="12700">
            <a:solidFill>
              <a:srgbClr val="10375C"/>
            </a:solidFill>
            <a:prstDash val="solid"/>
          </a:ln>
        </p:spPr>
      </p:sp>
      <p:pic>
        <p:nvPicPr>
          <p:cNvPr id="9" name="Image 1" descr="/home/claude/work/equations/lr_gd_update_white.png">    </p:cNvPr>
          <p:cNvPicPr>
            <a:picLocks noChangeAspect="1"/>
          </p:cNvPicPr>
          <p:nvPr/>
        </p:nvPicPr>
        <p:blipFill>
          <a:blip r:embed="rId2"/>
          <a:stretch>
            <a:fillRect/>
          </a:stretch>
        </p:blipFill>
        <p:spPr>
          <a:xfrm>
            <a:off x="4480536" y="3355848"/>
            <a:ext cx="3200449" cy="603504"/>
          </a:xfrm>
          <a:prstGeom prst="rect">
            <a:avLst/>
          </a:prstGeom>
        </p:spPr>
      </p:pic>
      <p:sp>
        <p:nvSpPr>
          <p:cNvPr id="10" name="Shape 6"/>
          <p:cNvSpPr/>
          <p:nvPr/>
        </p:nvSpPr>
        <p:spPr>
          <a:xfrm>
            <a:off x="548640" y="4251960"/>
            <a:ext cx="5349240" cy="1920240"/>
          </a:xfrm>
          <a:prstGeom prst="roundRect">
            <a:avLst>
              <a:gd name="adj" fmla="val 3810"/>
            </a:avLst>
          </a:prstGeom>
          <a:solidFill>
            <a:srgbClr val="FDF3E3"/>
          </a:solidFill>
          <a:ln w="12700">
            <a:solidFill>
              <a:srgbClr val="F0D9A8"/>
            </a:solidFill>
            <a:prstDash val="solid"/>
          </a:ln>
        </p:spPr>
      </p:sp>
      <p:sp>
        <p:nvSpPr>
          <p:cNvPr id="11" name="Text 7"/>
          <p:cNvSpPr/>
          <p:nvPr/>
        </p:nvSpPr>
        <p:spPr>
          <a:xfrm>
            <a:off x="777240" y="4389120"/>
            <a:ext cx="4846320" cy="292608"/>
          </a:xfrm>
          <a:prstGeom prst="rect">
            <a:avLst/>
          </a:prstGeom>
          <a:noFill/>
          <a:ln/>
        </p:spPr>
        <p:txBody>
          <a:bodyPr wrap="square" rtlCol="0" anchor="ctr"/>
          <a:lstStyle/>
          <a:p>
            <a:pPr indent="0" marL="0">
              <a:buNone/>
            </a:pPr>
            <a:r>
              <a:rPr lang="en-US" sz="1200" b="1" dirty="0">
                <a:solidFill>
                  <a:srgbClr val="8A5A00"/>
                </a:solidFill>
                <a:latin typeface="Calibri" pitchFamily="34" charset="0"/>
                <a:ea typeface="Calibri" pitchFamily="34" charset="-122"/>
                <a:cs typeface="Calibri" pitchFamily="34" charset="-120"/>
              </a:rPr>
              <a:t>α — the learning rate</a:t>
            </a:r>
            <a:endParaRPr lang="en-US" sz="1200" dirty="0"/>
          </a:p>
        </p:txBody>
      </p:sp>
      <p:sp>
        <p:nvSpPr>
          <p:cNvPr id="12" name="Text 8"/>
          <p:cNvSpPr/>
          <p:nvPr/>
        </p:nvSpPr>
        <p:spPr>
          <a:xfrm>
            <a:off x="777240" y="4709160"/>
            <a:ext cx="4846320" cy="1280160"/>
          </a:xfrm>
          <a:prstGeom prst="rect">
            <a:avLst/>
          </a:prstGeom>
          <a:noFill/>
          <a:ln/>
        </p:spPr>
        <p:txBody>
          <a:bodyPr wrap="square" rtlCol="0" anchor="ctr"/>
          <a:lstStyle/>
          <a:p>
            <a:pPr indent="0" marL="0">
              <a:buNone/>
            </a:pPr>
            <a:r>
              <a:rPr lang="en-US" sz="1150" dirty="0">
                <a:solidFill>
                  <a:srgbClr val="22313F"/>
                </a:solidFill>
                <a:latin typeface="Calibri" pitchFamily="34" charset="0"/>
                <a:ea typeface="Calibri" pitchFamily="34" charset="-122"/>
                <a:cs typeface="Calibri" pitchFamily="34" charset="-120"/>
              </a:rPr>
              <a:t>Controls step size. Too small → slow convergence. Too large → overshoot or diverge. See the learning-rate chart in section 1.12.</a:t>
            </a:r>
            <a:endParaRPr lang="en-US" sz="1150" dirty="0"/>
          </a:p>
        </p:txBody>
      </p:sp>
      <p:sp>
        <p:nvSpPr>
          <p:cNvPr id="13" name="Shape 9"/>
          <p:cNvSpPr/>
          <p:nvPr/>
        </p:nvSpPr>
        <p:spPr>
          <a:xfrm>
            <a:off x="6080760" y="4251960"/>
            <a:ext cx="5532120" cy="1920240"/>
          </a:xfrm>
          <a:prstGeom prst="roundRect">
            <a:avLst>
              <a:gd name="adj" fmla="val 3810"/>
            </a:avLst>
          </a:prstGeom>
          <a:solidFill>
            <a:srgbClr val="EFF4F8"/>
          </a:solidFill>
          <a:ln w="12700">
            <a:solidFill>
              <a:srgbClr val="D9E3EC"/>
            </a:solidFill>
            <a:prstDash val="solid"/>
          </a:ln>
        </p:spPr>
      </p:sp>
      <p:sp>
        <p:nvSpPr>
          <p:cNvPr id="14" name="Text 10"/>
          <p:cNvSpPr/>
          <p:nvPr/>
        </p:nvSpPr>
        <p:spPr>
          <a:xfrm>
            <a:off x="6309360" y="4389120"/>
            <a:ext cx="5120640" cy="292608"/>
          </a:xfrm>
          <a:prstGeom prst="rect">
            <a:avLst/>
          </a:prstGeom>
          <a:noFill/>
          <a:ln/>
        </p:spPr>
        <p:txBody>
          <a:bodyPr wrap="square" rtlCol="0" anchor="ctr"/>
          <a:lstStyle/>
          <a:p>
            <a:pPr indent="0" marL="0">
              <a:buNone/>
            </a:pPr>
            <a:r>
              <a:rPr lang="en-US" sz="1200" b="1" dirty="0">
                <a:solidFill>
                  <a:srgbClr val="10375C"/>
                </a:solidFill>
                <a:latin typeface="Calibri" pitchFamily="34" charset="0"/>
                <a:ea typeface="Calibri" pitchFamily="34" charset="-122"/>
                <a:cs typeface="Calibri" pitchFamily="34" charset="-120"/>
              </a:rPr>
              <a:t>Simultaneous update</a:t>
            </a:r>
            <a:endParaRPr lang="en-US" sz="1200" dirty="0"/>
          </a:p>
        </p:txBody>
      </p:sp>
      <p:sp>
        <p:nvSpPr>
          <p:cNvPr id="15" name="Text 11"/>
          <p:cNvSpPr/>
          <p:nvPr/>
        </p:nvSpPr>
        <p:spPr>
          <a:xfrm>
            <a:off x="6309360" y="4709160"/>
            <a:ext cx="5120640" cy="1280160"/>
          </a:xfrm>
          <a:prstGeom prst="rect">
            <a:avLst/>
          </a:prstGeom>
          <a:noFill/>
          <a:ln/>
        </p:spPr>
        <p:txBody>
          <a:bodyPr wrap="square" rtlCol="0" anchor="ctr"/>
          <a:lstStyle/>
          <a:p>
            <a:pPr indent="0" marL="0">
              <a:buNone/>
            </a:pPr>
            <a:r>
              <a:rPr lang="en-US" sz="1150" dirty="0">
                <a:solidFill>
                  <a:srgbClr val="22313F"/>
                </a:solidFill>
                <a:latin typeface="Calibri" pitchFamily="34" charset="0"/>
                <a:ea typeface="Calibri" pitchFamily="34" charset="-122"/>
                <a:cs typeface="Calibri" pitchFamily="34" charset="-120"/>
              </a:rPr>
              <a:t>All θⱼ must be updated together using the OLD θ values — not sequentially — otherwise later partial derivatives use already-updated parameters and the math breaks.</a:t>
            </a:r>
            <a:endParaRPr lang="en-US" sz="1150" dirty="0"/>
          </a:p>
        </p:txBody>
      </p:sp>
      <p:sp>
        <p:nvSpPr>
          <p:cNvPr id="16" name="Text 12"/>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8A97A5"/>
                </a:solidFill>
                <a:latin typeface="Calibri" pitchFamily="34" charset="0"/>
                <a:ea typeface="Calibri" pitchFamily="34" charset="-122"/>
                <a:cs typeface="Calibri" pitchFamily="34" charset="-120"/>
              </a:rPr>
              <a:t>Linear &amp; Logistic Regression</a:t>
            </a:r>
            <a:endParaRPr lang="en-US" sz="900" dirty="0"/>
          </a:p>
        </p:txBody>
      </p:sp>
      <p:sp>
        <p:nvSpPr>
          <p:cNvPr id="17" name="Text 13"/>
          <p:cNvSpPr/>
          <p:nvPr/>
        </p:nvSpPr>
        <p:spPr>
          <a:xfrm>
            <a:off x="11368735" y="6547104"/>
            <a:ext cx="457200" cy="256032"/>
          </a:xfrm>
          <a:prstGeom prst="rect">
            <a:avLst/>
          </a:prstGeom>
          <a:noFill/>
          <a:ln/>
        </p:spPr>
        <p:txBody>
          <a:bodyPr wrap="square"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1.9  CONVERGENCE THEORY — PART I</a:t>
            </a:r>
            <a:endParaRPr lang="en-US" sz="1300" dirty="0"/>
          </a:p>
        </p:txBody>
      </p:sp>
      <p:sp>
        <p:nvSpPr>
          <p:cNvPr id="3" name="Text 1"/>
          <p:cNvSpPr/>
          <p:nvPr/>
        </p:nvSpPr>
        <p:spPr>
          <a:xfrm>
            <a:off x="548640" y="658368"/>
            <a:ext cx="10607040" cy="777240"/>
          </a:xfrm>
          <a:prstGeom prst="rect">
            <a:avLst/>
          </a:prstGeom>
          <a:noFill/>
          <a:ln/>
        </p:spPr>
        <p:txBody>
          <a:bodyPr wrap="square" rtlCol="0" anchor="ctr"/>
          <a:lstStyle/>
          <a:p>
            <a:pPr indent="0" marL="0">
              <a:buNone/>
            </a:pPr>
            <a:r>
              <a:rPr lang="en-US" sz="3000" b="1" dirty="0">
                <a:solidFill>
                  <a:srgbClr val="10375C"/>
                </a:solidFill>
                <a:latin typeface="Cambria" pitchFamily="34" charset="0"/>
                <a:ea typeface="Cambria" pitchFamily="34" charset="-122"/>
                <a:cs typeface="Cambria" pitchFamily="34" charset="-120"/>
              </a:rPr>
              <a:t>Why a Stationary Point Is THE Global Minimum</a:t>
            </a:r>
            <a:endParaRPr lang="en-US" sz="3000" dirty="0"/>
          </a:p>
        </p:txBody>
      </p:sp>
      <p:sp>
        <p:nvSpPr>
          <p:cNvPr id="4" name="Text 2"/>
          <p:cNvSpPr/>
          <p:nvPr/>
        </p:nvSpPr>
        <p:spPr>
          <a:xfrm>
            <a:off x="548640" y="1417320"/>
            <a:ext cx="5669280" cy="502920"/>
          </a:xfrm>
          <a:prstGeom prst="rect">
            <a:avLst/>
          </a:prstGeom>
          <a:noFill/>
          <a:ln/>
        </p:spPr>
        <p:txBody>
          <a:bodyPr wrap="square" rtlCol="0" anchor="ctr"/>
          <a:lstStyle/>
          <a:p>
            <a:pPr indent="0" marL="0">
              <a:buNone/>
            </a:pPr>
            <a:r>
              <a:rPr lang="en-US" sz="1250" dirty="0">
                <a:solidFill>
                  <a:srgbClr val="22313F"/>
                </a:solidFill>
                <a:latin typeface="Calibri" pitchFamily="34" charset="0"/>
                <a:ea typeface="Calibri" pitchFamily="34" charset="-122"/>
                <a:cs typeface="Calibri" pitchFamily="34" charset="-120"/>
              </a:rPr>
              <a:t>A convex function always lies ON OR ABOVE every one of its own tangent lines:</a:t>
            </a:r>
            <a:endParaRPr lang="en-US" sz="1250" dirty="0"/>
          </a:p>
        </p:txBody>
      </p:sp>
      <p:sp>
        <p:nvSpPr>
          <p:cNvPr id="5" name="Shape 3"/>
          <p:cNvSpPr/>
          <p:nvPr/>
        </p:nvSpPr>
        <p:spPr>
          <a:xfrm>
            <a:off x="548640" y="1965960"/>
            <a:ext cx="5669280" cy="777240"/>
          </a:xfrm>
          <a:prstGeom prst="roundRect">
            <a:avLst>
              <a:gd name="adj" fmla="val 9412"/>
            </a:avLst>
          </a:prstGeom>
          <a:solidFill>
            <a:srgbClr val="EFF4F8"/>
          </a:solidFill>
          <a:ln w="12700">
            <a:solidFill>
              <a:srgbClr val="D9E3EC"/>
            </a:solidFill>
            <a:prstDash val="solid"/>
          </a:ln>
        </p:spPr>
      </p:sp>
      <p:pic>
        <p:nvPicPr>
          <p:cNvPr id="6" name="Image 0" descr="/home/claude/work/equations/gd_convex_tangent.png">    </p:cNvPr>
          <p:cNvPicPr>
            <a:picLocks noChangeAspect="1"/>
          </p:cNvPicPr>
          <p:nvPr/>
        </p:nvPicPr>
        <p:blipFill>
          <a:blip r:embed="rId1"/>
          <a:stretch>
            <a:fillRect/>
          </a:stretch>
        </p:blipFill>
        <p:spPr>
          <a:xfrm>
            <a:off x="731520" y="2087447"/>
            <a:ext cx="5303520" cy="534267"/>
          </a:xfrm>
          <a:prstGeom prst="rect">
            <a:avLst/>
          </a:prstGeom>
        </p:spPr>
      </p:pic>
      <p:sp>
        <p:nvSpPr>
          <p:cNvPr id="7" name="Text 4"/>
          <p:cNvSpPr/>
          <p:nvPr/>
        </p:nvSpPr>
        <p:spPr>
          <a:xfrm>
            <a:off x="548640" y="2880360"/>
            <a:ext cx="5669280" cy="685800"/>
          </a:xfrm>
          <a:prstGeom prst="rect">
            <a:avLst/>
          </a:prstGeom>
          <a:noFill/>
          <a:ln/>
        </p:spPr>
        <p:txBody>
          <a:bodyPr wrap="square" rtlCol="0" anchor="ctr"/>
          <a:lstStyle/>
          <a:p>
            <a:pPr indent="0" marL="0">
              <a:buNone/>
            </a:pPr>
            <a:r>
              <a:rPr lang="en-US" sz="1200" dirty="0">
                <a:solidFill>
                  <a:srgbClr val="22313F"/>
                </a:solidFill>
                <a:latin typeface="Calibri" pitchFamily="34" charset="0"/>
                <a:ea typeface="Calibri" pitchFamily="34" charset="-122"/>
                <a:cs typeface="Calibri" pitchFamily="34" charset="-120"/>
              </a:rPr>
              <a:t>This single geometric fact is what makes convex optimization tractable. Setting the tangent's slope to zero at some point θ* gives:</a:t>
            </a:r>
            <a:endParaRPr lang="en-US" sz="1200" dirty="0"/>
          </a:p>
        </p:txBody>
      </p:sp>
      <p:sp>
        <p:nvSpPr>
          <p:cNvPr id="8" name="Shape 5"/>
          <p:cNvSpPr/>
          <p:nvPr/>
        </p:nvSpPr>
        <p:spPr>
          <a:xfrm>
            <a:off x="548640" y="3611880"/>
            <a:ext cx="5669280" cy="868680"/>
          </a:xfrm>
          <a:prstGeom prst="roundRect">
            <a:avLst>
              <a:gd name="adj" fmla="val 8421"/>
            </a:avLst>
          </a:prstGeom>
          <a:solidFill>
            <a:srgbClr val="10375C"/>
          </a:solidFill>
          <a:ln w="12700">
            <a:solidFill>
              <a:srgbClr val="10375C"/>
            </a:solidFill>
            <a:prstDash val="solid"/>
          </a:ln>
        </p:spPr>
      </p:sp>
      <p:pic>
        <p:nvPicPr>
          <p:cNvPr id="9" name="Image 1" descr="/home/claude/work/equations/gd_global_min_conclusion_white.png">    </p:cNvPr>
          <p:cNvPicPr>
            <a:picLocks noChangeAspect="1"/>
          </p:cNvPicPr>
          <p:nvPr/>
        </p:nvPicPr>
        <p:blipFill>
          <a:blip r:embed="rId2"/>
          <a:stretch>
            <a:fillRect/>
          </a:stretch>
        </p:blipFill>
        <p:spPr>
          <a:xfrm>
            <a:off x="731520" y="3898040"/>
            <a:ext cx="5303520" cy="296360"/>
          </a:xfrm>
          <a:prstGeom prst="rect">
            <a:avLst/>
          </a:prstGeom>
        </p:spPr>
      </p:pic>
      <p:sp>
        <p:nvSpPr>
          <p:cNvPr id="10" name="Shape 6"/>
          <p:cNvSpPr/>
          <p:nvPr/>
        </p:nvSpPr>
        <p:spPr>
          <a:xfrm>
            <a:off x="548640" y="4617720"/>
            <a:ext cx="5669280" cy="1783080"/>
          </a:xfrm>
          <a:prstGeom prst="roundRect">
            <a:avLst>
              <a:gd name="adj" fmla="val 4103"/>
            </a:avLst>
          </a:prstGeom>
          <a:solidFill>
            <a:srgbClr val="FDF3E3"/>
          </a:solidFill>
          <a:ln w="12700">
            <a:solidFill>
              <a:srgbClr val="F0D9A8"/>
            </a:solidFill>
            <a:prstDash val="solid"/>
          </a:ln>
        </p:spPr>
      </p:sp>
      <p:sp>
        <p:nvSpPr>
          <p:cNvPr id="11" name="Text 7"/>
          <p:cNvSpPr/>
          <p:nvPr/>
        </p:nvSpPr>
        <p:spPr>
          <a:xfrm>
            <a:off x="777240" y="4736592"/>
            <a:ext cx="5120640" cy="274320"/>
          </a:xfrm>
          <a:prstGeom prst="rect">
            <a:avLst/>
          </a:prstGeom>
          <a:noFill/>
          <a:ln/>
        </p:spPr>
        <p:txBody>
          <a:bodyPr wrap="square" rtlCol="0" anchor="ctr"/>
          <a:lstStyle/>
          <a:p>
            <a:pPr indent="0" marL="0">
              <a:buNone/>
            </a:pPr>
            <a:r>
              <a:rPr lang="en-US" sz="1200" b="1" dirty="0">
                <a:solidFill>
                  <a:srgbClr val="8A5A00"/>
                </a:solidFill>
                <a:latin typeface="Calibri" pitchFamily="34" charset="0"/>
                <a:ea typeface="Calibri" pitchFamily="34" charset="-122"/>
                <a:cs typeface="Calibri" pitchFamily="34" charset="-120"/>
              </a:rPr>
              <a:t>Why this matters</a:t>
            </a:r>
            <a:endParaRPr lang="en-US" sz="1200" dirty="0"/>
          </a:p>
        </p:txBody>
      </p:sp>
      <p:sp>
        <p:nvSpPr>
          <p:cNvPr id="12" name="Text 8"/>
          <p:cNvSpPr/>
          <p:nvPr/>
        </p:nvSpPr>
        <p:spPr>
          <a:xfrm>
            <a:off x="777240" y="5029200"/>
            <a:ext cx="5212080" cy="1280160"/>
          </a:xfrm>
          <a:prstGeom prst="rect">
            <a:avLst/>
          </a:prstGeom>
          <a:noFill/>
          <a:ln/>
        </p:spPr>
        <p:txBody>
          <a:bodyPr wrap="square" rtlCol="0" anchor="ctr"/>
          <a:lstStyle/>
          <a:p>
            <a:pPr indent="0" marL="0">
              <a:buNone/>
            </a:pPr>
            <a:r>
              <a:rPr lang="en-US" sz="1100" dirty="0">
                <a:solidFill>
                  <a:srgbClr val="22313F"/>
                </a:solidFill>
                <a:latin typeface="Calibri" pitchFamily="34" charset="0"/>
                <a:ea typeface="Calibri" pitchFamily="34" charset="-122"/>
                <a:cs typeface="Calibri" pitchFamily="34" charset="-120"/>
              </a:rPr>
              <a:t>For a NON-convex loss (e.g. a neural network's), a point where the gradient is zero could be a local minimum, saddle point, or plateau — nowhere near the best solution. For our convex MSE and cross-entropy costs, there's no such ambiguity: every stationary point is automatically the single best point in the entire parameter space.</a:t>
            </a:r>
            <a:endParaRPr lang="en-US" sz="1100" dirty="0"/>
          </a:p>
        </p:txBody>
      </p:sp>
      <p:pic>
        <p:nvPicPr>
          <p:cNvPr id="13" name="Image 2" descr="/home/claude/work/plots/convexity_tangent.png">    </p:cNvPr>
          <p:cNvPicPr>
            <a:picLocks noChangeAspect="1"/>
          </p:cNvPicPr>
          <p:nvPr/>
        </p:nvPicPr>
        <p:blipFill>
          <a:blip r:embed="rId3"/>
          <a:stretch>
            <a:fillRect/>
          </a:stretch>
        </p:blipFill>
        <p:spPr>
          <a:xfrm>
            <a:off x="6812280" y="1923501"/>
            <a:ext cx="5212080" cy="3742518"/>
          </a:xfrm>
          <a:prstGeom prst="rect">
            <a:avLst/>
          </a:prstGeom>
        </p:spPr>
      </p:pic>
      <p:sp>
        <p:nvSpPr>
          <p:cNvPr id="14" name="Text 9"/>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8A97A5"/>
                </a:solidFill>
                <a:latin typeface="Calibri" pitchFamily="34" charset="0"/>
                <a:ea typeface="Calibri" pitchFamily="34" charset="-122"/>
                <a:cs typeface="Calibri" pitchFamily="34" charset="-120"/>
              </a:rPr>
              <a:t>Linear &amp; Logistic Regression</a:t>
            </a:r>
            <a:endParaRPr lang="en-US" sz="900" dirty="0"/>
          </a:p>
        </p:txBody>
      </p:sp>
      <p:sp>
        <p:nvSpPr>
          <p:cNvPr id="15" name="Text 10"/>
          <p:cNvSpPr/>
          <p:nvPr/>
        </p:nvSpPr>
        <p:spPr>
          <a:xfrm>
            <a:off x="11368735" y="6547104"/>
            <a:ext cx="457200" cy="256032"/>
          </a:xfrm>
          <a:prstGeom prst="rect">
            <a:avLst/>
          </a:prstGeom>
          <a:noFill/>
          <a:ln/>
        </p:spPr>
        <p:txBody>
          <a:bodyPr wrap="square"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1.10  CONVERGENCE THEORY — PART II</a:t>
            </a:r>
            <a:endParaRPr lang="en-US" sz="1300" dirty="0"/>
          </a:p>
        </p:txBody>
      </p:sp>
      <p:sp>
        <p:nvSpPr>
          <p:cNvPr id="3" name="Text 1"/>
          <p:cNvSpPr/>
          <p:nvPr/>
        </p:nvSpPr>
        <p:spPr>
          <a:xfrm>
            <a:off x="548640" y="658368"/>
            <a:ext cx="10607040" cy="777240"/>
          </a:xfrm>
          <a:prstGeom prst="rect">
            <a:avLst/>
          </a:prstGeom>
          <a:noFill/>
          <a:ln/>
        </p:spPr>
        <p:txBody>
          <a:bodyPr wrap="square" rtlCol="0" anchor="ctr"/>
          <a:lstStyle/>
          <a:p>
            <a:pPr indent="0" marL="0">
              <a:buNone/>
            </a:pPr>
            <a:r>
              <a:rPr lang="en-US" sz="3000" b="1" dirty="0">
                <a:solidFill>
                  <a:srgbClr val="10375C"/>
                </a:solidFill>
                <a:latin typeface="Cambria" pitchFamily="34" charset="0"/>
                <a:ea typeface="Cambria" pitchFamily="34" charset="-122"/>
                <a:cs typeface="Cambria" pitchFamily="34" charset="-120"/>
              </a:rPr>
              <a:t>The Descent Lemma: Every Step Decreases the Cost</a:t>
            </a:r>
            <a:endParaRPr lang="en-US" sz="3000" dirty="0"/>
          </a:p>
        </p:txBody>
      </p:sp>
      <p:sp>
        <p:nvSpPr>
          <p:cNvPr id="4" name="Text 2"/>
          <p:cNvSpPr/>
          <p:nvPr/>
        </p:nvSpPr>
        <p:spPr>
          <a:xfrm>
            <a:off x="548640" y="1417320"/>
            <a:ext cx="10698480" cy="457200"/>
          </a:xfrm>
          <a:prstGeom prst="rect">
            <a:avLst/>
          </a:prstGeom>
          <a:noFill/>
          <a:ln/>
        </p:spPr>
        <p:txBody>
          <a:bodyPr wrap="square" rtlCol="0" anchor="ctr"/>
          <a:lstStyle/>
          <a:p>
            <a:pPr indent="0" marL="0">
              <a:buNone/>
            </a:pPr>
            <a:r>
              <a:rPr lang="en-US" sz="1250" dirty="0">
                <a:solidFill>
                  <a:srgbClr val="22313F"/>
                </a:solidFill>
                <a:latin typeface="Calibri" pitchFamily="34" charset="0"/>
                <a:ea typeface="Calibri" pitchFamily="34" charset="-122"/>
                <a:cs typeface="Calibri" pitchFamily="34" charset="-120"/>
              </a:rPr>
              <a:t>Assume ∇J doesn't change arbitrarily fast — formally, ∇J is L-Lipschitz. This gives a quadratic UPPER BOUND on J anywhere:</a:t>
            </a:r>
            <a:endParaRPr lang="en-US" sz="1250" dirty="0"/>
          </a:p>
        </p:txBody>
      </p:sp>
      <p:sp>
        <p:nvSpPr>
          <p:cNvPr id="5" name="Shape 3"/>
          <p:cNvSpPr/>
          <p:nvPr/>
        </p:nvSpPr>
        <p:spPr>
          <a:xfrm>
            <a:off x="548640" y="1920240"/>
            <a:ext cx="11064240" cy="777240"/>
          </a:xfrm>
          <a:prstGeom prst="roundRect">
            <a:avLst>
              <a:gd name="adj" fmla="val 9412"/>
            </a:avLst>
          </a:prstGeom>
          <a:solidFill>
            <a:srgbClr val="EFF4F8"/>
          </a:solidFill>
          <a:ln w="12700">
            <a:solidFill>
              <a:srgbClr val="D9E3EC"/>
            </a:solidFill>
            <a:prstDash val="solid"/>
          </a:ln>
        </p:spPr>
      </p:sp>
      <p:pic>
        <p:nvPicPr>
          <p:cNvPr id="6" name="Image 0" descr="/home/claude/work/equations/gd_smoothness.png">    </p:cNvPr>
          <p:cNvPicPr>
            <a:picLocks noChangeAspect="1"/>
          </p:cNvPicPr>
          <p:nvPr/>
        </p:nvPicPr>
        <p:blipFill>
          <a:blip r:embed="rId1"/>
          <a:stretch>
            <a:fillRect/>
          </a:stretch>
        </p:blipFill>
        <p:spPr>
          <a:xfrm>
            <a:off x="3724310" y="2034540"/>
            <a:ext cx="4712900" cy="548640"/>
          </a:xfrm>
          <a:prstGeom prst="rect">
            <a:avLst/>
          </a:prstGeom>
        </p:spPr>
      </p:pic>
      <p:sp>
        <p:nvSpPr>
          <p:cNvPr id="7" name="Text 4"/>
          <p:cNvSpPr/>
          <p:nvPr/>
        </p:nvSpPr>
        <p:spPr>
          <a:xfrm>
            <a:off x="548640" y="2834640"/>
            <a:ext cx="10698480" cy="411480"/>
          </a:xfrm>
          <a:prstGeom prst="rect">
            <a:avLst/>
          </a:prstGeom>
          <a:noFill/>
          <a:ln/>
        </p:spPr>
        <p:txBody>
          <a:bodyPr wrap="square" rtlCol="0" anchor="ctr"/>
          <a:lstStyle/>
          <a:p>
            <a:pPr indent="0" marL="0">
              <a:buNone/>
            </a:pPr>
            <a:r>
              <a:rPr lang="en-US" sz="1250" dirty="0">
                <a:solidFill>
                  <a:srgbClr val="22313F"/>
                </a:solidFill>
                <a:latin typeface="Calibri" pitchFamily="34" charset="0"/>
                <a:ea typeface="Calibri" pitchFamily="34" charset="-122"/>
                <a:cs typeface="Calibri" pitchFamily="34" charset="-120"/>
              </a:rPr>
              <a:t>Plugging in the gradient-descent step θ' = θ − α∇J(θ) and simplifying gives the DESCENT LEMMA:</a:t>
            </a:r>
            <a:endParaRPr lang="en-US" sz="1250" dirty="0"/>
          </a:p>
        </p:txBody>
      </p:sp>
      <p:sp>
        <p:nvSpPr>
          <p:cNvPr id="8" name="Shape 5"/>
          <p:cNvSpPr/>
          <p:nvPr/>
        </p:nvSpPr>
        <p:spPr>
          <a:xfrm>
            <a:off x="548640" y="3291840"/>
            <a:ext cx="11064240" cy="777240"/>
          </a:xfrm>
          <a:prstGeom prst="roundRect">
            <a:avLst>
              <a:gd name="adj" fmla="val 9412"/>
            </a:avLst>
          </a:prstGeom>
          <a:solidFill>
            <a:srgbClr val="10375C"/>
          </a:solidFill>
          <a:ln w="12700">
            <a:solidFill>
              <a:srgbClr val="10375C"/>
            </a:solidFill>
            <a:prstDash val="solid"/>
          </a:ln>
        </p:spPr>
      </p:sp>
      <p:pic>
        <p:nvPicPr>
          <p:cNvPr id="9" name="Image 1" descr="/home/claude/work/equations/gd_descent_lemma_white.png">    </p:cNvPr>
          <p:cNvPicPr>
            <a:picLocks noChangeAspect="1"/>
          </p:cNvPicPr>
          <p:nvPr/>
        </p:nvPicPr>
        <p:blipFill>
          <a:blip r:embed="rId2"/>
          <a:stretch>
            <a:fillRect/>
          </a:stretch>
        </p:blipFill>
        <p:spPr>
          <a:xfrm>
            <a:off x="3658985" y="3406140"/>
            <a:ext cx="4843549" cy="548640"/>
          </a:xfrm>
          <a:prstGeom prst="rect">
            <a:avLst/>
          </a:prstGeom>
        </p:spPr>
      </p:pic>
      <p:sp>
        <p:nvSpPr>
          <p:cNvPr id="10" name="Shape 6"/>
          <p:cNvSpPr/>
          <p:nvPr/>
        </p:nvSpPr>
        <p:spPr>
          <a:xfrm>
            <a:off x="548640" y="4206240"/>
            <a:ext cx="5394960" cy="1828800"/>
          </a:xfrm>
          <a:prstGeom prst="roundRect">
            <a:avLst>
              <a:gd name="adj" fmla="val 4000"/>
            </a:avLst>
          </a:prstGeom>
          <a:solidFill>
            <a:srgbClr val="FDF3E3"/>
          </a:solidFill>
          <a:ln w="12700">
            <a:solidFill>
              <a:srgbClr val="F0D9A8"/>
            </a:solidFill>
            <a:prstDash val="solid"/>
          </a:ln>
        </p:spPr>
      </p:sp>
      <p:sp>
        <p:nvSpPr>
          <p:cNvPr id="11" name="Text 7"/>
          <p:cNvSpPr/>
          <p:nvPr/>
        </p:nvSpPr>
        <p:spPr>
          <a:xfrm>
            <a:off x="777240" y="4325112"/>
            <a:ext cx="4937760" cy="274320"/>
          </a:xfrm>
          <a:prstGeom prst="rect">
            <a:avLst/>
          </a:prstGeom>
          <a:noFill/>
          <a:ln/>
        </p:spPr>
        <p:txBody>
          <a:bodyPr wrap="square" rtlCol="0" anchor="ctr"/>
          <a:lstStyle/>
          <a:p>
            <a:pPr indent="0" marL="0">
              <a:buNone/>
            </a:pPr>
            <a:r>
              <a:rPr lang="en-US" sz="1200" b="1" dirty="0">
                <a:solidFill>
                  <a:srgbClr val="8A5A00"/>
                </a:solidFill>
                <a:latin typeface="Calibri" pitchFamily="34" charset="0"/>
                <a:ea typeface="Calibri" pitchFamily="34" charset="-122"/>
                <a:cs typeface="Calibri" pitchFamily="34" charset="-120"/>
              </a:rPr>
              <a:t>Choosing a safe step size</a:t>
            </a:r>
            <a:endParaRPr lang="en-US" sz="1200" dirty="0"/>
          </a:p>
        </p:txBody>
      </p:sp>
      <p:sp>
        <p:nvSpPr>
          <p:cNvPr id="12" name="Text 8"/>
          <p:cNvSpPr/>
          <p:nvPr/>
        </p:nvSpPr>
        <p:spPr>
          <a:xfrm>
            <a:off x="777240" y="4617720"/>
            <a:ext cx="5120640" cy="1325880"/>
          </a:xfrm>
          <a:prstGeom prst="rect">
            <a:avLst/>
          </a:prstGeom>
          <a:noFill/>
          <a:ln/>
        </p:spPr>
        <p:txBody>
          <a:bodyPr wrap="square" rtlCol="0" anchor="ctr"/>
          <a:lstStyle/>
          <a:p>
            <a:pPr indent="0" marL="0">
              <a:buNone/>
            </a:pPr>
            <a:r>
              <a:rPr lang="en-US" sz="1100" dirty="0">
                <a:solidFill>
                  <a:srgbClr val="22313F"/>
                </a:solidFill>
                <a:latin typeface="Calibri" pitchFamily="34" charset="0"/>
                <a:ea typeface="Calibri" pitchFamily="34" charset="-122"/>
                <a:cs typeface="Calibri" pitchFamily="34" charset="-120"/>
              </a:rPr>
              <a:t>The term (1 − Lα/2) is positive whenever α &lt; 2/L. In that regime, the RHS above is strictly less than J(θ) — every single step is guaranteed to make progress, never overshoot into a worse region.</a:t>
            </a:r>
            <a:endParaRPr lang="en-US" sz="1100" dirty="0"/>
          </a:p>
        </p:txBody>
      </p:sp>
      <p:sp>
        <p:nvSpPr>
          <p:cNvPr id="13" name="Shape 9"/>
          <p:cNvSpPr/>
          <p:nvPr/>
        </p:nvSpPr>
        <p:spPr>
          <a:xfrm>
            <a:off x="6126480" y="4206240"/>
            <a:ext cx="5486400" cy="1828800"/>
          </a:xfrm>
          <a:prstGeom prst="roundRect">
            <a:avLst>
              <a:gd name="adj" fmla="val 4000"/>
            </a:avLst>
          </a:prstGeom>
          <a:solidFill>
            <a:srgbClr val="EFF4F8"/>
          </a:solidFill>
          <a:ln w="12700">
            <a:solidFill>
              <a:srgbClr val="D9E3EC"/>
            </a:solidFill>
            <a:prstDash val="solid"/>
          </a:ln>
        </p:spPr>
      </p:sp>
      <p:sp>
        <p:nvSpPr>
          <p:cNvPr id="14" name="Text 10"/>
          <p:cNvSpPr/>
          <p:nvPr/>
        </p:nvSpPr>
        <p:spPr>
          <a:xfrm>
            <a:off x="6355080" y="4325112"/>
            <a:ext cx="5029200" cy="274320"/>
          </a:xfrm>
          <a:prstGeom prst="rect">
            <a:avLst/>
          </a:prstGeom>
          <a:noFill/>
          <a:ln/>
        </p:spPr>
        <p:txBody>
          <a:bodyPr wrap="square" rtlCol="0" anchor="ctr"/>
          <a:lstStyle/>
          <a:p>
            <a:pPr indent="0" marL="0">
              <a:buNone/>
            </a:pPr>
            <a:r>
              <a:rPr lang="en-US" sz="1200" b="1" dirty="0">
                <a:solidFill>
                  <a:srgbClr val="10375C"/>
                </a:solidFill>
                <a:latin typeface="Calibri" pitchFamily="34" charset="0"/>
                <a:ea typeface="Calibri" pitchFamily="34" charset="-122"/>
                <a:cs typeface="Calibri" pitchFamily="34" charset="-120"/>
              </a:rPr>
              <a:t>A concrete guarantee</a:t>
            </a:r>
            <a:endParaRPr lang="en-US" sz="1200" dirty="0"/>
          </a:p>
        </p:txBody>
      </p:sp>
      <p:sp>
        <p:nvSpPr>
          <p:cNvPr id="15" name="Text 11"/>
          <p:cNvSpPr/>
          <p:nvPr/>
        </p:nvSpPr>
        <p:spPr>
          <a:xfrm>
            <a:off x="6355080" y="4590288"/>
            <a:ext cx="5029200" cy="685800"/>
          </a:xfrm>
          <a:prstGeom prst="rect">
            <a:avLst/>
          </a:prstGeom>
          <a:noFill/>
          <a:ln/>
        </p:spPr>
        <p:txBody>
          <a:bodyPr wrap="square" rtlCol="0" anchor="ctr"/>
          <a:lstStyle/>
          <a:p>
            <a:pPr indent="0" marL="0">
              <a:buNone/>
            </a:pPr>
            <a:r>
              <a:rPr lang="en-US" sz="1100" dirty="0">
                <a:solidFill>
                  <a:srgbClr val="22313F"/>
                </a:solidFill>
                <a:latin typeface="Calibri" pitchFamily="34" charset="0"/>
                <a:ea typeface="Calibri" pitchFamily="34" charset="-122"/>
                <a:cs typeface="Calibri" pitchFamily="34" charset="-120"/>
              </a:rPr>
              <a:t>Taking α ≤ 1/L (a common, conservative choice) simplifies this to a clean per-step decrease proportional to the squared gradient norm:</a:t>
            </a:r>
            <a:endParaRPr lang="en-US" sz="1100" dirty="0"/>
          </a:p>
        </p:txBody>
      </p:sp>
      <p:pic>
        <p:nvPicPr>
          <p:cNvPr id="16" name="Image 2" descr="/home/claude/work/equations/gd_alpha_condition.png">    </p:cNvPr>
          <p:cNvPicPr>
            <a:picLocks noChangeAspect="1"/>
          </p:cNvPicPr>
          <p:nvPr/>
        </p:nvPicPr>
        <p:blipFill>
          <a:blip r:embed="rId3"/>
          <a:stretch>
            <a:fillRect/>
          </a:stretch>
        </p:blipFill>
        <p:spPr>
          <a:xfrm>
            <a:off x="6827722" y="5280660"/>
            <a:ext cx="4083916" cy="502920"/>
          </a:xfrm>
          <a:prstGeom prst="rect">
            <a:avLst/>
          </a:prstGeom>
        </p:spPr>
      </p:pic>
      <p:sp>
        <p:nvSpPr>
          <p:cNvPr id="17" name="Text 12"/>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8A97A5"/>
                </a:solidFill>
                <a:latin typeface="Calibri" pitchFamily="34" charset="0"/>
                <a:ea typeface="Calibri" pitchFamily="34" charset="-122"/>
                <a:cs typeface="Calibri" pitchFamily="34" charset="-120"/>
              </a:rPr>
              <a:t>Linear &amp; Logistic Regression</a:t>
            </a:r>
            <a:endParaRPr lang="en-US" sz="900" dirty="0"/>
          </a:p>
        </p:txBody>
      </p:sp>
      <p:sp>
        <p:nvSpPr>
          <p:cNvPr id="18" name="Text 13"/>
          <p:cNvSpPr/>
          <p:nvPr/>
        </p:nvSpPr>
        <p:spPr>
          <a:xfrm>
            <a:off x="11368735" y="6547104"/>
            <a:ext cx="457200" cy="256032"/>
          </a:xfrm>
          <a:prstGeom prst="rect">
            <a:avLst/>
          </a:prstGeom>
          <a:noFill/>
          <a:ln/>
        </p:spPr>
        <p:txBody>
          <a:bodyPr wrap="square"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1.11  CONVERGENCE THEORY — PART III</a:t>
            </a:r>
            <a:endParaRPr lang="en-US" sz="1300" dirty="0"/>
          </a:p>
        </p:txBody>
      </p:sp>
      <p:sp>
        <p:nvSpPr>
          <p:cNvPr id="3" name="Text 1"/>
          <p:cNvSpPr/>
          <p:nvPr/>
        </p:nvSpPr>
        <p:spPr>
          <a:xfrm>
            <a:off x="548640" y="658368"/>
            <a:ext cx="10607040" cy="777240"/>
          </a:xfrm>
          <a:prstGeom prst="rect">
            <a:avLst/>
          </a:prstGeom>
          <a:noFill/>
          <a:ln/>
        </p:spPr>
        <p:txBody>
          <a:bodyPr wrap="square" rtlCol="0" anchor="ctr"/>
          <a:lstStyle/>
          <a:p>
            <a:pPr indent="0" marL="0">
              <a:buNone/>
            </a:pPr>
            <a:r>
              <a:rPr lang="en-US" sz="3000" b="1" dirty="0">
                <a:solidFill>
                  <a:srgbClr val="10375C"/>
                </a:solidFill>
                <a:latin typeface="Cambria" pitchFamily="34" charset="0"/>
                <a:ea typeface="Cambria" pitchFamily="34" charset="-122"/>
                <a:cs typeface="Cambria" pitchFamily="34" charset="-120"/>
              </a:rPr>
              <a:t>Putting It Together: Convergence to θ*</a:t>
            </a:r>
            <a:endParaRPr lang="en-US" sz="3000" dirty="0"/>
          </a:p>
        </p:txBody>
      </p:sp>
      <p:sp>
        <p:nvSpPr>
          <p:cNvPr id="4" name="Text 2"/>
          <p:cNvSpPr/>
          <p:nvPr/>
        </p:nvSpPr>
        <p:spPr>
          <a:xfrm>
            <a:off x="548640" y="1417320"/>
            <a:ext cx="10698480" cy="457200"/>
          </a:xfrm>
          <a:prstGeom prst="rect">
            <a:avLst/>
          </a:prstGeom>
          <a:noFill/>
          <a:ln/>
        </p:spPr>
        <p:txBody>
          <a:bodyPr wrap="square" rtlCol="0" anchor="ctr"/>
          <a:lstStyle/>
          <a:p>
            <a:pPr indent="0" marL="0">
              <a:buNone/>
            </a:pPr>
            <a:r>
              <a:rPr lang="en-US" sz="1250" dirty="0">
                <a:solidFill>
                  <a:srgbClr val="22313F"/>
                </a:solidFill>
                <a:latin typeface="Calibri" pitchFamily="34" charset="0"/>
                <a:ea typeface="Calibri" pitchFamily="34" charset="-122"/>
                <a:cs typeface="Calibri" pitchFamily="34" charset="-120"/>
              </a:rPr>
              <a:t>Summing the per-step decrease from the previous slide over T iterations telescopes — most terms cancel, leaving only the start and end cost:</a:t>
            </a:r>
            <a:endParaRPr lang="en-US" sz="1250" dirty="0"/>
          </a:p>
        </p:txBody>
      </p:sp>
      <p:sp>
        <p:nvSpPr>
          <p:cNvPr id="5" name="Shape 3"/>
          <p:cNvSpPr/>
          <p:nvPr/>
        </p:nvSpPr>
        <p:spPr>
          <a:xfrm>
            <a:off x="548640" y="1920240"/>
            <a:ext cx="11064240" cy="1417320"/>
          </a:xfrm>
          <a:prstGeom prst="roundRect">
            <a:avLst>
              <a:gd name="adj" fmla="val 5161"/>
            </a:avLst>
          </a:prstGeom>
          <a:solidFill>
            <a:srgbClr val="10375C"/>
          </a:solidFill>
          <a:ln w="12700">
            <a:solidFill>
              <a:srgbClr val="10375C"/>
            </a:solidFill>
            <a:prstDash val="solid"/>
          </a:ln>
        </p:spPr>
      </p:sp>
      <p:pic>
        <p:nvPicPr>
          <p:cNvPr id="6" name="Image 0" descr="/home/claude/work/equations/gd_telescoping_white.png">    </p:cNvPr>
          <p:cNvPicPr>
            <a:picLocks noChangeAspect="1"/>
          </p:cNvPicPr>
          <p:nvPr/>
        </p:nvPicPr>
        <p:blipFill>
          <a:blip r:embed="rId1"/>
          <a:stretch>
            <a:fillRect/>
          </a:stretch>
        </p:blipFill>
        <p:spPr>
          <a:xfrm>
            <a:off x="4174461" y="2034540"/>
            <a:ext cx="3812598" cy="1188720"/>
          </a:xfrm>
          <a:prstGeom prst="rect">
            <a:avLst/>
          </a:prstGeom>
        </p:spPr>
      </p:pic>
      <p:sp>
        <p:nvSpPr>
          <p:cNvPr id="7" name="Text 4"/>
          <p:cNvSpPr/>
          <p:nvPr/>
        </p:nvSpPr>
        <p:spPr>
          <a:xfrm>
            <a:off x="548640" y="3520440"/>
            <a:ext cx="10698480" cy="548640"/>
          </a:xfrm>
          <a:prstGeom prst="rect">
            <a:avLst/>
          </a:prstGeom>
          <a:noFill/>
          <a:ln/>
        </p:spPr>
        <p:txBody>
          <a:bodyPr wrap="square" rtlCol="0" anchor="ctr"/>
          <a:lstStyle/>
          <a:p>
            <a:pPr indent="0" marL="0">
              <a:buNone/>
            </a:pPr>
            <a:r>
              <a:rPr lang="en-US" sz="1200" dirty="0">
                <a:solidFill>
                  <a:srgbClr val="22313F"/>
                </a:solidFill>
                <a:latin typeface="Calibri" pitchFamily="34" charset="0"/>
                <a:ea typeface="Calibri" pitchFamily="34" charset="-122"/>
                <a:cs typeface="Calibri" pitchFamily="34" charset="-120"/>
              </a:rPr>
              <a:t>Since the left side is a sum of non-negative terms bounded above by a FINITE number, the individual terms must shrink to zero. Combined with the convexity argument from two slides ago:</a:t>
            </a:r>
            <a:endParaRPr lang="en-US" sz="1200" dirty="0"/>
          </a:p>
        </p:txBody>
      </p:sp>
      <p:sp>
        <p:nvSpPr>
          <p:cNvPr id="8" name="Shape 5"/>
          <p:cNvSpPr/>
          <p:nvPr/>
        </p:nvSpPr>
        <p:spPr>
          <a:xfrm>
            <a:off x="548640" y="4114800"/>
            <a:ext cx="11064240" cy="777240"/>
          </a:xfrm>
          <a:prstGeom prst="roundRect">
            <a:avLst>
              <a:gd name="adj" fmla="val 9412"/>
            </a:avLst>
          </a:prstGeom>
          <a:solidFill>
            <a:srgbClr val="FDF3E3"/>
          </a:solidFill>
          <a:ln w="12700">
            <a:solidFill>
              <a:srgbClr val="F0D9A8"/>
            </a:solidFill>
            <a:prstDash val="solid"/>
          </a:ln>
        </p:spPr>
      </p:sp>
      <p:pic>
        <p:nvPicPr>
          <p:cNvPr id="9" name="Image 1" descr="/home/claude/work/equations/gd_final_conclusion.png">    </p:cNvPr>
          <p:cNvPicPr>
            <a:picLocks noChangeAspect="1"/>
          </p:cNvPicPr>
          <p:nvPr/>
        </p:nvPicPr>
        <p:blipFill>
          <a:blip r:embed="rId2"/>
          <a:stretch>
            <a:fillRect/>
          </a:stretch>
        </p:blipFill>
        <p:spPr>
          <a:xfrm>
            <a:off x="2508741" y="4311396"/>
            <a:ext cx="7144038" cy="384048"/>
          </a:xfrm>
          <a:prstGeom prst="rect">
            <a:avLst/>
          </a:prstGeom>
        </p:spPr>
      </p:pic>
      <p:sp>
        <p:nvSpPr>
          <p:cNvPr id="10" name="Shape 6"/>
          <p:cNvSpPr/>
          <p:nvPr/>
        </p:nvSpPr>
        <p:spPr>
          <a:xfrm>
            <a:off x="548640" y="5074920"/>
            <a:ext cx="5394960" cy="1417320"/>
          </a:xfrm>
          <a:prstGeom prst="roundRect">
            <a:avLst>
              <a:gd name="adj" fmla="val 5161"/>
            </a:avLst>
          </a:prstGeom>
          <a:solidFill>
            <a:srgbClr val="EFF4F8"/>
          </a:solidFill>
          <a:ln w="12700">
            <a:solidFill>
              <a:srgbClr val="D9E3EC"/>
            </a:solidFill>
            <a:prstDash val="solid"/>
          </a:ln>
        </p:spPr>
      </p:sp>
      <p:sp>
        <p:nvSpPr>
          <p:cNvPr id="11" name="Text 7"/>
          <p:cNvSpPr/>
          <p:nvPr/>
        </p:nvSpPr>
        <p:spPr>
          <a:xfrm>
            <a:off x="777240" y="5193792"/>
            <a:ext cx="4937760" cy="274320"/>
          </a:xfrm>
          <a:prstGeom prst="rect">
            <a:avLst/>
          </a:prstGeom>
          <a:noFill/>
          <a:ln/>
        </p:spPr>
        <p:txBody>
          <a:bodyPr wrap="square" rtlCol="0" anchor="ctr"/>
          <a:lstStyle/>
          <a:p>
            <a:pPr indent="0" marL="0">
              <a:buNone/>
            </a:pPr>
            <a:r>
              <a:rPr lang="en-US" sz="1200" b="1" dirty="0">
                <a:solidFill>
                  <a:srgbClr val="10375C"/>
                </a:solidFill>
                <a:latin typeface="Calibri" pitchFamily="34" charset="0"/>
                <a:ea typeface="Calibri" pitchFamily="34" charset="-122"/>
                <a:cs typeface="Calibri" pitchFamily="34" charset="-120"/>
              </a:rPr>
              <a:t>Convergence rate</a:t>
            </a:r>
            <a:endParaRPr lang="en-US" sz="1200" dirty="0"/>
          </a:p>
        </p:txBody>
      </p:sp>
      <p:pic>
        <p:nvPicPr>
          <p:cNvPr id="12" name="Image 2" descr="/home/claude/work/equations/gd_linear_rate.png">    </p:cNvPr>
          <p:cNvPicPr>
            <a:picLocks noChangeAspect="1"/>
          </p:cNvPicPr>
          <p:nvPr/>
        </p:nvPicPr>
        <p:blipFill>
          <a:blip r:embed="rId3"/>
          <a:stretch>
            <a:fillRect/>
          </a:stretch>
        </p:blipFill>
        <p:spPr>
          <a:xfrm>
            <a:off x="1290043" y="5600700"/>
            <a:ext cx="3912153" cy="502920"/>
          </a:xfrm>
          <a:prstGeom prst="rect">
            <a:avLst/>
          </a:prstGeom>
        </p:spPr>
      </p:pic>
      <p:sp>
        <p:nvSpPr>
          <p:cNvPr id="13" name="Shape 8"/>
          <p:cNvSpPr/>
          <p:nvPr/>
        </p:nvSpPr>
        <p:spPr>
          <a:xfrm>
            <a:off x="6126480" y="5074920"/>
            <a:ext cx="5486400" cy="1417320"/>
          </a:xfrm>
          <a:prstGeom prst="roundRect">
            <a:avLst>
              <a:gd name="adj" fmla="val 5161"/>
            </a:avLst>
          </a:prstGeom>
          <a:solidFill>
            <a:srgbClr val="EFF4F8"/>
          </a:solidFill>
          <a:ln w="12700">
            <a:solidFill>
              <a:srgbClr val="D9E3EC"/>
            </a:solidFill>
            <a:prstDash val="solid"/>
          </a:ln>
        </p:spPr>
      </p:sp>
      <p:sp>
        <p:nvSpPr>
          <p:cNvPr id="14" name="Text 9"/>
          <p:cNvSpPr/>
          <p:nvPr/>
        </p:nvSpPr>
        <p:spPr>
          <a:xfrm>
            <a:off x="6355080" y="5193792"/>
            <a:ext cx="5029200" cy="274320"/>
          </a:xfrm>
          <a:prstGeom prst="rect">
            <a:avLst/>
          </a:prstGeom>
          <a:noFill/>
          <a:ln/>
        </p:spPr>
        <p:txBody>
          <a:bodyPr wrap="square" rtlCol="0" anchor="ctr"/>
          <a:lstStyle/>
          <a:p>
            <a:pPr indent="0" marL="0">
              <a:buNone/>
            </a:pPr>
            <a:r>
              <a:rPr lang="en-US" sz="1200" b="1" dirty="0">
                <a:solidFill>
                  <a:srgbClr val="10375C"/>
                </a:solidFill>
                <a:latin typeface="Calibri" pitchFamily="34" charset="0"/>
                <a:ea typeface="Calibri" pitchFamily="34" charset="-122"/>
                <a:cs typeface="Calibri" pitchFamily="34" charset="-120"/>
              </a:rPr>
              <a:t>Connecting theory to our cost function</a:t>
            </a:r>
            <a:endParaRPr lang="en-US" sz="1200" dirty="0"/>
          </a:p>
        </p:txBody>
      </p:sp>
      <p:sp>
        <p:nvSpPr>
          <p:cNvPr id="15" name="Text 10"/>
          <p:cNvSpPr/>
          <p:nvPr/>
        </p:nvSpPr>
        <p:spPr>
          <a:xfrm>
            <a:off x="6355080" y="5468112"/>
            <a:ext cx="5120640" cy="960120"/>
          </a:xfrm>
          <a:prstGeom prst="rect">
            <a:avLst/>
          </a:prstGeom>
          <a:noFill/>
          <a:ln/>
        </p:spPr>
        <p:txBody>
          <a:bodyPr wrap="square" rtlCol="0" anchor="ctr"/>
          <a:lstStyle/>
          <a:p>
            <a:pPr indent="0" marL="0">
              <a:buNone/>
            </a:pPr>
            <a:r>
              <a:rPr lang="en-US" sz="1050" dirty="0">
                <a:solidFill>
                  <a:srgbClr val="22313F"/>
                </a:solidFill>
                <a:latin typeface="Calibri" pitchFamily="34" charset="0"/>
                <a:ea typeface="Calibri" pitchFamily="34" charset="-122"/>
                <a:cs typeface="Calibri" pitchFamily="34" charset="-120"/>
              </a:rPr>
              <a:t>For linear regression's MSE, L is exactly the largest eigenvalue of (1/m)XᵀX — feature scaling shrinks L, which is why standardizing lets you use a bigger, faster learning rate.</a:t>
            </a:r>
            <a:endParaRPr lang="en-US" sz="1050" dirty="0"/>
          </a:p>
        </p:txBody>
      </p:sp>
      <p:sp>
        <p:nvSpPr>
          <p:cNvPr id="16" name="Text 11"/>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8A97A5"/>
                </a:solidFill>
                <a:latin typeface="Calibri" pitchFamily="34" charset="0"/>
                <a:ea typeface="Calibri" pitchFamily="34" charset="-122"/>
                <a:cs typeface="Calibri" pitchFamily="34" charset="-120"/>
              </a:rPr>
              <a:t>Linear &amp; Logistic Regression</a:t>
            </a:r>
            <a:endParaRPr lang="en-US" sz="900" dirty="0"/>
          </a:p>
        </p:txBody>
      </p:sp>
      <p:sp>
        <p:nvSpPr>
          <p:cNvPr id="17" name="Text 12"/>
          <p:cNvSpPr/>
          <p:nvPr/>
        </p:nvSpPr>
        <p:spPr>
          <a:xfrm>
            <a:off x="11368735" y="6547104"/>
            <a:ext cx="457200" cy="256032"/>
          </a:xfrm>
          <a:prstGeom prst="rect">
            <a:avLst/>
          </a:prstGeom>
          <a:noFill/>
          <a:ln/>
        </p:spPr>
        <p:txBody>
          <a:bodyPr wrap="square"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1.12  PRACTICAL OPTIMIZATION</a:t>
            </a:r>
            <a:endParaRPr lang="en-US" sz="1300" dirty="0"/>
          </a:p>
        </p:txBody>
      </p:sp>
      <p:sp>
        <p:nvSpPr>
          <p:cNvPr id="3" name="Text 1"/>
          <p:cNvSpPr/>
          <p:nvPr/>
        </p:nvSpPr>
        <p:spPr>
          <a:xfrm>
            <a:off x="548640" y="658368"/>
            <a:ext cx="10607040" cy="777240"/>
          </a:xfrm>
          <a:prstGeom prst="rect">
            <a:avLst/>
          </a:prstGeom>
          <a:noFill/>
          <a:ln/>
        </p:spPr>
        <p:txBody>
          <a:bodyPr wrap="square" rtlCol="0" anchor="ctr"/>
          <a:lstStyle/>
          <a:p>
            <a:pPr indent="0" marL="0">
              <a:buNone/>
            </a:pPr>
            <a:r>
              <a:rPr lang="en-US" sz="3000" b="1" dirty="0">
                <a:solidFill>
                  <a:srgbClr val="10375C"/>
                </a:solidFill>
                <a:latin typeface="Cambria" pitchFamily="34" charset="0"/>
                <a:ea typeface="Cambria" pitchFamily="34" charset="-122"/>
                <a:cs typeface="Cambria" pitchFamily="34" charset="-120"/>
              </a:rPr>
              <a:t>Gradient Descent Variants &amp; Learning Rate</a:t>
            </a:r>
            <a:endParaRPr lang="en-US" sz="3000" dirty="0"/>
          </a:p>
        </p:txBody>
      </p:sp>
      <p:sp>
        <p:nvSpPr>
          <p:cNvPr id="4" name="Shape 2"/>
          <p:cNvSpPr/>
          <p:nvPr/>
        </p:nvSpPr>
        <p:spPr>
          <a:xfrm>
            <a:off x="548640" y="1508760"/>
            <a:ext cx="3566160" cy="1965960"/>
          </a:xfrm>
          <a:prstGeom prst="roundRect">
            <a:avLst>
              <a:gd name="adj" fmla="val 3721"/>
            </a:avLst>
          </a:prstGeom>
          <a:solidFill>
            <a:srgbClr val="EFF4F8"/>
          </a:solidFill>
          <a:ln w="12700">
            <a:solidFill>
              <a:srgbClr val="D9E3EC"/>
            </a:solidFill>
            <a:prstDash val="solid"/>
          </a:ln>
        </p:spPr>
      </p:sp>
      <p:sp>
        <p:nvSpPr>
          <p:cNvPr id="5" name="Text 3"/>
          <p:cNvSpPr/>
          <p:nvPr/>
        </p:nvSpPr>
        <p:spPr>
          <a:xfrm>
            <a:off x="731520" y="1645920"/>
            <a:ext cx="3200400" cy="347472"/>
          </a:xfrm>
          <a:prstGeom prst="rect">
            <a:avLst/>
          </a:prstGeom>
          <a:noFill/>
          <a:ln/>
        </p:spPr>
        <p:txBody>
          <a:bodyPr wrap="square" rtlCol="0" anchor="ctr"/>
          <a:lstStyle/>
          <a:p>
            <a:pPr indent="0" marL="0">
              <a:buNone/>
            </a:pPr>
            <a:r>
              <a:rPr lang="en-US" sz="1550" b="1" dirty="0">
                <a:solidFill>
                  <a:srgbClr val="10375C"/>
                </a:solidFill>
                <a:latin typeface="Cambria" pitchFamily="34" charset="0"/>
                <a:ea typeface="Cambria" pitchFamily="34" charset="-122"/>
                <a:cs typeface="Cambria" pitchFamily="34" charset="-120"/>
              </a:rPr>
              <a:t>Batch GD</a:t>
            </a:r>
            <a:endParaRPr lang="en-US" sz="1550" dirty="0"/>
          </a:p>
        </p:txBody>
      </p:sp>
      <p:sp>
        <p:nvSpPr>
          <p:cNvPr id="6" name="Text 4"/>
          <p:cNvSpPr/>
          <p:nvPr/>
        </p:nvSpPr>
        <p:spPr>
          <a:xfrm>
            <a:off x="731520" y="2011680"/>
            <a:ext cx="3200400" cy="502920"/>
          </a:xfrm>
          <a:prstGeom prst="rect">
            <a:avLst/>
          </a:prstGeom>
          <a:noFill/>
          <a:ln/>
        </p:spPr>
        <p:txBody>
          <a:bodyPr wrap="square" rtlCol="0" anchor="ctr"/>
          <a:lstStyle/>
          <a:p>
            <a:pPr indent="0" marL="0">
              <a:buNone/>
            </a:pPr>
            <a:r>
              <a:rPr lang="en-US" sz="1150" b="1" dirty="0">
                <a:solidFill>
                  <a:srgbClr val="1C7293"/>
                </a:solidFill>
                <a:latin typeface="Calibri" pitchFamily="34" charset="0"/>
                <a:ea typeface="Calibri" pitchFamily="34" charset="-122"/>
                <a:cs typeface="Calibri" pitchFamily="34" charset="-120"/>
              </a:rPr>
              <a:t>Uses ALL m examples per update step.</a:t>
            </a:r>
            <a:endParaRPr lang="en-US" sz="1150" dirty="0"/>
          </a:p>
        </p:txBody>
      </p:sp>
      <p:sp>
        <p:nvSpPr>
          <p:cNvPr id="7" name="Text 5"/>
          <p:cNvSpPr/>
          <p:nvPr/>
        </p:nvSpPr>
        <p:spPr>
          <a:xfrm>
            <a:off x="731520" y="2514600"/>
            <a:ext cx="3200400" cy="868680"/>
          </a:xfrm>
          <a:prstGeom prst="rect">
            <a:avLst/>
          </a:prstGeom>
          <a:noFill/>
          <a:ln/>
        </p:spPr>
        <p:txBody>
          <a:bodyPr wrap="square" rtlCol="0" anchor="ctr"/>
          <a:lstStyle/>
          <a:p>
            <a:pPr indent="0" marL="0">
              <a:buNone/>
            </a:pPr>
            <a:r>
              <a:rPr lang="en-US" sz="1080" dirty="0">
                <a:solidFill>
                  <a:srgbClr val="22313F"/>
                </a:solidFill>
                <a:latin typeface="Calibri" pitchFamily="34" charset="0"/>
                <a:ea typeface="Calibri" pitchFamily="34" charset="-122"/>
                <a:cs typeface="Calibri" pitchFamily="34" charset="-120"/>
              </a:rPr>
              <a:t>Stable, accurate gradient — but slow per step on large datasets.</a:t>
            </a:r>
            <a:endParaRPr lang="en-US" sz="1080" dirty="0"/>
          </a:p>
        </p:txBody>
      </p:sp>
      <p:sp>
        <p:nvSpPr>
          <p:cNvPr id="8" name="Shape 6"/>
          <p:cNvSpPr/>
          <p:nvPr/>
        </p:nvSpPr>
        <p:spPr>
          <a:xfrm>
            <a:off x="4297680" y="1508760"/>
            <a:ext cx="3566160" cy="1965960"/>
          </a:xfrm>
          <a:prstGeom prst="roundRect">
            <a:avLst>
              <a:gd name="adj" fmla="val 3721"/>
            </a:avLst>
          </a:prstGeom>
          <a:solidFill>
            <a:srgbClr val="EFF4F8"/>
          </a:solidFill>
          <a:ln w="12700">
            <a:solidFill>
              <a:srgbClr val="D9E3EC"/>
            </a:solidFill>
            <a:prstDash val="solid"/>
          </a:ln>
        </p:spPr>
      </p:sp>
      <p:sp>
        <p:nvSpPr>
          <p:cNvPr id="9" name="Text 7"/>
          <p:cNvSpPr/>
          <p:nvPr/>
        </p:nvSpPr>
        <p:spPr>
          <a:xfrm>
            <a:off x="4480560" y="1645920"/>
            <a:ext cx="3200400" cy="347472"/>
          </a:xfrm>
          <a:prstGeom prst="rect">
            <a:avLst/>
          </a:prstGeom>
          <a:noFill/>
          <a:ln/>
        </p:spPr>
        <p:txBody>
          <a:bodyPr wrap="square" rtlCol="0" anchor="ctr"/>
          <a:lstStyle/>
          <a:p>
            <a:pPr indent="0" marL="0">
              <a:buNone/>
            </a:pPr>
            <a:r>
              <a:rPr lang="en-US" sz="1550" b="1" dirty="0">
                <a:solidFill>
                  <a:srgbClr val="10375C"/>
                </a:solidFill>
                <a:latin typeface="Cambria" pitchFamily="34" charset="0"/>
                <a:ea typeface="Cambria" pitchFamily="34" charset="-122"/>
                <a:cs typeface="Cambria" pitchFamily="34" charset="-120"/>
              </a:rPr>
              <a:t>Stochastic GD</a:t>
            </a:r>
            <a:endParaRPr lang="en-US" sz="1550" dirty="0"/>
          </a:p>
        </p:txBody>
      </p:sp>
      <p:sp>
        <p:nvSpPr>
          <p:cNvPr id="10" name="Text 8"/>
          <p:cNvSpPr/>
          <p:nvPr/>
        </p:nvSpPr>
        <p:spPr>
          <a:xfrm>
            <a:off x="4480560" y="2011680"/>
            <a:ext cx="3200400" cy="502920"/>
          </a:xfrm>
          <a:prstGeom prst="rect">
            <a:avLst/>
          </a:prstGeom>
          <a:noFill/>
          <a:ln/>
        </p:spPr>
        <p:txBody>
          <a:bodyPr wrap="square" rtlCol="0" anchor="ctr"/>
          <a:lstStyle/>
          <a:p>
            <a:pPr indent="0" marL="0">
              <a:buNone/>
            </a:pPr>
            <a:r>
              <a:rPr lang="en-US" sz="1150" b="1" dirty="0">
                <a:solidFill>
                  <a:srgbClr val="1C7293"/>
                </a:solidFill>
                <a:latin typeface="Calibri" pitchFamily="34" charset="0"/>
                <a:ea typeface="Calibri" pitchFamily="34" charset="-122"/>
                <a:cs typeface="Calibri" pitchFamily="34" charset="-120"/>
              </a:rPr>
              <a:t>Uses ONE random example per update.</a:t>
            </a:r>
            <a:endParaRPr lang="en-US" sz="1150" dirty="0"/>
          </a:p>
        </p:txBody>
      </p:sp>
      <p:sp>
        <p:nvSpPr>
          <p:cNvPr id="11" name="Text 9"/>
          <p:cNvSpPr/>
          <p:nvPr/>
        </p:nvSpPr>
        <p:spPr>
          <a:xfrm>
            <a:off x="4480560" y="2514600"/>
            <a:ext cx="3200400" cy="868680"/>
          </a:xfrm>
          <a:prstGeom prst="rect">
            <a:avLst/>
          </a:prstGeom>
          <a:noFill/>
          <a:ln/>
        </p:spPr>
        <p:txBody>
          <a:bodyPr wrap="square" rtlCol="0" anchor="ctr"/>
          <a:lstStyle/>
          <a:p>
            <a:pPr indent="0" marL="0">
              <a:buNone/>
            </a:pPr>
            <a:r>
              <a:rPr lang="en-US" sz="1080" dirty="0">
                <a:solidFill>
                  <a:srgbClr val="22313F"/>
                </a:solidFill>
                <a:latin typeface="Calibri" pitchFamily="34" charset="0"/>
                <a:ea typeface="Calibri" pitchFamily="34" charset="-122"/>
                <a:cs typeface="Calibri" pitchFamily="34" charset="-120"/>
              </a:rPr>
              <a:t>Very fast updates, noisy path, needs a decaying α to converge.</a:t>
            </a:r>
            <a:endParaRPr lang="en-US" sz="1080" dirty="0"/>
          </a:p>
        </p:txBody>
      </p:sp>
      <p:sp>
        <p:nvSpPr>
          <p:cNvPr id="12" name="Shape 10"/>
          <p:cNvSpPr/>
          <p:nvPr/>
        </p:nvSpPr>
        <p:spPr>
          <a:xfrm>
            <a:off x="8046720" y="1508760"/>
            <a:ext cx="3566160" cy="1965960"/>
          </a:xfrm>
          <a:prstGeom prst="roundRect">
            <a:avLst>
              <a:gd name="adj" fmla="val 3721"/>
            </a:avLst>
          </a:prstGeom>
          <a:solidFill>
            <a:srgbClr val="FDF3E3"/>
          </a:solidFill>
          <a:ln w="12700">
            <a:solidFill>
              <a:srgbClr val="F0D9A8"/>
            </a:solidFill>
            <a:prstDash val="solid"/>
          </a:ln>
        </p:spPr>
      </p:sp>
      <p:sp>
        <p:nvSpPr>
          <p:cNvPr id="13" name="Text 11"/>
          <p:cNvSpPr/>
          <p:nvPr/>
        </p:nvSpPr>
        <p:spPr>
          <a:xfrm>
            <a:off x="8229600" y="1645920"/>
            <a:ext cx="3200400" cy="347472"/>
          </a:xfrm>
          <a:prstGeom prst="rect">
            <a:avLst/>
          </a:prstGeom>
          <a:noFill/>
          <a:ln/>
        </p:spPr>
        <p:txBody>
          <a:bodyPr wrap="square" rtlCol="0" anchor="ctr"/>
          <a:lstStyle/>
          <a:p>
            <a:pPr indent="0" marL="0">
              <a:buNone/>
            </a:pPr>
            <a:r>
              <a:rPr lang="en-US" sz="1550" b="1" dirty="0">
                <a:solidFill>
                  <a:srgbClr val="10375C"/>
                </a:solidFill>
                <a:latin typeface="Cambria" pitchFamily="34" charset="0"/>
                <a:ea typeface="Cambria" pitchFamily="34" charset="-122"/>
                <a:cs typeface="Cambria" pitchFamily="34" charset="-120"/>
              </a:rPr>
              <a:t>Mini-batch GD</a:t>
            </a:r>
            <a:endParaRPr lang="en-US" sz="1550" dirty="0"/>
          </a:p>
        </p:txBody>
      </p:sp>
      <p:sp>
        <p:nvSpPr>
          <p:cNvPr id="14" name="Text 12"/>
          <p:cNvSpPr/>
          <p:nvPr/>
        </p:nvSpPr>
        <p:spPr>
          <a:xfrm>
            <a:off x="8229600" y="2011680"/>
            <a:ext cx="3200400" cy="502920"/>
          </a:xfrm>
          <a:prstGeom prst="rect">
            <a:avLst/>
          </a:prstGeom>
          <a:noFill/>
          <a:ln/>
        </p:spPr>
        <p:txBody>
          <a:bodyPr wrap="square" rtlCol="0" anchor="ctr"/>
          <a:lstStyle/>
          <a:p>
            <a:pPr indent="0" marL="0">
              <a:buNone/>
            </a:pPr>
            <a:r>
              <a:rPr lang="en-US" sz="1150" b="1" dirty="0">
                <a:solidFill>
                  <a:srgbClr val="1C7293"/>
                </a:solidFill>
                <a:latin typeface="Calibri" pitchFamily="34" charset="0"/>
                <a:ea typeface="Calibri" pitchFamily="34" charset="-122"/>
                <a:cs typeface="Calibri" pitchFamily="34" charset="-120"/>
              </a:rPr>
              <a:t>Uses a small batch (e.g. 32–256).</a:t>
            </a:r>
            <a:endParaRPr lang="en-US" sz="1150" dirty="0"/>
          </a:p>
        </p:txBody>
      </p:sp>
      <p:sp>
        <p:nvSpPr>
          <p:cNvPr id="15" name="Text 13"/>
          <p:cNvSpPr/>
          <p:nvPr/>
        </p:nvSpPr>
        <p:spPr>
          <a:xfrm>
            <a:off x="8229600" y="2514600"/>
            <a:ext cx="3200400" cy="868680"/>
          </a:xfrm>
          <a:prstGeom prst="rect">
            <a:avLst/>
          </a:prstGeom>
          <a:noFill/>
          <a:ln/>
        </p:spPr>
        <p:txBody>
          <a:bodyPr wrap="square" rtlCol="0" anchor="ctr"/>
          <a:lstStyle/>
          <a:p>
            <a:pPr indent="0" marL="0">
              <a:buNone/>
            </a:pPr>
            <a:r>
              <a:rPr lang="en-US" sz="1080" dirty="0">
                <a:solidFill>
                  <a:srgbClr val="22313F"/>
                </a:solidFill>
                <a:latin typeface="Calibri" pitchFamily="34" charset="0"/>
                <a:ea typeface="Calibri" pitchFamily="34" charset="-122"/>
                <a:cs typeface="Calibri" pitchFamily="34" charset="-120"/>
              </a:rPr>
              <a:t>The standard in practice — balances speed and stability.</a:t>
            </a:r>
            <a:endParaRPr lang="en-US" sz="1080" dirty="0"/>
          </a:p>
        </p:txBody>
      </p:sp>
      <p:pic>
        <p:nvPicPr>
          <p:cNvPr id="16" name="Image 0" descr="/home/claude/work/plots/learning_rate.png">    </p:cNvPr>
          <p:cNvPicPr>
            <a:picLocks noChangeAspect="1"/>
          </p:cNvPicPr>
          <p:nvPr/>
        </p:nvPicPr>
        <p:blipFill>
          <a:blip r:embed="rId1"/>
          <a:stretch>
            <a:fillRect/>
          </a:stretch>
        </p:blipFill>
        <p:spPr>
          <a:xfrm>
            <a:off x="1593166" y="4000500"/>
            <a:ext cx="3305908" cy="2148840"/>
          </a:xfrm>
          <a:prstGeom prst="rect">
            <a:avLst/>
          </a:prstGeom>
        </p:spPr>
      </p:pic>
      <p:sp>
        <p:nvSpPr>
          <p:cNvPr id="17" name="Shape 14"/>
          <p:cNvSpPr/>
          <p:nvPr/>
        </p:nvSpPr>
        <p:spPr>
          <a:xfrm>
            <a:off x="6355080" y="3749040"/>
            <a:ext cx="5257800" cy="2743200"/>
          </a:xfrm>
          <a:prstGeom prst="roundRect">
            <a:avLst>
              <a:gd name="adj" fmla="val 2667"/>
            </a:avLst>
          </a:prstGeom>
          <a:solidFill>
            <a:srgbClr val="EFF4F8"/>
          </a:solidFill>
          <a:ln w="12700">
            <a:solidFill>
              <a:srgbClr val="D9E3EC"/>
            </a:solidFill>
            <a:prstDash val="solid"/>
          </a:ln>
        </p:spPr>
      </p:sp>
      <p:sp>
        <p:nvSpPr>
          <p:cNvPr id="18" name="Text 15"/>
          <p:cNvSpPr/>
          <p:nvPr/>
        </p:nvSpPr>
        <p:spPr>
          <a:xfrm>
            <a:off x="6583680" y="3886200"/>
            <a:ext cx="4754880" cy="320040"/>
          </a:xfrm>
          <a:prstGeom prst="rect">
            <a:avLst/>
          </a:prstGeom>
          <a:noFill/>
          <a:ln/>
        </p:spPr>
        <p:txBody>
          <a:bodyPr wrap="square" rtlCol="0" anchor="ctr"/>
          <a:lstStyle/>
          <a:p>
            <a:pPr indent="0" marL="0">
              <a:buNone/>
            </a:pPr>
            <a:r>
              <a:rPr lang="en-US" sz="1450" b="1" dirty="0">
                <a:solidFill>
                  <a:srgbClr val="10375C"/>
                </a:solidFill>
                <a:latin typeface="Cambria" pitchFamily="34" charset="0"/>
                <a:ea typeface="Cambria" pitchFamily="34" charset="-122"/>
                <a:cs typeface="Cambria" pitchFamily="34" charset="-120"/>
              </a:rPr>
              <a:t>Choosing a learning rate</a:t>
            </a:r>
            <a:endParaRPr lang="en-US" sz="1450" dirty="0"/>
          </a:p>
        </p:txBody>
      </p:sp>
      <p:sp>
        <p:nvSpPr>
          <p:cNvPr id="19" name="Text 16"/>
          <p:cNvSpPr/>
          <p:nvPr/>
        </p:nvSpPr>
        <p:spPr>
          <a:xfrm>
            <a:off x="6583680" y="4297680"/>
            <a:ext cx="4846320" cy="457200"/>
          </a:xfrm>
          <a:prstGeom prst="rect">
            <a:avLst/>
          </a:prstGeom>
          <a:noFill/>
          <a:ln/>
        </p:spPr>
        <p:txBody>
          <a:bodyPr wrap="square" rtlCol="0" anchor="ctr"/>
          <a:lstStyle/>
          <a:p>
            <a:pPr indent="0" marL="0">
              <a:buNone/>
            </a:pPr>
            <a:r>
              <a:rPr lang="en-US" sz="1080" dirty="0">
                <a:solidFill>
                  <a:srgbClr val="22313F"/>
                </a:solidFill>
                <a:latin typeface="Calibri" pitchFamily="34" charset="0"/>
                <a:ea typeface="Calibri" pitchFamily="34" charset="-122"/>
                <a:cs typeface="Calibri" pitchFamily="34" charset="-120"/>
              </a:rPr>
              <a:t>•  Start with values like 0.3, 0.1, 0.03, 0.01 … and observe J(θ) vs iteration.</a:t>
            </a:r>
            <a:endParaRPr lang="en-US" sz="1080" dirty="0"/>
          </a:p>
        </p:txBody>
      </p:sp>
      <p:sp>
        <p:nvSpPr>
          <p:cNvPr id="20" name="Text 17"/>
          <p:cNvSpPr/>
          <p:nvPr/>
        </p:nvSpPr>
        <p:spPr>
          <a:xfrm>
            <a:off x="6583680" y="4782312"/>
            <a:ext cx="4846320" cy="457200"/>
          </a:xfrm>
          <a:prstGeom prst="rect">
            <a:avLst/>
          </a:prstGeom>
          <a:noFill/>
          <a:ln/>
        </p:spPr>
        <p:txBody>
          <a:bodyPr wrap="square" rtlCol="0" anchor="ctr"/>
          <a:lstStyle/>
          <a:p>
            <a:pPr indent="0" marL="0">
              <a:buNone/>
            </a:pPr>
            <a:r>
              <a:rPr lang="en-US" sz="1080" dirty="0">
                <a:solidFill>
                  <a:srgbClr val="22313F"/>
                </a:solidFill>
                <a:latin typeface="Calibri" pitchFamily="34" charset="0"/>
                <a:ea typeface="Calibri" pitchFamily="34" charset="-122"/>
                <a:cs typeface="Calibri" pitchFamily="34" charset="-120"/>
              </a:rPr>
              <a:t>•  J(θ) should decrease every iteration for batch GD — if it increases, α is too large.</a:t>
            </a:r>
            <a:endParaRPr lang="en-US" sz="1080" dirty="0"/>
          </a:p>
        </p:txBody>
      </p:sp>
      <p:sp>
        <p:nvSpPr>
          <p:cNvPr id="21" name="Text 18"/>
          <p:cNvSpPr/>
          <p:nvPr/>
        </p:nvSpPr>
        <p:spPr>
          <a:xfrm>
            <a:off x="6583680" y="5266944"/>
            <a:ext cx="4846320" cy="457200"/>
          </a:xfrm>
          <a:prstGeom prst="rect">
            <a:avLst/>
          </a:prstGeom>
          <a:noFill/>
          <a:ln/>
        </p:spPr>
        <p:txBody>
          <a:bodyPr wrap="square" rtlCol="0" anchor="ctr"/>
          <a:lstStyle/>
          <a:p>
            <a:pPr indent="0" marL="0">
              <a:buNone/>
            </a:pPr>
            <a:r>
              <a:rPr lang="en-US" sz="1080" dirty="0">
                <a:solidFill>
                  <a:srgbClr val="22313F"/>
                </a:solidFill>
                <a:latin typeface="Calibri" pitchFamily="34" charset="0"/>
                <a:ea typeface="Calibri" pitchFamily="34" charset="-122"/>
                <a:cs typeface="Calibri" pitchFamily="34" charset="-120"/>
              </a:rPr>
              <a:t>•  Use a learning-rate schedule (decay α over time) for SGD / mini-batch to settle near the true minimum.</a:t>
            </a:r>
            <a:endParaRPr lang="en-US" sz="1080" dirty="0"/>
          </a:p>
        </p:txBody>
      </p:sp>
      <p:sp>
        <p:nvSpPr>
          <p:cNvPr id="22" name="Text 19"/>
          <p:cNvSpPr/>
          <p:nvPr/>
        </p:nvSpPr>
        <p:spPr>
          <a:xfrm>
            <a:off x="6583680" y="5751576"/>
            <a:ext cx="4846320" cy="457200"/>
          </a:xfrm>
          <a:prstGeom prst="rect">
            <a:avLst/>
          </a:prstGeom>
          <a:noFill/>
          <a:ln/>
        </p:spPr>
        <p:txBody>
          <a:bodyPr wrap="square" rtlCol="0" anchor="ctr"/>
          <a:lstStyle/>
          <a:p>
            <a:pPr indent="0" marL="0">
              <a:buNone/>
            </a:pPr>
            <a:r>
              <a:rPr lang="en-US" sz="1080" dirty="0">
                <a:solidFill>
                  <a:srgbClr val="22313F"/>
                </a:solidFill>
                <a:latin typeface="Calibri" pitchFamily="34" charset="0"/>
                <a:ea typeface="Calibri" pitchFamily="34" charset="-122"/>
                <a:cs typeface="Calibri" pitchFamily="34" charset="-120"/>
              </a:rPr>
              <a:t>•  Adaptive optimizers (Adam, RMSProp, Adagrad) automate this — covered in the CNN/RNN weeks.</a:t>
            </a:r>
            <a:endParaRPr lang="en-US" sz="1080" dirty="0"/>
          </a:p>
        </p:txBody>
      </p:sp>
      <p:sp>
        <p:nvSpPr>
          <p:cNvPr id="23" name="Text 20"/>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8A97A5"/>
                </a:solidFill>
                <a:latin typeface="Calibri" pitchFamily="34" charset="0"/>
                <a:ea typeface="Calibri" pitchFamily="34" charset="-122"/>
                <a:cs typeface="Calibri" pitchFamily="34" charset="-120"/>
              </a:rPr>
              <a:t>Linear &amp; Logistic Regression</a:t>
            </a:r>
            <a:endParaRPr lang="en-US" sz="900" dirty="0"/>
          </a:p>
        </p:txBody>
      </p:sp>
      <p:sp>
        <p:nvSpPr>
          <p:cNvPr id="24" name="Text 21"/>
          <p:cNvSpPr/>
          <p:nvPr/>
        </p:nvSpPr>
        <p:spPr>
          <a:xfrm>
            <a:off x="11368735" y="6547104"/>
            <a:ext cx="457200" cy="256032"/>
          </a:xfrm>
          <a:prstGeom prst="rect">
            <a:avLst/>
          </a:prstGeom>
          <a:noFill/>
          <a:ln/>
        </p:spPr>
        <p:txBody>
          <a:bodyPr wrap="square"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1.13  REGULARIZATION</a:t>
            </a:r>
            <a:endParaRPr lang="en-US" sz="1300" dirty="0"/>
          </a:p>
        </p:txBody>
      </p:sp>
      <p:sp>
        <p:nvSpPr>
          <p:cNvPr id="3" name="Text 1"/>
          <p:cNvSpPr/>
          <p:nvPr/>
        </p:nvSpPr>
        <p:spPr>
          <a:xfrm>
            <a:off x="548640" y="658368"/>
            <a:ext cx="10607040" cy="777240"/>
          </a:xfrm>
          <a:prstGeom prst="rect">
            <a:avLst/>
          </a:prstGeom>
          <a:noFill/>
          <a:ln/>
        </p:spPr>
        <p:txBody>
          <a:bodyPr wrap="square" rtlCol="0" anchor="ctr"/>
          <a:lstStyle/>
          <a:p>
            <a:pPr indent="0" marL="0">
              <a:buNone/>
            </a:pPr>
            <a:r>
              <a:rPr lang="en-US" sz="3000" b="1" dirty="0">
                <a:solidFill>
                  <a:srgbClr val="10375C"/>
                </a:solidFill>
                <a:latin typeface="Cambria" pitchFamily="34" charset="0"/>
                <a:ea typeface="Cambria" pitchFamily="34" charset="-122"/>
                <a:cs typeface="Cambria" pitchFamily="34" charset="-120"/>
              </a:rPr>
              <a:t>Ridge Regression (L2 Penalty)</a:t>
            </a:r>
            <a:endParaRPr lang="en-US" sz="3000" dirty="0"/>
          </a:p>
        </p:txBody>
      </p:sp>
      <p:sp>
        <p:nvSpPr>
          <p:cNvPr id="4" name="Text 2"/>
          <p:cNvSpPr/>
          <p:nvPr/>
        </p:nvSpPr>
        <p:spPr>
          <a:xfrm>
            <a:off x="548640" y="1417320"/>
            <a:ext cx="6309360" cy="411480"/>
          </a:xfrm>
          <a:prstGeom prst="rect">
            <a:avLst/>
          </a:prstGeom>
          <a:noFill/>
          <a:ln/>
        </p:spPr>
        <p:txBody>
          <a:bodyPr wrap="square" rtlCol="0" anchor="ctr"/>
          <a:lstStyle/>
          <a:p>
            <a:pPr indent="0" marL="0">
              <a:buNone/>
            </a:pPr>
            <a:r>
              <a:rPr lang="en-US" sz="1300" dirty="0">
                <a:solidFill>
                  <a:srgbClr val="22313F"/>
                </a:solidFill>
                <a:latin typeface="Calibri" pitchFamily="34" charset="0"/>
                <a:ea typeface="Calibri" pitchFamily="34" charset="-122"/>
                <a:cs typeface="Calibri" pitchFamily="34" charset="-120"/>
              </a:rPr>
              <a:t>Ridge adds a penalty on the squared magnitude of the weights to the cost function:</a:t>
            </a:r>
            <a:endParaRPr lang="en-US" sz="1300" dirty="0"/>
          </a:p>
        </p:txBody>
      </p:sp>
      <p:sp>
        <p:nvSpPr>
          <p:cNvPr id="5" name="Shape 3"/>
          <p:cNvSpPr/>
          <p:nvPr/>
        </p:nvSpPr>
        <p:spPr>
          <a:xfrm>
            <a:off x="548640" y="1874520"/>
            <a:ext cx="6309360" cy="1097280"/>
          </a:xfrm>
          <a:prstGeom prst="roundRect">
            <a:avLst>
              <a:gd name="adj" fmla="val 6667"/>
            </a:avLst>
          </a:prstGeom>
          <a:solidFill>
            <a:srgbClr val="EFF4F8"/>
          </a:solidFill>
          <a:ln w="12700">
            <a:solidFill>
              <a:srgbClr val="D9E3EC"/>
            </a:solidFill>
            <a:prstDash val="solid"/>
          </a:ln>
        </p:spPr>
      </p:sp>
      <p:pic>
        <p:nvPicPr>
          <p:cNvPr id="6" name="Image 0" descr="/home/claude/work/equations/lr_ridge_cost.png">    </p:cNvPr>
          <p:cNvPicPr>
            <a:picLocks noChangeAspect="1"/>
          </p:cNvPicPr>
          <p:nvPr/>
        </p:nvPicPr>
        <p:blipFill>
          <a:blip r:embed="rId1"/>
          <a:stretch>
            <a:fillRect/>
          </a:stretch>
        </p:blipFill>
        <p:spPr>
          <a:xfrm>
            <a:off x="1387730" y="2011680"/>
            <a:ext cx="4631181" cy="822960"/>
          </a:xfrm>
          <a:prstGeom prst="rect">
            <a:avLst/>
          </a:prstGeom>
        </p:spPr>
      </p:pic>
      <p:sp>
        <p:nvSpPr>
          <p:cNvPr id="7" name="Text 4"/>
          <p:cNvSpPr/>
          <p:nvPr/>
        </p:nvSpPr>
        <p:spPr>
          <a:xfrm>
            <a:off x="548640" y="3108960"/>
            <a:ext cx="6309360" cy="320040"/>
          </a:xfrm>
          <a:prstGeom prst="rect">
            <a:avLst/>
          </a:prstGeom>
          <a:noFill/>
          <a:ln/>
        </p:spPr>
        <p:txBody>
          <a:bodyPr wrap="square" rtlCol="0" anchor="ctr"/>
          <a:lstStyle/>
          <a:p>
            <a:pPr indent="0" marL="0">
              <a:buNone/>
            </a:pPr>
            <a:r>
              <a:rPr lang="en-US" sz="1250" dirty="0">
                <a:solidFill>
                  <a:srgbClr val="22313F"/>
                </a:solidFill>
                <a:latin typeface="Calibri" pitchFamily="34" charset="0"/>
                <a:ea typeface="Calibri" pitchFamily="34" charset="-122"/>
                <a:cs typeface="Calibri" pitchFamily="34" charset="-120"/>
              </a:rPr>
              <a:t>This has a modified closed-form solution:</a:t>
            </a:r>
            <a:endParaRPr lang="en-US" sz="1250" dirty="0"/>
          </a:p>
        </p:txBody>
      </p:sp>
      <p:sp>
        <p:nvSpPr>
          <p:cNvPr id="8" name="Shape 5"/>
          <p:cNvSpPr/>
          <p:nvPr/>
        </p:nvSpPr>
        <p:spPr>
          <a:xfrm>
            <a:off x="548640" y="3429000"/>
            <a:ext cx="6309360" cy="777240"/>
          </a:xfrm>
          <a:prstGeom prst="roundRect">
            <a:avLst>
              <a:gd name="adj" fmla="val 9412"/>
            </a:avLst>
          </a:prstGeom>
          <a:solidFill>
            <a:srgbClr val="10375C"/>
          </a:solidFill>
          <a:ln w="12700">
            <a:solidFill>
              <a:srgbClr val="10375C"/>
            </a:solidFill>
            <a:prstDash val="solid"/>
          </a:ln>
        </p:spPr>
      </p:sp>
      <p:pic>
        <p:nvPicPr>
          <p:cNvPr id="9" name="Image 1" descr="/home/claude/work/equations/lr_ridge_closed_white.png">    </p:cNvPr>
          <p:cNvPicPr>
            <a:picLocks noChangeAspect="1"/>
          </p:cNvPicPr>
          <p:nvPr/>
        </p:nvPicPr>
        <p:blipFill>
          <a:blip r:embed="rId2"/>
          <a:stretch>
            <a:fillRect/>
          </a:stretch>
        </p:blipFill>
        <p:spPr>
          <a:xfrm>
            <a:off x="1881051" y="3543300"/>
            <a:ext cx="3644537" cy="548640"/>
          </a:xfrm>
          <a:prstGeom prst="rect">
            <a:avLst/>
          </a:prstGeom>
        </p:spPr>
      </p:pic>
      <p:sp>
        <p:nvSpPr>
          <p:cNvPr id="10" name="Text 6"/>
          <p:cNvSpPr/>
          <p:nvPr/>
        </p:nvSpPr>
        <p:spPr>
          <a:xfrm>
            <a:off x="548640" y="4251960"/>
            <a:ext cx="6309360" cy="320040"/>
          </a:xfrm>
          <a:prstGeom prst="rect">
            <a:avLst/>
          </a:prstGeom>
          <a:noFill/>
          <a:ln/>
        </p:spPr>
        <p:txBody>
          <a:bodyPr wrap="square" rtlCol="0" anchor="ctr"/>
          <a:lstStyle/>
          <a:p>
            <a:pPr indent="0" marL="0">
              <a:buNone/>
            </a:pPr>
            <a:r>
              <a:rPr lang="en-US" sz="1000" i="1" dirty="0">
                <a:solidFill>
                  <a:srgbClr val="8A97A5"/>
                </a:solidFill>
                <a:latin typeface="Calibri" pitchFamily="34" charset="0"/>
                <a:ea typeface="Calibri" pitchFamily="34" charset="-122"/>
                <a:cs typeface="Calibri" pitchFamily="34" charset="-120"/>
              </a:rPr>
              <a:t>(I' is the identity matrix with a 0 in the top-left, since we typically don't regularize the bias θ₀)</a:t>
            </a:r>
            <a:endParaRPr lang="en-US" sz="1000" dirty="0"/>
          </a:p>
        </p:txBody>
      </p:sp>
      <p:sp>
        <p:nvSpPr>
          <p:cNvPr id="11" name="Shape 7"/>
          <p:cNvSpPr/>
          <p:nvPr/>
        </p:nvSpPr>
        <p:spPr>
          <a:xfrm>
            <a:off x="548640" y="4764024"/>
            <a:ext cx="82296" cy="82296"/>
          </a:xfrm>
          <a:prstGeom prst="ellipse">
            <a:avLst/>
          </a:prstGeom>
          <a:solidFill>
            <a:srgbClr val="F2A541"/>
          </a:solidFill>
          <a:ln w="12700">
            <a:solidFill>
              <a:srgbClr val="333333"/>
            </a:solidFill>
            <a:prstDash val="solid"/>
          </a:ln>
        </p:spPr>
      </p:sp>
      <p:sp>
        <p:nvSpPr>
          <p:cNvPr id="12" name="Text 8"/>
          <p:cNvSpPr/>
          <p:nvPr/>
        </p:nvSpPr>
        <p:spPr>
          <a:xfrm>
            <a:off x="777240" y="4709160"/>
            <a:ext cx="6126480" cy="457200"/>
          </a:xfrm>
          <a:prstGeom prst="rect">
            <a:avLst/>
          </a:prstGeom>
          <a:noFill/>
          <a:ln/>
        </p:spPr>
        <p:txBody>
          <a:bodyPr wrap="square" rtlCol="0" anchor="ctr"/>
          <a:lstStyle/>
          <a:p>
            <a:pPr indent="0" marL="0">
              <a:buNone/>
            </a:pPr>
            <a:r>
              <a:rPr lang="en-US" sz="1080" dirty="0">
                <a:solidFill>
                  <a:srgbClr val="22313F"/>
                </a:solidFill>
                <a:latin typeface="Calibri" pitchFamily="34" charset="0"/>
                <a:ea typeface="Calibri" pitchFamily="34" charset="-122"/>
                <a:cs typeface="Calibri" pitchFamily="34" charset="-120"/>
              </a:rPr>
              <a:t>λ (lambda) controls regularization strength: λ = 0 recovers ordinary least squares; large λ shrinks all θⱼ toward zero.</a:t>
            </a:r>
            <a:endParaRPr lang="en-US" sz="1080" dirty="0"/>
          </a:p>
        </p:txBody>
      </p:sp>
      <p:sp>
        <p:nvSpPr>
          <p:cNvPr id="13" name="Shape 9"/>
          <p:cNvSpPr/>
          <p:nvPr/>
        </p:nvSpPr>
        <p:spPr>
          <a:xfrm>
            <a:off x="548640" y="5221224"/>
            <a:ext cx="82296" cy="82296"/>
          </a:xfrm>
          <a:prstGeom prst="ellipse">
            <a:avLst/>
          </a:prstGeom>
          <a:solidFill>
            <a:srgbClr val="F2A541"/>
          </a:solidFill>
          <a:ln w="12700">
            <a:solidFill>
              <a:srgbClr val="333333"/>
            </a:solidFill>
            <a:prstDash val="solid"/>
          </a:ln>
        </p:spPr>
      </p:sp>
      <p:sp>
        <p:nvSpPr>
          <p:cNvPr id="14" name="Text 10"/>
          <p:cNvSpPr/>
          <p:nvPr/>
        </p:nvSpPr>
        <p:spPr>
          <a:xfrm>
            <a:off x="777240" y="5166360"/>
            <a:ext cx="6126480" cy="457200"/>
          </a:xfrm>
          <a:prstGeom prst="rect">
            <a:avLst/>
          </a:prstGeom>
          <a:noFill/>
          <a:ln/>
        </p:spPr>
        <p:txBody>
          <a:bodyPr wrap="square" rtlCol="0" anchor="ctr"/>
          <a:lstStyle/>
          <a:p>
            <a:pPr indent="0" marL="0">
              <a:buNone/>
            </a:pPr>
            <a:r>
              <a:rPr lang="en-US" sz="1080" dirty="0">
                <a:solidFill>
                  <a:srgbClr val="22313F"/>
                </a:solidFill>
                <a:latin typeface="Calibri" pitchFamily="34" charset="0"/>
                <a:ea typeface="Calibri" pitchFamily="34" charset="-122"/>
                <a:cs typeface="Calibri" pitchFamily="34" charset="-120"/>
              </a:rPr>
              <a:t>Shrinking weights reduces variance (overfitting) at the cost of a little bias — the classic bias-variance trade-off.</a:t>
            </a:r>
            <a:endParaRPr lang="en-US" sz="1080" dirty="0"/>
          </a:p>
        </p:txBody>
      </p:sp>
      <p:sp>
        <p:nvSpPr>
          <p:cNvPr id="15" name="Shape 11"/>
          <p:cNvSpPr/>
          <p:nvPr/>
        </p:nvSpPr>
        <p:spPr>
          <a:xfrm>
            <a:off x="548640" y="5678424"/>
            <a:ext cx="82296" cy="82296"/>
          </a:xfrm>
          <a:prstGeom prst="ellipse">
            <a:avLst/>
          </a:prstGeom>
          <a:solidFill>
            <a:srgbClr val="F2A541"/>
          </a:solidFill>
          <a:ln w="12700">
            <a:solidFill>
              <a:srgbClr val="333333"/>
            </a:solidFill>
            <a:prstDash val="solid"/>
          </a:ln>
        </p:spPr>
      </p:sp>
      <p:sp>
        <p:nvSpPr>
          <p:cNvPr id="16" name="Text 12"/>
          <p:cNvSpPr/>
          <p:nvPr/>
        </p:nvSpPr>
        <p:spPr>
          <a:xfrm>
            <a:off x="777240" y="5623560"/>
            <a:ext cx="6126480" cy="457200"/>
          </a:xfrm>
          <a:prstGeom prst="rect">
            <a:avLst/>
          </a:prstGeom>
          <a:noFill/>
          <a:ln/>
        </p:spPr>
        <p:txBody>
          <a:bodyPr wrap="square" rtlCol="0" anchor="ctr"/>
          <a:lstStyle/>
          <a:p>
            <a:pPr indent="0" marL="0">
              <a:buNone/>
            </a:pPr>
            <a:r>
              <a:rPr lang="en-US" sz="1080" dirty="0">
                <a:solidFill>
                  <a:srgbClr val="22313F"/>
                </a:solidFill>
                <a:latin typeface="Calibri" pitchFamily="34" charset="0"/>
                <a:ea typeface="Calibri" pitchFamily="34" charset="-122"/>
                <a:cs typeface="Calibri" pitchFamily="34" charset="-120"/>
              </a:rPr>
              <a:t>Adding λI always makes XᵀX + λI invertible — Ridge also fixes multicollinearity issues from the normal equation.</a:t>
            </a:r>
            <a:endParaRPr lang="en-US" sz="1080" dirty="0"/>
          </a:p>
        </p:txBody>
      </p:sp>
      <p:pic>
        <p:nvPicPr>
          <p:cNvPr id="17" name="Image 2" descr="/home/claude/work/plots/ridge_vs_lasso.png">    </p:cNvPr>
          <p:cNvPicPr>
            <a:picLocks noChangeAspect="1"/>
          </p:cNvPicPr>
          <p:nvPr/>
        </p:nvPicPr>
        <p:blipFill>
          <a:blip r:embed="rId3"/>
          <a:stretch>
            <a:fillRect/>
          </a:stretch>
        </p:blipFill>
        <p:spPr>
          <a:xfrm>
            <a:off x="6858000" y="2719137"/>
            <a:ext cx="5120640" cy="2425566"/>
          </a:xfrm>
          <a:prstGeom prst="rect">
            <a:avLst/>
          </a:prstGeom>
        </p:spPr>
      </p:pic>
      <p:sp>
        <p:nvSpPr>
          <p:cNvPr id="18" name="Text 13"/>
          <p:cNvSpPr/>
          <p:nvPr/>
        </p:nvSpPr>
        <p:spPr>
          <a:xfrm>
            <a:off x="7040880" y="5577840"/>
            <a:ext cx="4846320" cy="274320"/>
          </a:xfrm>
          <a:prstGeom prst="rect">
            <a:avLst/>
          </a:prstGeom>
          <a:noFill/>
          <a:ln/>
        </p:spPr>
        <p:txBody>
          <a:bodyPr wrap="square" rtlCol="0" anchor="ctr"/>
          <a:lstStyle/>
          <a:p>
            <a:pPr algn="ctr" indent="0" marL="0">
              <a:buNone/>
            </a:pPr>
            <a:r>
              <a:rPr lang="en-US" sz="1000" i="1" dirty="0">
                <a:solidFill>
                  <a:srgbClr val="8A97A5"/>
                </a:solidFill>
                <a:latin typeface="Calibri" pitchFamily="34" charset="0"/>
                <a:ea typeface="Calibri" pitchFamily="34" charset="-122"/>
                <a:cs typeface="Calibri" pitchFamily="34" charset="-120"/>
              </a:rPr>
              <a:t>Preview: constraint regions for Ridge vs Lasso (next slide)</a:t>
            </a:r>
            <a:endParaRPr lang="en-US" sz="1000" dirty="0"/>
          </a:p>
        </p:txBody>
      </p:sp>
      <p:sp>
        <p:nvSpPr>
          <p:cNvPr id="19" name="Text 14"/>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8A97A5"/>
                </a:solidFill>
                <a:latin typeface="Calibri" pitchFamily="34" charset="0"/>
                <a:ea typeface="Calibri" pitchFamily="34" charset="-122"/>
                <a:cs typeface="Calibri" pitchFamily="34" charset="-120"/>
              </a:rPr>
              <a:t>Linear &amp; Logistic Regression</a:t>
            </a:r>
            <a:endParaRPr lang="en-US" sz="900" dirty="0"/>
          </a:p>
        </p:txBody>
      </p:sp>
      <p:sp>
        <p:nvSpPr>
          <p:cNvPr id="20" name="Text 15"/>
          <p:cNvSpPr/>
          <p:nvPr/>
        </p:nvSpPr>
        <p:spPr>
          <a:xfrm>
            <a:off x="11368735" y="6547104"/>
            <a:ext cx="457200" cy="256032"/>
          </a:xfrm>
          <a:prstGeom prst="rect">
            <a:avLst/>
          </a:prstGeom>
          <a:noFill/>
          <a:ln/>
        </p:spPr>
        <p:txBody>
          <a:bodyPr wrap="square"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1.14  REGULARIZATION, CONTINUED</a:t>
            </a:r>
            <a:endParaRPr lang="en-US" sz="1300" dirty="0"/>
          </a:p>
        </p:txBody>
      </p:sp>
      <p:sp>
        <p:nvSpPr>
          <p:cNvPr id="3" name="Text 1"/>
          <p:cNvSpPr/>
          <p:nvPr/>
        </p:nvSpPr>
        <p:spPr>
          <a:xfrm>
            <a:off x="548640" y="658368"/>
            <a:ext cx="10607040" cy="777240"/>
          </a:xfrm>
          <a:prstGeom prst="rect">
            <a:avLst/>
          </a:prstGeom>
          <a:noFill/>
          <a:ln/>
        </p:spPr>
        <p:txBody>
          <a:bodyPr wrap="square" rtlCol="0" anchor="ctr"/>
          <a:lstStyle/>
          <a:p>
            <a:pPr indent="0" marL="0">
              <a:buNone/>
            </a:pPr>
            <a:r>
              <a:rPr lang="en-US" sz="3000" b="1" dirty="0">
                <a:solidFill>
                  <a:srgbClr val="10375C"/>
                </a:solidFill>
                <a:latin typeface="Cambria" pitchFamily="34" charset="0"/>
                <a:ea typeface="Cambria" pitchFamily="34" charset="-122"/>
                <a:cs typeface="Cambria" pitchFamily="34" charset="-120"/>
              </a:rPr>
              <a:t>Lasso (L1) &amp; Elastic Net</a:t>
            </a:r>
            <a:endParaRPr lang="en-US" sz="3000" dirty="0"/>
          </a:p>
        </p:txBody>
      </p:sp>
      <p:sp>
        <p:nvSpPr>
          <p:cNvPr id="4" name="Text 2"/>
          <p:cNvSpPr/>
          <p:nvPr/>
        </p:nvSpPr>
        <p:spPr>
          <a:xfrm>
            <a:off x="548640" y="1417320"/>
            <a:ext cx="10698480" cy="365760"/>
          </a:xfrm>
          <a:prstGeom prst="rect">
            <a:avLst/>
          </a:prstGeom>
          <a:noFill/>
          <a:ln/>
        </p:spPr>
        <p:txBody>
          <a:bodyPr wrap="square" rtlCol="0" anchor="ctr"/>
          <a:lstStyle/>
          <a:p>
            <a:pPr indent="0" marL="0">
              <a:buNone/>
            </a:pPr>
            <a:r>
              <a:rPr lang="en-US" sz="1300" dirty="0">
                <a:solidFill>
                  <a:srgbClr val="22313F"/>
                </a:solidFill>
                <a:latin typeface="Calibri" pitchFamily="34" charset="0"/>
                <a:ea typeface="Calibri" pitchFamily="34" charset="-122"/>
                <a:cs typeface="Calibri" pitchFamily="34" charset="-120"/>
              </a:rPr>
              <a:t>Lasso penalizes the absolute value of the weights instead of their square:</a:t>
            </a:r>
            <a:endParaRPr lang="en-US" sz="1300" dirty="0"/>
          </a:p>
        </p:txBody>
      </p:sp>
      <p:sp>
        <p:nvSpPr>
          <p:cNvPr id="5" name="Shape 3"/>
          <p:cNvSpPr/>
          <p:nvPr/>
        </p:nvSpPr>
        <p:spPr>
          <a:xfrm>
            <a:off x="548640" y="1828800"/>
            <a:ext cx="11064240" cy="1097280"/>
          </a:xfrm>
          <a:prstGeom prst="roundRect">
            <a:avLst>
              <a:gd name="adj" fmla="val 6667"/>
            </a:avLst>
          </a:prstGeom>
          <a:solidFill>
            <a:srgbClr val="EFF4F8"/>
          </a:solidFill>
          <a:ln w="12700">
            <a:solidFill>
              <a:srgbClr val="D9E3EC"/>
            </a:solidFill>
            <a:prstDash val="solid"/>
          </a:ln>
        </p:spPr>
      </p:sp>
      <p:pic>
        <p:nvPicPr>
          <p:cNvPr id="6" name="Image 0" descr="/home/claude/work/equations/lr_lasso_cost.png">    </p:cNvPr>
          <p:cNvPicPr>
            <a:picLocks noChangeAspect="1"/>
          </p:cNvPicPr>
          <p:nvPr/>
        </p:nvPicPr>
        <p:blipFill>
          <a:blip r:embed="rId1"/>
          <a:stretch>
            <a:fillRect/>
          </a:stretch>
        </p:blipFill>
        <p:spPr>
          <a:xfrm>
            <a:off x="3716635" y="1965960"/>
            <a:ext cx="4728250" cy="822960"/>
          </a:xfrm>
          <a:prstGeom prst="rect">
            <a:avLst/>
          </a:prstGeom>
        </p:spPr>
      </p:pic>
      <p:sp>
        <p:nvSpPr>
          <p:cNvPr id="7" name="Shape 4"/>
          <p:cNvSpPr/>
          <p:nvPr/>
        </p:nvSpPr>
        <p:spPr>
          <a:xfrm>
            <a:off x="548640" y="3154680"/>
            <a:ext cx="5349240" cy="1828800"/>
          </a:xfrm>
          <a:prstGeom prst="roundRect">
            <a:avLst>
              <a:gd name="adj" fmla="val 4000"/>
            </a:avLst>
          </a:prstGeom>
          <a:solidFill>
            <a:srgbClr val="EFF4F8"/>
          </a:solidFill>
          <a:ln w="12700">
            <a:solidFill>
              <a:srgbClr val="D9E3EC"/>
            </a:solidFill>
            <a:prstDash val="solid"/>
          </a:ln>
        </p:spPr>
      </p:sp>
      <p:sp>
        <p:nvSpPr>
          <p:cNvPr id="8" name="Text 5"/>
          <p:cNvSpPr/>
          <p:nvPr/>
        </p:nvSpPr>
        <p:spPr>
          <a:xfrm>
            <a:off x="731520" y="3273552"/>
            <a:ext cx="4983480" cy="329184"/>
          </a:xfrm>
          <a:prstGeom prst="rect">
            <a:avLst/>
          </a:prstGeom>
          <a:noFill/>
          <a:ln/>
        </p:spPr>
        <p:txBody>
          <a:bodyPr wrap="square" rtlCol="0" anchor="ctr"/>
          <a:lstStyle/>
          <a:p>
            <a:pPr indent="0" marL="0">
              <a:buNone/>
            </a:pPr>
            <a:r>
              <a:rPr lang="en-US" sz="1500" b="1" dirty="0">
                <a:solidFill>
                  <a:srgbClr val="10375C"/>
                </a:solidFill>
                <a:latin typeface="Cambria" pitchFamily="34" charset="0"/>
                <a:ea typeface="Cambria" pitchFamily="34" charset="-122"/>
                <a:cs typeface="Cambria" pitchFamily="34" charset="-120"/>
              </a:rPr>
              <a:t>Ridge (L2)</a:t>
            </a:r>
            <a:endParaRPr lang="en-US" sz="1500" dirty="0"/>
          </a:p>
        </p:txBody>
      </p:sp>
      <p:sp>
        <p:nvSpPr>
          <p:cNvPr id="9" name="Text 6"/>
          <p:cNvSpPr/>
          <p:nvPr/>
        </p:nvSpPr>
        <p:spPr>
          <a:xfrm>
            <a:off x="731520" y="3639312"/>
            <a:ext cx="4983480" cy="548640"/>
          </a:xfrm>
          <a:prstGeom prst="rect">
            <a:avLst/>
          </a:prstGeom>
          <a:noFill/>
          <a:ln/>
        </p:spPr>
        <p:txBody>
          <a:bodyPr wrap="square" rtlCol="0" anchor="ctr"/>
          <a:lstStyle/>
          <a:p>
            <a:pPr indent="0" marL="0">
              <a:buNone/>
            </a:pPr>
            <a:r>
              <a:rPr lang="en-US" sz="1150" dirty="0">
                <a:solidFill>
                  <a:srgbClr val="22313F"/>
                </a:solidFill>
                <a:latin typeface="Calibri" pitchFamily="34" charset="0"/>
                <a:ea typeface="Calibri" pitchFamily="34" charset="-122"/>
                <a:cs typeface="Calibri" pitchFamily="34" charset="-120"/>
              </a:rPr>
              <a:t>Shrinks coefficients smoothly toward zero, rarely exactly zero.</a:t>
            </a:r>
            <a:endParaRPr lang="en-US" sz="1150" dirty="0"/>
          </a:p>
        </p:txBody>
      </p:sp>
      <p:sp>
        <p:nvSpPr>
          <p:cNvPr id="10" name="Text 7"/>
          <p:cNvSpPr/>
          <p:nvPr/>
        </p:nvSpPr>
        <p:spPr>
          <a:xfrm>
            <a:off x="731520" y="4224528"/>
            <a:ext cx="4983480" cy="640080"/>
          </a:xfrm>
          <a:prstGeom prst="rect">
            <a:avLst/>
          </a:prstGeom>
          <a:noFill/>
          <a:ln/>
        </p:spPr>
        <p:txBody>
          <a:bodyPr wrap="square" rtlCol="0" anchor="ctr"/>
          <a:lstStyle/>
          <a:p>
            <a:pPr indent="0" marL="0">
              <a:buNone/>
            </a:pPr>
            <a:r>
              <a:rPr lang="en-US" sz="1100" i="1" dirty="0">
                <a:solidFill>
                  <a:srgbClr val="22313F"/>
                </a:solidFill>
                <a:latin typeface="Calibri" pitchFamily="34" charset="0"/>
                <a:ea typeface="Calibri" pitchFamily="34" charset="-122"/>
                <a:cs typeface="Calibri" pitchFamily="34" charset="-120"/>
              </a:rPr>
              <a:t>Keeps all features — good when most features are somewhat useful.</a:t>
            </a:r>
            <a:endParaRPr lang="en-US" sz="1100" dirty="0"/>
          </a:p>
        </p:txBody>
      </p:sp>
      <p:sp>
        <p:nvSpPr>
          <p:cNvPr id="11" name="Shape 8"/>
          <p:cNvSpPr/>
          <p:nvPr/>
        </p:nvSpPr>
        <p:spPr>
          <a:xfrm>
            <a:off x="6263640" y="3154680"/>
            <a:ext cx="5349240" cy="1828800"/>
          </a:xfrm>
          <a:prstGeom prst="roundRect">
            <a:avLst>
              <a:gd name="adj" fmla="val 4000"/>
            </a:avLst>
          </a:prstGeom>
          <a:solidFill>
            <a:srgbClr val="EFF4F8"/>
          </a:solidFill>
          <a:ln w="12700">
            <a:solidFill>
              <a:srgbClr val="D9E3EC"/>
            </a:solidFill>
            <a:prstDash val="solid"/>
          </a:ln>
        </p:spPr>
      </p:sp>
      <p:sp>
        <p:nvSpPr>
          <p:cNvPr id="12" name="Text 9"/>
          <p:cNvSpPr/>
          <p:nvPr/>
        </p:nvSpPr>
        <p:spPr>
          <a:xfrm>
            <a:off x="6446520" y="3273552"/>
            <a:ext cx="4983480" cy="329184"/>
          </a:xfrm>
          <a:prstGeom prst="rect">
            <a:avLst/>
          </a:prstGeom>
          <a:noFill/>
          <a:ln/>
        </p:spPr>
        <p:txBody>
          <a:bodyPr wrap="square" rtlCol="0" anchor="ctr"/>
          <a:lstStyle/>
          <a:p>
            <a:pPr indent="0" marL="0">
              <a:buNone/>
            </a:pPr>
            <a:r>
              <a:rPr lang="en-US" sz="1500" b="1" dirty="0">
                <a:solidFill>
                  <a:srgbClr val="8A5A00"/>
                </a:solidFill>
                <a:latin typeface="Cambria" pitchFamily="34" charset="0"/>
                <a:ea typeface="Cambria" pitchFamily="34" charset="-122"/>
                <a:cs typeface="Cambria" pitchFamily="34" charset="-120"/>
              </a:rPr>
              <a:t>Lasso (L1)</a:t>
            </a:r>
            <a:endParaRPr lang="en-US" sz="1500" dirty="0"/>
          </a:p>
        </p:txBody>
      </p:sp>
      <p:sp>
        <p:nvSpPr>
          <p:cNvPr id="13" name="Text 10"/>
          <p:cNvSpPr/>
          <p:nvPr/>
        </p:nvSpPr>
        <p:spPr>
          <a:xfrm>
            <a:off x="6446520" y="3639312"/>
            <a:ext cx="4983480" cy="548640"/>
          </a:xfrm>
          <a:prstGeom prst="rect">
            <a:avLst/>
          </a:prstGeom>
          <a:noFill/>
          <a:ln/>
        </p:spPr>
        <p:txBody>
          <a:bodyPr wrap="square" rtlCol="0" anchor="ctr"/>
          <a:lstStyle/>
          <a:p>
            <a:pPr indent="0" marL="0">
              <a:buNone/>
            </a:pPr>
            <a:r>
              <a:rPr lang="en-US" sz="1150" dirty="0">
                <a:solidFill>
                  <a:srgbClr val="22313F"/>
                </a:solidFill>
                <a:latin typeface="Calibri" pitchFamily="34" charset="0"/>
                <a:ea typeface="Calibri" pitchFamily="34" charset="-122"/>
                <a:cs typeface="Calibri" pitchFamily="34" charset="-120"/>
              </a:rPr>
              <a:t>Can shrink coefficients to EXACTLY zero — performs feature selection.</a:t>
            </a:r>
            <a:endParaRPr lang="en-US" sz="1150" dirty="0"/>
          </a:p>
        </p:txBody>
      </p:sp>
      <p:sp>
        <p:nvSpPr>
          <p:cNvPr id="14" name="Text 11"/>
          <p:cNvSpPr/>
          <p:nvPr/>
        </p:nvSpPr>
        <p:spPr>
          <a:xfrm>
            <a:off x="6446520" y="4224528"/>
            <a:ext cx="4983480" cy="640080"/>
          </a:xfrm>
          <a:prstGeom prst="rect">
            <a:avLst/>
          </a:prstGeom>
          <a:noFill/>
          <a:ln/>
        </p:spPr>
        <p:txBody>
          <a:bodyPr wrap="square" rtlCol="0" anchor="ctr"/>
          <a:lstStyle/>
          <a:p>
            <a:pPr indent="0" marL="0">
              <a:buNone/>
            </a:pPr>
            <a:r>
              <a:rPr lang="en-US" sz="1100" i="1" dirty="0">
                <a:solidFill>
                  <a:srgbClr val="22313F"/>
                </a:solidFill>
                <a:latin typeface="Calibri" pitchFamily="34" charset="0"/>
                <a:ea typeface="Calibri" pitchFamily="34" charset="-122"/>
                <a:cs typeface="Calibri" pitchFamily="34" charset="-120"/>
              </a:rPr>
              <a:t>Good when you suspect many features are irrelevant.</a:t>
            </a:r>
            <a:endParaRPr lang="en-US" sz="1100" dirty="0"/>
          </a:p>
        </p:txBody>
      </p:sp>
      <p:sp>
        <p:nvSpPr>
          <p:cNvPr id="15" name="Shape 12"/>
          <p:cNvSpPr/>
          <p:nvPr/>
        </p:nvSpPr>
        <p:spPr>
          <a:xfrm>
            <a:off x="548640" y="5166360"/>
            <a:ext cx="11064240" cy="1051560"/>
          </a:xfrm>
          <a:prstGeom prst="roundRect">
            <a:avLst>
              <a:gd name="adj" fmla="val 6957"/>
            </a:avLst>
          </a:prstGeom>
          <a:solidFill>
            <a:srgbClr val="FDF3E3"/>
          </a:solidFill>
          <a:ln w="12700">
            <a:solidFill>
              <a:srgbClr val="F0D9A8"/>
            </a:solidFill>
            <a:prstDash val="solid"/>
          </a:ln>
        </p:spPr>
      </p:sp>
      <p:sp>
        <p:nvSpPr>
          <p:cNvPr id="16" name="Text 13"/>
          <p:cNvSpPr/>
          <p:nvPr/>
        </p:nvSpPr>
        <p:spPr>
          <a:xfrm>
            <a:off x="822960" y="5285232"/>
            <a:ext cx="3657600" cy="274320"/>
          </a:xfrm>
          <a:prstGeom prst="rect">
            <a:avLst/>
          </a:prstGeom>
          <a:noFill/>
          <a:ln/>
        </p:spPr>
        <p:txBody>
          <a:bodyPr wrap="square" rtlCol="0" anchor="ctr"/>
          <a:lstStyle/>
          <a:p>
            <a:pPr indent="0" marL="0">
              <a:buNone/>
            </a:pPr>
            <a:r>
              <a:rPr lang="en-US" sz="1200" b="1" dirty="0">
                <a:solidFill>
                  <a:srgbClr val="8A5A00"/>
                </a:solidFill>
                <a:latin typeface="Calibri" pitchFamily="34" charset="0"/>
                <a:ea typeface="Calibri" pitchFamily="34" charset="-122"/>
                <a:cs typeface="Calibri" pitchFamily="34" charset="-120"/>
              </a:rPr>
              <a:t>Elastic Net</a:t>
            </a:r>
            <a:endParaRPr lang="en-US" sz="1200" dirty="0"/>
          </a:p>
        </p:txBody>
      </p:sp>
      <p:sp>
        <p:nvSpPr>
          <p:cNvPr id="17" name="Text 14"/>
          <p:cNvSpPr/>
          <p:nvPr/>
        </p:nvSpPr>
        <p:spPr>
          <a:xfrm>
            <a:off x="822960" y="5559552"/>
            <a:ext cx="10332720" cy="548640"/>
          </a:xfrm>
          <a:prstGeom prst="rect">
            <a:avLst/>
          </a:prstGeom>
          <a:noFill/>
          <a:ln/>
        </p:spPr>
        <p:txBody>
          <a:bodyPr wrap="square" rtlCol="0" anchor="ctr"/>
          <a:lstStyle/>
          <a:p>
            <a:pPr indent="0" marL="0">
              <a:buNone/>
            </a:pPr>
            <a:r>
              <a:rPr lang="en-US" sz="1150" dirty="0">
                <a:solidFill>
                  <a:srgbClr val="22313F"/>
                </a:solidFill>
                <a:latin typeface="Calibri" pitchFamily="34" charset="0"/>
                <a:ea typeface="Calibri" pitchFamily="34" charset="-122"/>
                <a:cs typeface="Calibri" pitchFamily="34" charset="-120"/>
              </a:rPr>
              <a:t>Combines both penalties: λ₁Σ|θⱼ| + λ₂Σθⱼ² — gets Lasso's sparsity with Ridge's stability, especially useful when features are correlated.</a:t>
            </a:r>
            <a:endParaRPr lang="en-US" sz="1150" dirty="0"/>
          </a:p>
        </p:txBody>
      </p:sp>
      <p:sp>
        <p:nvSpPr>
          <p:cNvPr id="18" name="Text 15"/>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8A97A5"/>
                </a:solidFill>
                <a:latin typeface="Calibri" pitchFamily="34" charset="0"/>
                <a:ea typeface="Calibri" pitchFamily="34" charset="-122"/>
                <a:cs typeface="Calibri" pitchFamily="34" charset="-120"/>
              </a:rPr>
              <a:t>Linear &amp; Logistic Regression</a:t>
            </a:r>
            <a:endParaRPr lang="en-US" sz="900" dirty="0"/>
          </a:p>
        </p:txBody>
      </p:sp>
      <p:sp>
        <p:nvSpPr>
          <p:cNvPr id="19" name="Text 16"/>
          <p:cNvSpPr/>
          <p:nvPr/>
        </p:nvSpPr>
        <p:spPr>
          <a:xfrm>
            <a:off x="11368735" y="6547104"/>
            <a:ext cx="457200" cy="256032"/>
          </a:xfrm>
          <a:prstGeom prst="rect">
            <a:avLst/>
          </a:prstGeom>
          <a:noFill/>
          <a:ln/>
        </p:spPr>
        <p:txBody>
          <a:bodyPr wrap="square"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1.15  EVALUATION</a:t>
            </a:r>
            <a:endParaRPr lang="en-US" sz="1300" dirty="0"/>
          </a:p>
        </p:txBody>
      </p:sp>
      <p:sp>
        <p:nvSpPr>
          <p:cNvPr id="3" name="Text 1"/>
          <p:cNvSpPr/>
          <p:nvPr/>
        </p:nvSpPr>
        <p:spPr>
          <a:xfrm>
            <a:off x="548640" y="658368"/>
            <a:ext cx="10607040" cy="777240"/>
          </a:xfrm>
          <a:prstGeom prst="rect">
            <a:avLst/>
          </a:prstGeom>
          <a:noFill/>
          <a:ln/>
        </p:spPr>
        <p:txBody>
          <a:bodyPr wrap="square" rtlCol="0" anchor="ctr"/>
          <a:lstStyle/>
          <a:p>
            <a:pPr indent="0" marL="0">
              <a:buNone/>
            </a:pPr>
            <a:r>
              <a:rPr lang="en-US" sz="3000" b="1" dirty="0">
                <a:solidFill>
                  <a:srgbClr val="10375C"/>
                </a:solidFill>
                <a:latin typeface="Cambria" pitchFamily="34" charset="0"/>
                <a:ea typeface="Cambria" pitchFamily="34" charset="-122"/>
                <a:cs typeface="Cambria" pitchFamily="34" charset="-120"/>
              </a:rPr>
              <a:t>Evaluating a Regression Model</a:t>
            </a:r>
            <a:endParaRPr lang="en-US" sz="3000" dirty="0"/>
          </a:p>
        </p:txBody>
      </p:sp>
      <p:sp>
        <p:nvSpPr>
          <p:cNvPr id="4" name="Shape 2"/>
          <p:cNvSpPr/>
          <p:nvPr/>
        </p:nvSpPr>
        <p:spPr>
          <a:xfrm>
            <a:off x="548640" y="1508760"/>
            <a:ext cx="5486400" cy="1691640"/>
          </a:xfrm>
          <a:prstGeom prst="roundRect">
            <a:avLst>
              <a:gd name="adj" fmla="val 4324"/>
            </a:avLst>
          </a:prstGeom>
          <a:solidFill>
            <a:srgbClr val="EFF4F8"/>
          </a:solidFill>
          <a:ln w="12700">
            <a:solidFill>
              <a:srgbClr val="D9E3EC"/>
            </a:solidFill>
            <a:prstDash val="solid"/>
          </a:ln>
        </p:spPr>
      </p:sp>
      <p:sp>
        <p:nvSpPr>
          <p:cNvPr id="5" name="Text 3"/>
          <p:cNvSpPr/>
          <p:nvPr/>
        </p:nvSpPr>
        <p:spPr>
          <a:xfrm>
            <a:off x="777240" y="1627632"/>
            <a:ext cx="5029200" cy="292608"/>
          </a:xfrm>
          <a:prstGeom prst="rect">
            <a:avLst/>
          </a:prstGeom>
          <a:noFill/>
          <a:ln/>
        </p:spPr>
        <p:txBody>
          <a:bodyPr wrap="square" rtlCol="0" anchor="ctr"/>
          <a:lstStyle/>
          <a:p>
            <a:pPr indent="0" marL="0">
              <a:buNone/>
            </a:pPr>
            <a:r>
              <a:rPr lang="en-US" sz="1250" b="1" dirty="0">
                <a:solidFill>
                  <a:srgbClr val="10375C"/>
                </a:solidFill>
                <a:latin typeface="Calibri" pitchFamily="34" charset="0"/>
                <a:ea typeface="Calibri" pitchFamily="34" charset="-122"/>
                <a:cs typeface="Calibri" pitchFamily="34" charset="-120"/>
              </a:rPr>
              <a:t>R² — Coefficient of Determination</a:t>
            </a:r>
            <a:endParaRPr lang="en-US" sz="1250" dirty="0"/>
          </a:p>
        </p:txBody>
      </p:sp>
      <p:pic>
        <p:nvPicPr>
          <p:cNvPr id="6" name="Image 0" descr="/home/claude/work/equations/lr_r2.png">    </p:cNvPr>
          <p:cNvPicPr>
            <a:picLocks noChangeAspect="1"/>
          </p:cNvPicPr>
          <p:nvPr/>
        </p:nvPicPr>
        <p:blipFill>
          <a:blip r:embed="rId1"/>
          <a:stretch>
            <a:fillRect/>
          </a:stretch>
        </p:blipFill>
        <p:spPr>
          <a:xfrm>
            <a:off x="1680579" y="1897380"/>
            <a:ext cx="3222523" cy="1051560"/>
          </a:xfrm>
          <a:prstGeom prst="rect">
            <a:avLst/>
          </a:prstGeom>
        </p:spPr>
      </p:pic>
      <p:sp>
        <p:nvSpPr>
          <p:cNvPr id="7" name="Shape 4"/>
          <p:cNvSpPr/>
          <p:nvPr/>
        </p:nvSpPr>
        <p:spPr>
          <a:xfrm>
            <a:off x="6263640" y="1508760"/>
            <a:ext cx="5349240" cy="1691640"/>
          </a:xfrm>
          <a:prstGeom prst="roundRect">
            <a:avLst>
              <a:gd name="adj" fmla="val 4324"/>
            </a:avLst>
          </a:prstGeom>
          <a:solidFill>
            <a:srgbClr val="EFF4F8"/>
          </a:solidFill>
          <a:ln w="12700">
            <a:solidFill>
              <a:srgbClr val="D9E3EC"/>
            </a:solidFill>
            <a:prstDash val="solid"/>
          </a:ln>
        </p:spPr>
      </p:sp>
      <p:sp>
        <p:nvSpPr>
          <p:cNvPr id="8" name="Text 5"/>
          <p:cNvSpPr/>
          <p:nvPr/>
        </p:nvSpPr>
        <p:spPr>
          <a:xfrm>
            <a:off x="6492240" y="1627632"/>
            <a:ext cx="4937760" cy="292608"/>
          </a:xfrm>
          <a:prstGeom prst="rect">
            <a:avLst/>
          </a:prstGeom>
          <a:noFill/>
          <a:ln/>
        </p:spPr>
        <p:txBody>
          <a:bodyPr wrap="square" rtlCol="0" anchor="ctr"/>
          <a:lstStyle/>
          <a:p>
            <a:pPr indent="0" marL="0">
              <a:buNone/>
            </a:pPr>
            <a:r>
              <a:rPr lang="en-US" sz="1250" b="1" dirty="0">
                <a:solidFill>
                  <a:srgbClr val="10375C"/>
                </a:solidFill>
                <a:latin typeface="Calibri" pitchFamily="34" charset="0"/>
                <a:ea typeface="Calibri" pitchFamily="34" charset="-122"/>
                <a:cs typeface="Calibri" pitchFamily="34" charset="-120"/>
              </a:rPr>
              <a:t>Adjusted R² — penalizes extra features</a:t>
            </a:r>
            <a:endParaRPr lang="en-US" sz="1250" dirty="0"/>
          </a:p>
        </p:txBody>
      </p:sp>
      <p:pic>
        <p:nvPicPr>
          <p:cNvPr id="9" name="Image 1" descr="/home/claude/work/equations/lr_adj_r2.png">    </p:cNvPr>
          <p:cNvPicPr>
            <a:picLocks noChangeAspect="1"/>
          </p:cNvPicPr>
          <p:nvPr/>
        </p:nvPicPr>
        <p:blipFill>
          <a:blip r:embed="rId2"/>
          <a:stretch>
            <a:fillRect/>
          </a:stretch>
        </p:blipFill>
        <p:spPr>
          <a:xfrm>
            <a:off x="6989128" y="2125980"/>
            <a:ext cx="3852543" cy="685800"/>
          </a:xfrm>
          <a:prstGeom prst="rect">
            <a:avLst/>
          </a:prstGeom>
        </p:spPr>
      </p:pic>
      <p:sp>
        <p:nvSpPr>
          <p:cNvPr id="10" name="Shape 6"/>
          <p:cNvSpPr/>
          <p:nvPr/>
        </p:nvSpPr>
        <p:spPr>
          <a:xfrm>
            <a:off x="548640" y="3337560"/>
            <a:ext cx="5486400" cy="1417320"/>
          </a:xfrm>
          <a:prstGeom prst="roundRect">
            <a:avLst>
              <a:gd name="adj" fmla="val 5161"/>
            </a:avLst>
          </a:prstGeom>
          <a:solidFill>
            <a:srgbClr val="EFF4F8"/>
          </a:solidFill>
          <a:ln w="12700">
            <a:solidFill>
              <a:srgbClr val="D9E3EC"/>
            </a:solidFill>
            <a:prstDash val="solid"/>
          </a:ln>
        </p:spPr>
      </p:sp>
      <p:sp>
        <p:nvSpPr>
          <p:cNvPr id="11" name="Text 7"/>
          <p:cNvSpPr/>
          <p:nvPr/>
        </p:nvSpPr>
        <p:spPr>
          <a:xfrm>
            <a:off x="777240" y="3456432"/>
            <a:ext cx="5029200" cy="292608"/>
          </a:xfrm>
          <a:prstGeom prst="rect">
            <a:avLst/>
          </a:prstGeom>
          <a:noFill/>
          <a:ln/>
        </p:spPr>
        <p:txBody>
          <a:bodyPr wrap="square" rtlCol="0" anchor="ctr"/>
          <a:lstStyle/>
          <a:p>
            <a:pPr indent="0" marL="0">
              <a:buNone/>
            </a:pPr>
            <a:r>
              <a:rPr lang="en-US" sz="1250" b="1" dirty="0">
                <a:solidFill>
                  <a:srgbClr val="10375C"/>
                </a:solidFill>
                <a:latin typeface="Calibri" pitchFamily="34" charset="0"/>
                <a:ea typeface="Calibri" pitchFamily="34" charset="-122"/>
                <a:cs typeface="Calibri" pitchFamily="34" charset="-120"/>
              </a:rPr>
              <a:t>RMSE — Root Mean Squared Error</a:t>
            </a:r>
            <a:endParaRPr lang="en-US" sz="1250" dirty="0"/>
          </a:p>
        </p:txBody>
      </p:sp>
      <p:pic>
        <p:nvPicPr>
          <p:cNvPr id="12" name="Image 2" descr="/home/claude/work/equations/lr_rmse.png">    </p:cNvPr>
          <p:cNvPicPr>
            <a:picLocks noChangeAspect="1"/>
          </p:cNvPicPr>
          <p:nvPr/>
        </p:nvPicPr>
        <p:blipFill>
          <a:blip r:embed="rId3"/>
          <a:stretch>
            <a:fillRect/>
          </a:stretch>
        </p:blipFill>
        <p:spPr>
          <a:xfrm>
            <a:off x="1870385" y="3749040"/>
            <a:ext cx="2842910" cy="822960"/>
          </a:xfrm>
          <a:prstGeom prst="rect">
            <a:avLst/>
          </a:prstGeom>
        </p:spPr>
      </p:pic>
      <p:sp>
        <p:nvSpPr>
          <p:cNvPr id="13" name="Shape 8"/>
          <p:cNvSpPr/>
          <p:nvPr/>
        </p:nvSpPr>
        <p:spPr>
          <a:xfrm>
            <a:off x="6263640" y="3337560"/>
            <a:ext cx="5349240" cy="1417320"/>
          </a:xfrm>
          <a:prstGeom prst="roundRect">
            <a:avLst>
              <a:gd name="adj" fmla="val 5161"/>
            </a:avLst>
          </a:prstGeom>
          <a:solidFill>
            <a:srgbClr val="EFF4F8"/>
          </a:solidFill>
          <a:ln w="12700">
            <a:solidFill>
              <a:srgbClr val="D9E3EC"/>
            </a:solidFill>
            <a:prstDash val="solid"/>
          </a:ln>
        </p:spPr>
      </p:sp>
      <p:sp>
        <p:nvSpPr>
          <p:cNvPr id="14" name="Text 9"/>
          <p:cNvSpPr/>
          <p:nvPr/>
        </p:nvSpPr>
        <p:spPr>
          <a:xfrm>
            <a:off x="6492240" y="3456432"/>
            <a:ext cx="4937760" cy="292608"/>
          </a:xfrm>
          <a:prstGeom prst="rect">
            <a:avLst/>
          </a:prstGeom>
          <a:noFill/>
          <a:ln/>
        </p:spPr>
        <p:txBody>
          <a:bodyPr wrap="square" rtlCol="0" anchor="ctr"/>
          <a:lstStyle/>
          <a:p>
            <a:pPr indent="0" marL="0">
              <a:buNone/>
            </a:pPr>
            <a:r>
              <a:rPr lang="en-US" sz="1250" b="1" dirty="0">
                <a:solidFill>
                  <a:srgbClr val="10375C"/>
                </a:solidFill>
                <a:latin typeface="Calibri" pitchFamily="34" charset="0"/>
                <a:ea typeface="Calibri" pitchFamily="34" charset="-122"/>
                <a:cs typeface="Calibri" pitchFamily="34" charset="-120"/>
              </a:rPr>
              <a:t>MAE — Mean Absolute Error</a:t>
            </a:r>
            <a:endParaRPr lang="en-US" sz="1250" dirty="0"/>
          </a:p>
        </p:txBody>
      </p:sp>
      <p:sp>
        <p:nvSpPr>
          <p:cNvPr id="15" name="Text 10"/>
          <p:cNvSpPr/>
          <p:nvPr/>
        </p:nvSpPr>
        <p:spPr>
          <a:xfrm>
            <a:off x="6492240" y="3840480"/>
            <a:ext cx="4937760" cy="457200"/>
          </a:xfrm>
          <a:prstGeom prst="rect">
            <a:avLst/>
          </a:prstGeom>
          <a:noFill/>
          <a:ln/>
        </p:spPr>
        <p:txBody>
          <a:bodyPr wrap="square" rtlCol="0" anchor="ctr"/>
          <a:lstStyle/>
          <a:p>
            <a:pPr indent="0" marL="0">
              <a:buNone/>
            </a:pPr>
            <a:r>
              <a:rPr lang="en-US" sz="1600" i="1" dirty="0">
                <a:solidFill>
                  <a:srgbClr val="22313F"/>
                </a:solidFill>
                <a:latin typeface="Cambria Math" pitchFamily="34" charset="0"/>
                <a:ea typeface="Cambria Math" pitchFamily="34" charset="-122"/>
                <a:cs typeface="Cambria Math" pitchFamily="34" charset="-120"/>
              </a:rPr>
              <a:t>MAE = (1/m) Σ |yᵢ − ŷᵢ|</a:t>
            </a:r>
            <a:endParaRPr lang="en-US" sz="1600" dirty="0"/>
          </a:p>
        </p:txBody>
      </p:sp>
      <p:sp>
        <p:nvSpPr>
          <p:cNvPr id="16" name="Text 11"/>
          <p:cNvSpPr/>
          <p:nvPr/>
        </p:nvSpPr>
        <p:spPr>
          <a:xfrm>
            <a:off x="6492240" y="4315968"/>
            <a:ext cx="4937760" cy="365760"/>
          </a:xfrm>
          <a:prstGeom prst="rect">
            <a:avLst/>
          </a:prstGeom>
          <a:noFill/>
          <a:ln/>
        </p:spPr>
        <p:txBody>
          <a:bodyPr wrap="square" rtlCol="0" anchor="ctr"/>
          <a:lstStyle/>
          <a:p>
            <a:pPr indent="0" marL="0">
              <a:buNone/>
            </a:pPr>
            <a:r>
              <a:rPr lang="en-US" sz="1030" i="1" dirty="0">
                <a:solidFill>
                  <a:srgbClr val="8A97A5"/>
                </a:solidFill>
                <a:latin typeface="Calibri" pitchFamily="34" charset="0"/>
                <a:ea typeface="Calibri" pitchFamily="34" charset="-122"/>
                <a:cs typeface="Calibri" pitchFamily="34" charset="-120"/>
              </a:rPr>
              <a:t>Same units as y; more robust to outliers than RMSE since errors aren't squared.</a:t>
            </a:r>
            <a:endParaRPr lang="en-US" sz="1030" dirty="0"/>
          </a:p>
        </p:txBody>
      </p:sp>
      <p:sp>
        <p:nvSpPr>
          <p:cNvPr id="17" name="Shape 12"/>
          <p:cNvSpPr/>
          <p:nvPr/>
        </p:nvSpPr>
        <p:spPr>
          <a:xfrm>
            <a:off x="548640" y="4892040"/>
            <a:ext cx="11064240" cy="1325880"/>
          </a:xfrm>
          <a:prstGeom prst="roundRect">
            <a:avLst>
              <a:gd name="adj" fmla="val 5517"/>
            </a:avLst>
          </a:prstGeom>
          <a:solidFill>
            <a:srgbClr val="FDF3E3"/>
          </a:solidFill>
          <a:ln w="12700">
            <a:solidFill>
              <a:srgbClr val="F0D9A8"/>
            </a:solidFill>
            <a:prstDash val="solid"/>
          </a:ln>
        </p:spPr>
      </p:sp>
      <p:sp>
        <p:nvSpPr>
          <p:cNvPr id="18" name="Text 13"/>
          <p:cNvSpPr/>
          <p:nvPr/>
        </p:nvSpPr>
        <p:spPr>
          <a:xfrm>
            <a:off x="822960" y="5010912"/>
            <a:ext cx="4572000" cy="274320"/>
          </a:xfrm>
          <a:prstGeom prst="rect">
            <a:avLst/>
          </a:prstGeom>
          <a:noFill/>
          <a:ln/>
        </p:spPr>
        <p:txBody>
          <a:bodyPr wrap="square" rtlCol="0" anchor="ctr"/>
          <a:lstStyle/>
          <a:p>
            <a:pPr indent="0" marL="0">
              <a:buNone/>
            </a:pPr>
            <a:r>
              <a:rPr lang="en-US" sz="1200" b="1" dirty="0">
                <a:solidFill>
                  <a:srgbClr val="8A5A00"/>
                </a:solidFill>
                <a:latin typeface="Calibri" pitchFamily="34" charset="0"/>
                <a:ea typeface="Calibri" pitchFamily="34" charset="-122"/>
                <a:cs typeface="Calibri" pitchFamily="34" charset="-120"/>
              </a:rPr>
              <a:t>Reading these numbers</a:t>
            </a:r>
            <a:endParaRPr lang="en-US" sz="1200" dirty="0"/>
          </a:p>
        </p:txBody>
      </p:sp>
      <p:sp>
        <p:nvSpPr>
          <p:cNvPr id="19" name="Text 14"/>
          <p:cNvSpPr/>
          <p:nvPr/>
        </p:nvSpPr>
        <p:spPr>
          <a:xfrm>
            <a:off x="822960" y="5285232"/>
            <a:ext cx="10332720" cy="822960"/>
          </a:xfrm>
          <a:prstGeom prst="rect">
            <a:avLst/>
          </a:prstGeom>
          <a:noFill/>
          <a:ln/>
        </p:spPr>
        <p:txBody>
          <a:bodyPr wrap="square" rtlCol="0" anchor="ctr"/>
          <a:lstStyle/>
          <a:p>
            <a:pPr indent="0" marL="0">
              <a:buNone/>
            </a:pPr>
            <a:r>
              <a:rPr lang="en-US" sz="1150" dirty="0">
                <a:solidFill>
                  <a:srgbClr val="22313F"/>
                </a:solidFill>
                <a:latin typeface="Calibri" pitchFamily="34" charset="0"/>
                <a:ea typeface="Calibri" pitchFamily="34" charset="-122"/>
                <a:cs typeface="Calibri" pitchFamily="34" charset="-120"/>
              </a:rPr>
              <a:t>R² close to 1 = model explains most variance in y. RMSE penalizes large errors more (sensitive to outliers); MAE treats all errors linearly. Always compare RMSE/MAE against the natural scale of y — an RMSE of 5 means little without context.</a:t>
            </a:r>
            <a:endParaRPr lang="en-US" sz="1150" dirty="0"/>
          </a:p>
        </p:txBody>
      </p:sp>
      <p:sp>
        <p:nvSpPr>
          <p:cNvPr id="20" name="Text 15"/>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8A97A5"/>
                </a:solidFill>
                <a:latin typeface="Calibri" pitchFamily="34" charset="0"/>
                <a:ea typeface="Calibri" pitchFamily="34" charset="-122"/>
                <a:cs typeface="Calibri" pitchFamily="34" charset="-120"/>
              </a:rPr>
              <a:t>Linear &amp; Logistic Regression</a:t>
            </a:r>
            <a:endParaRPr lang="en-US" sz="900" dirty="0"/>
          </a:p>
        </p:txBody>
      </p:sp>
      <p:sp>
        <p:nvSpPr>
          <p:cNvPr id="21" name="Text 16"/>
          <p:cNvSpPr/>
          <p:nvPr/>
        </p:nvSpPr>
        <p:spPr>
          <a:xfrm>
            <a:off x="11368735" y="6547104"/>
            <a:ext cx="457200" cy="256032"/>
          </a:xfrm>
          <a:prstGeom prst="rect">
            <a:avLst/>
          </a:prstGeom>
          <a:noFill/>
          <a:ln/>
        </p:spPr>
        <p:txBody>
          <a:bodyPr wrap="square"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8686800" y="3840480"/>
            <a:ext cx="5486400" cy="5486400"/>
          </a:xfrm>
          <a:prstGeom prst="ellipse">
            <a:avLst/>
          </a:prstGeom>
          <a:solidFill>
            <a:srgbClr val="10375C"/>
          </a:solidFill>
          <a:ln w="12700">
            <a:solidFill>
              <a:srgbClr val="10375C"/>
            </a:solidFill>
            <a:prstDash val="solid"/>
          </a:ln>
        </p:spPr>
      </p:sp>
      <p:sp>
        <p:nvSpPr>
          <p:cNvPr id="3" name="Text 1"/>
          <p:cNvSpPr/>
          <p:nvPr/>
        </p:nvSpPr>
        <p:spPr>
          <a:xfrm>
            <a:off x="822960" y="2331720"/>
            <a:ext cx="5486400" cy="457200"/>
          </a:xfrm>
          <a:prstGeom prst="rect">
            <a:avLst/>
          </a:prstGeom>
          <a:noFill/>
          <a:ln/>
        </p:spPr>
        <p:txBody>
          <a:bodyPr wrap="square" rtlCol="0" anchor="ctr"/>
          <a:lstStyle/>
          <a:p>
            <a:pPr indent="0" marL="0">
              <a:buNone/>
            </a:pPr>
            <a:r>
              <a:rPr lang="en-US" sz="1600" b="1" spc="300" kern="0" dirty="0">
                <a:solidFill>
                  <a:srgbClr val="F2A541"/>
                </a:solidFill>
                <a:latin typeface="Calibri" pitchFamily="34" charset="0"/>
                <a:ea typeface="Calibri" pitchFamily="34" charset="-122"/>
                <a:cs typeface="Calibri" pitchFamily="34" charset="-120"/>
              </a:rPr>
              <a:t>PART 2</a:t>
            </a:r>
            <a:endParaRPr lang="en-US" sz="1600" dirty="0"/>
          </a:p>
        </p:txBody>
      </p:sp>
      <p:sp>
        <p:nvSpPr>
          <p:cNvPr id="4" name="Text 2"/>
          <p:cNvSpPr/>
          <p:nvPr/>
        </p:nvSpPr>
        <p:spPr>
          <a:xfrm>
            <a:off x="777240" y="2788920"/>
            <a:ext cx="9601200" cy="109728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Logistic Regression</a:t>
            </a:r>
            <a:endParaRPr lang="en-US" sz="4400" dirty="0"/>
          </a:p>
        </p:txBody>
      </p:sp>
      <p:sp>
        <p:nvSpPr>
          <p:cNvPr id="5" name="Text 3"/>
          <p:cNvSpPr/>
          <p:nvPr/>
        </p:nvSpPr>
        <p:spPr>
          <a:xfrm>
            <a:off x="822960" y="3794760"/>
            <a:ext cx="8686800" cy="822960"/>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Predicting categories — reusing the linear model's structure inside a</a:t>
            </a:r>
            <a:endParaRPr lang="en-US" sz="1500" dirty="0"/>
          </a:p>
          <a:p>
            <a:pPr indent="0" marL="0">
              <a:buNone/>
            </a:pPr>
            <a:r>
              <a:rPr lang="en-US" sz="1500" dirty="0">
                <a:solidFill>
                  <a:srgbClr val="CADCFC"/>
                </a:solidFill>
                <a:latin typeface="Calibri" pitchFamily="34" charset="0"/>
                <a:ea typeface="Calibri" pitchFamily="34" charset="-122"/>
                <a:cs typeface="Calibri" pitchFamily="34" charset="-120"/>
              </a:rPr>
              <a:t>probabilistic classification framework.</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2.1  MOTIVATION</a:t>
            </a:r>
            <a:endParaRPr lang="en-US" sz="1300" dirty="0"/>
          </a:p>
        </p:txBody>
      </p:sp>
      <p:sp>
        <p:nvSpPr>
          <p:cNvPr id="3" name="Text 1"/>
          <p:cNvSpPr/>
          <p:nvPr/>
        </p:nvSpPr>
        <p:spPr>
          <a:xfrm>
            <a:off x="548640" y="658368"/>
            <a:ext cx="10607040" cy="777240"/>
          </a:xfrm>
          <a:prstGeom prst="rect">
            <a:avLst/>
          </a:prstGeom>
          <a:noFill/>
          <a:ln/>
        </p:spPr>
        <p:txBody>
          <a:bodyPr wrap="square" rtlCol="0" anchor="ctr"/>
          <a:lstStyle/>
          <a:p>
            <a:pPr indent="0" marL="0">
              <a:buNone/>
            </a:pPr>
            <a:r>
              <a:rPr lang="en-US" sz="3000" b="1" dirty="0">
                <a:solidFill>
                  <a:srgbClr val="10375C"/>
                </a:solidFill>
                <a:latin typeface="Cambria" pitchFamily="34" charset="0"/>
                <a:ea typeface="Cambria" pitchFamily="34" charset="-122"/>
                <a:cs typeface="Cambria" pitchFamily="34" charset="-120"/>
              </a:rPr>
              <a:t>Why Not Just Use Linear Regression?</a:t>
            </a:r>
            <a:endParaRPr lang="en-US" sz="3000" dirty="0"/>
          </a:p>
        </p:txBody>
      </p:sp>
      <p:sp>
        <p:nvSpPr>
          <p:cNvPr id="4" name="Shape 2"/>
          <p:cNvSpPr/>
          <p:nvPr/>
        </p:nvSpPr>
        <p:spPr>
          <a:xfrm>
            <a:off x="548640" y="1600200"/>
            <a:ext cx="11064240" cy="960120"/>
          </a:xfrm>
          <a:prstGeom prst="roundRect">
            <a:avLst>
              <a:gd name="adj" fmla="val 7619"/>
            </a:avLst>
          </a:prstGeom>
          <a:solidFill>
            <a:srgbClr val="EFF4F8"/>
          </a:solidFill>
          <a:ln w="12700">
            <a:solidFill>
              <a:srgbClr val="D9E3EC"/>
            </a:solidFill>
            <a:prstDash val="solid"/>
          </a:ln>
        </p:spPr>
      </p:sp>
      <p:sp>
        <p:nvSpPr>
          <p:cNvPr id="5" name="Text 3"/>
          <p:cNvSpPr/>
          <p:nvPr/>
        </p:nvSpPr>
        <p:spPr>
          <a:xfrm>
            <a:off x="777240" y="1764792"/>
            <a:ext cx="457200" cy="548640"/>
          </a:xfrm>
          <a:prstGeom prst="rect">
            <a:avLst/>
          </a:prstGeom>
          <a:noFill/>
          <a:ln/>
        </p:spPr>
        <p:txBody>
          <a:bodyPr wrap="square" rtlCol="0" anchor="ctr"/>
          <a:lstStyle/>
          <a:p>
            <a:pPr indent="0" marL="0">
              <a:buNone/>
            </a:pPr>
            <a:r>
              <a:rPr lang="en-US" sz="2200" b="1" dirty="0">
                <a:solidFill>
                  <a:srgbClr val="C1443C"/>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325880" y="1728216"/>
            <a:ext cx="4114800" cy="685800"/>
          </a:xfrm>
          <a:prstGeom prst="rect">
            <a:avLst/>
          </a:prstGeom>
          <a:noFill/>
          <a:ln/>
        </p:spPr>
        <p:txBody>
          <a:bodyPr wrap="square" rtlCol="0" anchor="ctr"/>
          <a:lstStyle/>
          <a:p>
            <a:pPr indent="0" marL="0">
              <a:buNone/>
            </a:pPr>
            <a:r>
              <a:rPr lang="en-US" sz="1400" b="1" dirty="0">
                <a:solidFill>
                  <a:srgbClr val="10375C"/>
                </a:solidFill>
                <a:latin typeface="Cambria" pitchFamily="34" charset="0"/>
                <a:ea typeface="Cambria" pitchFamily="34" charset="-122"/>
                <a:cs typeface="Cambria" pitchFamily="34" charset="-120"/>
              </a:rPr>
              <a:t>Unbounded output</a:t>
            </a:r>
            <a:endParaRPr lang="en-US" sz="1400" dirty="0"/>
          </a:p>
        </p:txBody>
      </p:sp>
      <p:sp>
        <p:nvSpPr>
          <p:cNvPr id="7" name="Text 5"/>
          <p:cNvSpPr/>
          <p:nvPr/>
        </p:nvSpPr>
        <p:spPr>
          <a:xfrm>
            <a:off x="5577840" y="1728216"/>
            <a:ext cx="5852160" cy="713232"/>
          </a:xfrm>
          <a:prstGeom prst="rect">
            <a:avLst/>
          </a:prstGeom>
          <a:noFill/>
          <a:ln/>
        </p:spPr>
        <p:txBody>
          <a:bodyPr wrap="square" rtlCol="0" anchor="ctr"/>
          <a:lstStyle/>
          <a:p>
            <a:pPr indent="0" marL="0">
              <a:buNone/>
            </a:pPr>
            <a:r>
              <a:rPr lang="en-US" sz="1150" dirty="0">
                <a:solidFill>
                  <a:srgbClr val="22313F"/>
                </a:solidFill>
                <a:latin typeface="Calibri" pitchFamily="34" charset="0"/>
                <a:ea typeface="Calibri" pitchFamily="34" charset="-122"/>
                <a:cs typeface="Calibri" pitchFamily="34" charset="-120"/>
              </a:rPr>
              <a:t>θᵀx ranges over all real numbers, but we need a probability strictly between 0 and 1.</a:t>
            </a:r>
            <a:endParaRPr lang="en-US" sz="1150" dirty="0"/>
          </a:p>
        </p:txBody>
      </p:sp>
      <p:sp>
        <p:nvSpPr>
          <p:cNvPr id="8" name="Shape 6"/>
          <p:cNvSpPr/>
          <p:nvPr/>
        </p:nvSpPr>
        <p:spPr>
          <a:xfrm>
            <a:off x="548640" y="2697480"/>
            <a:ext cx="11064240" cy="960120"/>
          </a:xfrm>
          <a:prstGeom prst="roundRect">
            <a:avLst>
              <a:gd name="adj" fmla="val 7619"/>
            </a:avLst>
          </a:prstGeom>
          <a:solidFill>
            <a:srgbClr val="FFFFFF"/>
          </a:solidFill>
          <a:ln w="12700">
            <a:solidFill>
              <a:srgbClr val="D9E3EC"/>
            </a:solidFill>
            <a:prstDash val="solid"/>
          </a:ln>
        </p:spPr>
      </p:sp>
      <p:sp>
        <p:nvSpPr>
          <p:cNvPr id="9" name="Text 7"/>
          <p:cNvSpPr/>
          <p:nvPr/>
        </p:nvSpPr>
        <p:spPr>
          <a:xfrm>
            <a:off x="777240" y="2862072"/>
            <a:ext cx="457200" cy="548640"/>
          </a:xfrm>
          <a:prstGeom prst="rect">
            <a:avLst/>
          </a:prstGeom>
          <a:noFill/>
          <a:ln/>
        </p:spPr>
        <p:txBody>
          <a:bodyPr wrap="square" rtlCol="0" anchor="ctr"/>
          <a:lstStyle/>
          <a:p>
            <a:pPr indent="0" marL="0">
              <a:buNone/>
            </a:pPr>
            <a:r>
              <a:rPr lang="en-US" sz="2200" b="1" dirty="0">
                <a:solidFill>
                  <a:srgbClr val="C1443C"/>
                </a:solidFill>
                <a:latin typeface="Calibri" pitchFamily="34" charset="0"/>
                <a:ea typeface="Calibri" pitchFamily="34" charset="-122"/>
                <a:cs typeface="Calibri" pitchFamily="34" charset="-120"/>
              </a:rPr>
              <a:t>✕</a:t>
            </a:r>
            <a:endParaRPr lang="en-US" sz="2200" dirty="0"/>
          </a:p>
        </p:txBody>
      </p:sp>
      <p:sp>
        <p:nvSpPr>
          <p:cNvPr id="10" name="Text 8"/>
          <p:cNvSpPr/>
          <p:nvPr/>
        </p:nvSpPr>
        <p:spPr>
          <a:xfrm>
            <a:off x="1325880" y="2825496"/>
            <a:ext cx="4114800" cy="685800"/>
          </a:xfrm>
          <a:prstGeom prst="rect">
            <a:avLst/>
          </a:prstGeom>
          <a:noFill/>
          <a:ln/>
        </p:spPr>
        <p:txBody>
          <a:bodyPr wrap="square" rtlCol="0" anchor="ctr"/>
          <a:lstStyle/>
          <a:p>
            <a:pPr indent="0" marL="0">
              <a:buNone/>
            </a:pPr>
            <a:r>
              <a:rPr lang="en-US" sz="1400" b="1" dirty="0">
                <a:solidFill>
                  <a:srgbClr val="10375C"/>
                </a:solidFill>
                <a:latin typeface="Cambria" pitchFamily="34" charset="0"/>
                <a:ea typeface="Cambria" pitchFamily="34" charset="-122"/>
                <a:cs typeface="Cambria" pitchFamily="34" charset="-120"/>
              </a:rPr>
              <a:t>Sensitive to outliers</a:t>
            </a:r>
            <a:endParaRPr lang="en-US" sz="1400" dirty="0"/>
          </a:p>
        </p:txBody>
      </p:sp>
      <p:sp>
        <p:nvSpPr>
          <p:cNvPr id="11" name="Text 9"/>
          <p:cNvSpPr/>
          <p:nvPr/>
        </p:nvSpPr>
        <p:spPr>
          <a:xfrm>
            <a:off x="5577840" y="2825496"/>
            <a:ext cx="5852160" cy="713232"/>
          </a:xfrm>
          <a:prstGeom prst="rect">
            <a:avLst/>
          </a:prstGeom>
          <a:noFill/>
          <a:ln/>
        </p:spPr>
        <p:txBody>
          <a:bodyPr wrap="square" rtlCol="0" anchor="ctr"/>
          <a:lstStyle/>
          <a:p>
            <a:pPr indent="0" marL="0">
              <a:buNone/>
            </a:pPr>
            <a:r>
              <a:rPr lang="en-US" sz="1150" dirty="0">
                <a:solidFill>
                  <a:srgbClr val="22313F"/>
                </a:solidFill>
                <a:latin typeface="Calibri" pitchFamily="34" charset="0"/>
                <a:ea typeface="Calibri" pitchFamily="34" charset="-122"/>
                <a:cs typeface="Calibri" pitchFamily="34" charset="-120"/>
              </a:rPr>
              <a:t>A single far-away point can shift the decision threshold for every other point.</a:t>
            </a:r>
            <a:endParaRPr lang="en-US" sz="1150" dirty="0"/>
          </a:p>
        </p:txBody>
      </p:sp>
      <p:sp>
        <p:nvSpPr>
          <p:cNvPr id="12" name="Shape 10"/>
          <p:cNvSpPr/>
          <p:nvPr/>
        </p:nvSpPr>
        <p:spPr>
          <a:xfrm>
            <a:off x="548640" y="3794760"/>
            <a:ext cx="11064240" cy="960120"/>
          </a:xfrm>
          <a:prstGeom prst="roundRect">
            <a:avLst>
              <a:gd name="adj" fmla="val 7619"/>
            </a:avLst>
          </a:prstGeom>
          <a:solidFill>
            <a:srgbClr val="EFF4F8"/>
          </a:solidFill>
          <a:ln w="12700">
            <a:solidFill>
              <a:srgbClr val="D9E3EC"/>
            </a:solidFill>
            <a:prstDash val="solid"/>
          </a:ln>
        </p:spPr>
      </p:sp>
      <p:sp>
        <p:nvSpPr>
          <p:cNvPr id="13" name="Text 11"/>
          <p:cNvSpPr/>
          <p:nvPr/>
        </p:nvSpPr>
        <p:spPr>
          <a:xfrm>
            <a:off x="777240" y="3959352"/>
            <a:ext cx="457200" cy="548640"/>
          </a:xfrm>
          <a:prstGeom prst="rect">
            <a:avLst/>
          </a:prstGeom>
          <a:noFill/>
          <a:ln/>
        </p:spPr>
        <p:txBody>
          <a:bodyPr wrap="square" rtlCol="0" anchor="ctr"/>
          <a:lstStyle/>
          <a:p>
            <a:pPr indent="0" marL="0">
              <a:buNone/>
            </a:pPr>
            <a:r>
              <a:rPr lang="en-US" sz="2200" b="1" dirty="0">
                <a:solidFill>
                  <a:srgbClr val="C1443C"/>
                </a:solidFill>
                <a:latin typeface="Calibri" pitchFamily="34" charset="0"/>
                <a:ea typeface="Calibri" pitchFamily="34" charset="-122"/>
                <a:cs typeface="Calibri" pitchFamily="34" charset="-120"/>
              </a:rPr>
              <a:t>✕</a:t>
            </a:r>
            <a:endParaRPr lang="en-US" sz="2200" dirty="0"/>
          </a:p>
        </p:txBody>
      </p:sp>
      <p:sp>
        <p:nvSpPr>
          <p:cNvPr id="14" name="Text 12"/>
          <p:cNvSpPr/>
          <p:nvPr/>
        </p:nvSpPr>
        <p:spPr>
          <a:xfrm>
            <a:off x="1325880" y="3922776"/>
            <a:ext cx="4114800" cy="685800"/>
          </a:xfrm>
          <a:prstGeom prst="rect">
            <a:avLst/>
          </a:prstGeom>
          <a:noFill/>
          <a:ln/>
        </p:spPr>
        <p:txBody>
          <a:bodyPr wrap="square" rtlCol="0" anchor="ctr"/>
          <a:lstStyle/>
          <a:p>
            <a:pPr indent="0" marL="0">
              <a:buNone/>
            </a:pPr>
            <a:r>
              <a:rPr lang="en-US" sz="1400" b="1" dirty="0">
                <a:solidFill>
                  <a:srgbClr val="10375C"/>
                </a:solidFill>
                <a:latin typeface="Cambria" pitchFamily="34" charset="0"/>
                <a:ea typeface="Cambria" pitchFamily="34" charset="-122"/>
                <a:cs typeface="Cambria" pitchFamily="34" charset="-120"/>
              </a:rPr>
              <a:t>Poor loss geometry</a:t>
            </a:r>
            <a:endParaRPr lang="en-US" sz="1400" dirty="0"/>
          </a:p>
        </p:txBody>
      </p:sp>
      <p:sp>
        <p:nvSpPr>
          <p:cNvPr id="15" name="Text 13"/>
          <p:cNvSpPr/>
          <p:nvPr/>
        </p:nvSpPr>
        <p:spPr>
          <a:xfrm>
            <a:off x="5577840" y="3922776"/>
            <a:ext cx="5852160" cy="713232"/>
          </a:xfrm>
          <a:prstGeom prst="rect">
            <a:avLst/>
          </a:prstGeom>
          <a:noFill/>
          <a:ln/>
        </p:spPr>
        <p:txBody>
          <a:bodyPr wrap="square" rtlCol="0" anchor="ctr"/>
          <a:lstStyle/>
          <a:p>
            <a:pPr indent="0" marL="0">
              <a:buNone/>
            </a:pPr>
            <a:r>
              <a:rPr lang="en-US" sz="1150" dirty="0">
                <a:solidFill>
                  <a:srgbClr val="22313F"/>
                </a:solidFill>
                <a:latin typeface="Calibri" pitchFamily="34" charset="0"/>
                <a:ea typeface="Calibri" pitchFamily="34" charset="-122"/>
                <a:cs typeface="Calibri" pitchFamily="34" charset="-120"/>
              </a:rPr>
              <a:t>Squared error against 0/1 labels is non-convex when composed with a hard threshold, and doesn't penalize confident wrong answers strongly enough.</a:t>
            </a:r>
            <a:endParaRPr lang="en-US" sz="1150" dirty="0"/>
          </a:p>
        </p:txBody>
      </p:sp>
      <p:sp>
        <p:nvSpPr>
          <p:cNvPr id="16" name="Shape 14"/>
          <p:cNvSpPr/>
          <p:nvPr/>
        </p:nvSpPr>
        <p:spPr>
          <a:xfrm>
            <a:off x="548640" y="4892040"/>
            <a:ext cx="11064240" cy="960120"/>
          </a:xfrm>
          <a:prstGeom prst="roundRect">
            <a:avLst>
              <a:gd name="adj" fmla="val 7619"/>
            </a:avLst>
          </a:prstGeom>
          <a:solidFill>
            <a:srgbClr val="FFFFFF"/>
          </a:solidFill>
          <a:ln w="12700">
            <a:solidFill>
              <a:srgbClr val="D9E3EC"/>
            </a:solidFill>
            <a:prstDash val="solid"/>
          </a:ln>
        </p:spPr>
      </p:sp>
      <p:sp>
        <p:nvSpPr>
          <p:cNvPr id="17" name="Text 15"/>
          <p:cNvSpPr/>
          <p:nvPr/>
        </p:nvSpPr>
        <p:spPr>
          <a:xfrm>
            <a:off x="777240" y="5056632"/>
            <a:ext cx="457200" cy="548640"/>
          </a:xfrm>
          <a:prstGeom prst="rect">
            <a:avLst/>
          </a:prstGeom>
          <a:noFill/>
          <a:ln/>
        </p:spPr>
        <p:txBody>
          <a:bodyPr wrap="square" rtlCol="0" anchor="ctr"/>
          <a:lstStyle/>
          <a:p>
            <a:pPr indent="0" marL="0">
              <a:buNone/>
            </a:pPr>
            <a:r>
              <a:rPr lang="en-US" sz="2200" b="1" dirty="0">
                <a:solidFill>
                  <a:srgbClr val="C1443C"/>
                </a:solidFill>
                <a:latin typeface="Calibri" pitchFamily="34" charset="0"/>
                <a:ea typeface="Calibri" pitchFamily="34" charset="-122"/>
                <a:cs typeface="Calibri" pitchFamily="34" charset="-120"/>
              </a:rPr>
              <a:t>✕</a:t>
            </a:r>
            <a:endParaRPr lang="en-US" sz="2200" dirty="0"/>
          </a:p>
        </p:txBody>
      </p:sp>
      <p:sp>
        <p:nvSpPr>
          <p:cNvPr id="18" name="Text 16"/>
          <p:cNvSpPr/>
          <p:nvPr/>
        </p:nvSpPr>
        <p:spPr>
          <a:xfrm>
            <a:off x="1325880" y="5020056"/>
            <a:ext cx="4114800" cy="685800"/>
          </a:xfrm>
          <a:prstGeom prst="rect">
            <a:avLst/>
          </a:prstGeom>
          <a:noFill/>
          <a:ln/>
        </p:spPr>
        <p:txBody>
          <a:bodyPr wrap="square" rtlCol="0" anchor="ctr"/>
          <a:lstStyle/>
          <a:p>
            <a:pPr indent="0" marL="0">
              <a:buNone/>
            </a:pPr>
            <a:r>
              <a:rPr lang="en-US" sz="1400" b="1" dirty="0">
                <a:solidFill>
                  <a:srgbClr val="10375C"/>
                </a:solidFill>
                <a:latin typeface="Cambria" pitchFamily="34" charset="0"/>
                <a:ea typeface="Cambria" pitchFamily="34" charset="-122"/>
                <a:cs typeface="Cambria" pitchFamily="34" charset="-120"/>
              </a:rPr>
              <a:t>No probabilistic interpretation</a:t>
            </a:r>
            <a:endParaRPr lang="en-US" sz="1400" dirty="0"/>
          </a:p>
        </p:txBody>
      </p:sp>
      <p:sp>
        <p:nvSpPr>
          <p:cNvPr id="19" name="Text 17"/>
          <p:cNvSpPr/>
          <p:nvPr/>
        </p:nvSpPr>
        <p:spPr>
          <a:xfrm>
            <a:off x="5577840" y="5020056"/>
            <a:ext cx="5852160" cy="713232"/>
          </a:xfrm>
          <a:prstGeom prst="rect">
            <a:avLst/>
          </a:prstGeom>
          <a:noFill/>
          <a:ln/>
        </p:spPr>
        <p:txBody>
          <a:bodyPr wrap="square" rtlCol="0" anchor="ctr"/>
          <a:lstStyle/>
          <a:p>
            <a:pPr indent="0" marL="0">
              <a:buNone/>
            </a:pPr>
            <a:r>
              <a:rPr lang="en-US" sz="1150" dirty="0">
                <a:solidFill>
                  <a:srgbClr val="22313F"/>
                </a:solidFill>
                <a:latin typeface="Calibri" pitchFamily="34" charset="0"/>
                <a:ea typeface="Calibri" pitchFamily="34" charset="-122"/>
                <a:cs typeface="Calibri" pitchFamily="34" charset="-120"/>
              </a:rPr>
              <a:t>We want p(y=1|x), not just a raw number — this requires a link function.</a:t>
            </a:r>
            <a:endParaRPr lang="en-US" sz="1150" dirty="0"/>
          </a:p>
        </p:txBody>
      </p:sp>
      <p:sp>
        <p:nvSpPr>
          <p:cNvPr id="20" name="Shape 18"/>
          <p:cNvSpPr/>
          <p:nvPr/>
        </p:nvSpPr>
        <p:spPr>
          <a:xfrm>
            <a:off x="548640" y="5623560"/>
            <a:ext cx="11064240" cy="594360"/>
          </a:xfrm>
          <a:prstGeom prst="roundRect">
            <a:avLst>
              <a:gd name="adj" fmla="val 12308"/>
            </a:avLst>
          </a:prstGeom>
          <a:solidFill>
            <a:srgbClr val="10375C"/>
          </a:solidFill>
          <a:ln w="12700">
            <a:solidFill>
              <a:srgbClr val="10375C"/>
            </a:solidFill>
            <a:prstDash val="solid"/>
          </a:ln>
        </p:spPr>
      </p:sp>
      <p:sp>
        <p:nvSpPr>
          <p:cNvPr id="21" name="Text 19"/>
          <p:cNvSpPr/>
          <p:nvPr/>
        </p:nvSpPr>
        <p:spPr>
          <a:xfrm>
            <a:off x="822960" y="5742432"/>
            <a:ext cx="10515600" cy="365760"/>
          </a:xfrm>
          <a:prstGeom prst="rect">
            <a:avLst/>
          </a:prstGeom>
          <a:noFill/>
          <a:ln/>
        </p:spPr>
        <p:txBody>
          <a:bodyPr wrap="square"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The fix: pass θᵀx through a squashing function that maps ℝ → (0, 1) — the sigmoid.</a:t>
            </a:r>
            <a:endParaRPr lang="en-US" sz="1250" dirty="0"/>
          </a:p>
        </p:txBody>
      </p:sp>
      <p:sp>
        <p:nvSpPr>
          <p:cNvPr id="22" name="Text 20"/>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8A97A5"/>
                </a:solidFill>
                <a:latin typeface="Calibri" pitchFamily="34" charset="0"/>
                <a:ea typeface="Calibri" pitchFamily="34" charset="-122"/>
                <a:cs typeface="Calibri" pitchFamily="34" charset="-120"/>
              </a:rPr>
              <a:t>Linear &amp; Logistic Regression</a:t>
            </a:r>
            <a:endParaRPr lang="en-US" sz="900" dirty="0"/>
          </a:p>
        </p:txBody>
      </p:sp>
      <p:sp>
        <p:nvSpPr>
          <p:cNvPr id="23" name="Text 21"/>
          <p:cNvSpPr/>
          <p:nvPr/>
        </p:nvSpPr>
        <p:spPr>
          <a:xfrm>
            <a:off x="11368735" y="6547104"/>
            <a:ext cx="457200" cy="256032"/>
          </a:xfrm>
          <a:prstGeom prst="rect">
            <a:avLst/>
          </a:prstGeom>
          <a:noFill/>
          <a:ln/>
        </p:spPr>
        <p:txBody>
          <a:bodyPr wrap="square"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2.2  THE LINK FUNCTION</a:t>
            </a:r>
            <a:endParaRPr lang="en-US" sz="1300" dirty="0"/>
          </a:p>
        </p:txBody>
      </p:sp>
      <p:sp>
        <p:nvSpPr>
          <p:cNvPr id="3" name="Text 1"/>
          <p:cNvSpPr/>
          <p:nvPr/>
        </p:nvSpPr>
        <p:spPr>
          <a:xfrm>
            <a:off x="548640" y="658368"/>
            <a:ext cx="10607040" cy="777240"/>
          </a:xfrm>
          <a:prstGeom prst="rect">
            <a:avLst/>
          </a:prstGeom>
          <a:noFill/>
          <a:ln/>
        </p:spPr>
        <p:txBody>
          <a:bodyPr wrap="square" rtlCol="0" anchor="ctr"/>
          <a:lstStyle/>
          <a:p>
            <a:pPr indent="0" marL="0">
              <a:buNone/>
            </a:pPr>
            <a:r>
              <a:rPr lang="en-US" sz="3000" b="1" dirty="0">
                <a:solidFill>
                  <a:srgbClr val="10375C"/>
                </a:solidFill>
                <a:latin typeface="Cambria" pitchFamily="34" charset="0"/>
                <a:ea typeface="Cambria" pitchFamily="34" charset="-122"/>
                <a:cs typeface="Cambria" pitchFamily="34" charset="-120"/>
              </a:rPr>
              <a:t>The Sigmoid (Logistic) Function</a:t>
            </a:r>
            <a:endParaRPr lang="en-US" sz="3000" dirty="0"/>
          </a:p>
        </p:txBody>
      </p:sp>
      <p:sp>
        <p:nvSpPr>
          <p:cNvPr id="4" name="Shape 2"/>
          <p:cNvSpPr/>
          <p:nvPr/>
        </p:nvSpPr>
        <p:spPr>
          <a:xfrm>
            <a:off x="548640" y="1508760"/>
            <a:ext cx="5577840" cy="822960"/>
          </a:xfrm>
          <a:prstGeom prst="roundRect">
            <a:avLst>
              <a:gd name="adj" fmla="val 8889"/>
            </a:avLst>
          </a:prstGeom>
          <a:solidFill>
            <a:srgbClr val="10375C"/>
          </a:solidFill>
          <a:ln w="12700">
            <a:solidFill>
              <a:srgbClr val="10375C"/>
            </a:solidFill>
            <a:prstDash val="solid"/>
          </a:ln>
        </p:spPr>
      </p:sp>
      <p:pic>
        <p:nvPicPr>
          <p:cNvPr id="5" name="Image 0" descr="/home/claude/work/equations/log_sigmoid_white.png">    </p:cNvPr>
          <p:cNvPicPr>
            <a:picLocks noChangeAspect="1"/>
          </p:cNvPicPr>
          <p:nvPr/>
        </p:nvPicPr>
        <p:blipFill>
          <a:blip r:embed="rId1"/>
          <a:stretch>
            <a:fillRect/>
          </a:stretch>
        </p:blipFill>
        <p:spPr>
          <a:xfrm>
            <a:off x="2473036" y="1623060"/>
            <a:ext cx="1729047" cy="594360"/>
          </a:xfrm>
          <a:prstGeom prst="rect">
            <a:avLst/>
          </a:prstGeom>
        </p:spPr>
      </p:pic>
      <p:sp>
        <p:nvSpPr>
          <p:cNvPr id="6" name="Shape 3"/>
          <p:cNvSpPr/>
          <p:nvPr/>
        </p:nvSpPr>
        <p:spPr>
          <a:xfrm>
            <a:off x="548640" y="2569464"/>
            <a:ext cx="82296" cy="82296"/>
          </a:xfrm>
          <a:prstGeom prst="ellipse">
            <a:avLst/>
          </a:prstGeom>
          <a:solidFill>
            <a:srgbClr val="F2A541"/>
          </a:solidFill>
          <a:ln w="12700">
            <a:solidFill>
              <a:srgbClr val="333333"/>
            </a:solidFill>
            <a:prstDash val="solid"/>
          </a:ln>
        </p:spPr>
      </p:sp>
      <p:sp>
        <p:nvSpPr>
          <p:cNvPr id="7" name="Text 4"/>
          <p:cNvSpPr/>
          <p:nvPr/>
        </p:nvSpPr>
        <p:spPr>
          <a:xfrm>
            <a:off x="777240" y="2514600"/>
            <a:ext cx="5349240" cy="457200"/>
          </a:xfrm>
          <a:prstGeom prst="rect">
            <a:avLst/>
          </a:prstGeom>
          <a:noFill/>
          <a:ln/>
        </p:spPr>
        <p:txBody>
          <a:bodyPr wrap="square" rtlCol="0" anchor="ctr"/>
          <a:lstStyle/>
          <a:p>
            <a:pPr indent="0" marL="0">
              <a:buNone/>
            </a:pPr>
            <a:r>
              <a:rPr lang="en-US" sz="1180" dirty="0">
                <a:solidFill>
                  <a:srgbClr val="22313F"/>
                </a:solidFill>
                <a:latin typeface="Calibri" pitchFamily="34" charset="0"/>
                <a:ea typeface="Calibri" pitchFamily="34" charset="-122"/>
                <a:cs typeface="Calibri" pitchFamily="34" charset="-120"/>
              </a:rPr>
              <a:t>σ(z) → 1 as z → +∞, and σ(z) → 0 as z → −∞ — always bounded in (0, 1).</a:t>
            </a:r>
            <a:endParaRPr lang="en-US" sz="1180" dirty="0"/>
          </a:p>
        </p:txBody>
      </p:sp>
      <p:sp>
        <p:nvSpPr>
          <p:cNvPr id="8" name="Shape 5"/>
          <p:cNvSpPr/>
          <p:nvPr/>
        </p:nvSpPr>
        <p:spPr>
          <a:xfrm>
            <a:off x="548640" y="3044952"/>
            <a:ext cx="82296" cy="82296"/>
          </a:xfrm>
          <a:prstGeom prst="ellipse">
            <a:avLst/>
          </a:prstGeom>
          <a:solidFill>
            <a:srgbClr val="F2A541"/>
          </a:solidFill>
          <a:ln w="12700">
            <a:solidFill>
              <a:srgbClr val="333333"/>
            </a:solidFill>
            <a:prstDash val="solid"/>
          </a:ln>
        </p:spPr>
      </p:sp>
      <p:sp>
        <p:nvSpPr>
          <p:cNvPr id="9" name="Text 6"/>
          <p:cNvSpPr/>
          <p:nvPr/>
        </p:nvSpPr>
        <p:spPr>
          <a:xfrm>
            <a:off x="777240" y="2990088"/>
            <a:ext cx="5349240" cy="457200"/>
          </a:xfrm>
          <a:prstGeom prst="rect">
            <a:avLst/>
          </a:prstGeom>
          <a:noFill/>
          <a:ln/>
        </p:spPr>
        <p:txBody>
          <a:bodyPr wrap="square" rtlCol="0" anchor="ctr"/>
          <a:lstStyle/>
          <a:p>
            <a:pPr indent="0" marL="0">
              <a:buNone/>
            </a:pPr>
            <a:r>
              <a:rPr lang="en-US" sz="1180" dirty="0">
                <a:solidFill>
                  <a:srgbClr val="22313F"/>
                </a:solidFill>
                <a:latin typeface="Calibri" pitchFamily="34" charset="0"/>
                <a:ea typeface="Calibri" pitchFamily="34" charset="-122"/>
                <a:cs typeface="Calibri" pitchFamily="34" charset="-120"/>
              </a:rPr>
              <a:t>σ(0) = 0.5 exactly — this is the natural decision boundary.</a:t>
            </a:r>
            <a:endParaRPr lang="en-US" sz="1180" dirty="0"/>
          </a:p>
        </p:txBody>
      </p:sp>
      <p:sp>
        <p:nvSpPr>
          <p:cNvPr id="10" name="Shape 7"/>
          <p:cNvSpPr/>
          <p:nvPr/>
        </p:nvSpPr>
        <p:spPr>
          <a:xfrm>
            <a:off x="548640" y="3520440"/>
            <a:ext cx="82296" cy="82296"/>
          </a:xfrm>
          <a:prstGeom prst="ellipse">
            <a:avLst/>
          </a:prstGeom>
          <a:solidFill>
            <a:srgbClr val="F2A541"/>
          </a:solidFill>
          <a:ln w="12700">
            <a:solidFill>
              <a:srgbClr val="333333"/>
            </a:solidFill>
            <a:prstDash val="solid"/>
          </a:ln>
        </p:spPr>
      </p:sp>
      <p:sp>
        <p:nvSpPr>
          <p:cNvPr id="11" name="Text 8"/>
          <p:cNvSpPr/>
          <p:nvPr/>
        </p:nvSpPr>
        <p:spPr>
          <a:xfrm>
            <a:off x="777240" y="3465576"/>
            <a:ext cx="5349240" cy="457200"/>
          </a:xfrm>
          <a:prstGeom prst="rect">
            <a:avLst/>
          </a:prstGeom>
          <a:noFill/>
          <a:ln/>
        </p:spPr>
        <p:txBody>
          <a:bodyPr wrap="square" rtlCol="0" anchor="ctr"/>
          <a:lstStyle/>
          <a:p>
            <a:pPr indent="0" marL="0">
              <a:buNone/>
            </a:pPr>
            <a:r>
              <a:rPr lang="en-US" sz="1180" dirty="0">
                <a:solidFill>
                  <a:srgbClr val="22313F"/>
                </a:solidFill>
                <a:latin typeface="Calibri" pitchFamily="34" charset="0"/>
                <a:ea typeface="Calibri" pitchFamily="34" charset="-122"/>
                <a:cs typeface="Calibri" pitchFamily="34" charset="-120"/>
              </a:rPr>
              <a:t>It's smooth and differentiable everywhere, needed for gradient-based optimization.</a:t>
            </a:r>
            <a:endParaRPr lang="en-US" sz="1180" dirty="0"/>
          </a:p>
        </p:txBody>
      </p:sp>
      <p:sp>
        <p:nvSpPr>
          <p:cNvPr id="12" name="Text 9"/>
          <p:cNvSpPr/>
          <p:nvPr/>
        </p:nvSpPr>
        <p:spPr>
          <a:xfrm>
            <a:off x="548640" y="4114800"/>
            <a:ext cx="5577840" cy="502920"/>
          </a:xfrm>
          <a:prstGeom prst="rect">
            <a:avLst/>
          </a:prstGeom>
          <a:noFill/>
          <a:ln/>
        </p:spPr>
        <p:txBody>
          <a:bodyPr wrap="square" rtlCol="0" anchor="ctr"/>
          <a:lstStyle/>
          <a:p>
            <a:pPr indent="0" marL="0">
              <a:buNone/>
            </a:pPr>
            <a:r>
              <a:rPr lang="en-US" sz="1200" dirty="0">
                <a:solidFill>
                  <a:srgbClr val="22313F"/>
                </a:solidFill>
                <a:latin typeface="Calibri" pitchFamily="34" charset="0"/>
                <a:ea typeface="Calibri" pitchFamily="34" charset="-122"/>
                <a:cs typeface="Calibri" pitchFamily="34" charset="-120"/>
              </a:rPr>
              <a:t>Its derivative has a beautifully simple form (used heavily in the gradient derivation later):</a:t>
            </a:r>
            <a:endParaRPr lang="en-US" sz="1200" dirty="0"/>
          </a:p>
        </p:txBody>
      </p:sp>
      <p:sp>
        <p:nvSpPr>
          <p:cNvPr id="13" name="Shape 10"/>
          <p:cNvSpPr/>
          <p:nvPr/>
        </p:nvSpPr>
        <p:spPr>
          <a:xfrm>
            <a:off x="548640" y="4617720"/>
            <a:ext cx="5577840" cy="685800"/>
          </a:xfrm>
          <a:prstGeom prst="roundRect">
            <a:avLst>
              <a:gd name="adj" fmla="val 10667"/>
            </a:avLst>
          </a:prstGeom>
          <a:solidFill>
            <a:srgbClr val="FDF3E3"/>
          </a:solidFill>
          <a:ln w="12700">
            <a:solidFill>
              <a:srgbClr val="F0D9A8"/>
            </a:solidFill>
            <a:prstDash val="solid"/>
          </a:ln>
        </p:spPr>
      </p:sp>
      <p:pic>
        <p:nvPicPr>
          <p:cNvPr id="14" name="Image 1" descr="/home/claude/work/equations/log_sigmoid_deriv.png">    </p:cNvPr>
          <p:cNvPicPr>
            <a:picLocks noChangeAspect="1"/>
          </p:cNvPicPr>
          <p:nvPr/>
        </p:nvPicPr>
        <p:blipFill>
          <a:blip r:embed="rId2"/>
          <a:stretch>
            <a:fillRect/>
          </a:stretch>
        </p:blipFill>
        <p:spPr>
          <a:xfrm>
            <a:off x="1902328" y="4732020"/>
            <a:ext cx="2870464" cy="457200"/>
          </a:xfrm>
          <a:prstGeom prst="rect">
            <a:avLst/>
          </a:prstGeom>
        </p:spPr>
      </p:pic>
      <p:pic>
        <p:nvPicPr>
          <p:cNvPr id="15" name="Image 2" descr="/home/claude/work/plots/sigmoid_curve.png">    </p:cNvPr>
          <p:cNvPicPr>
            <a:picLocks noChangeAspect="1"/>
          </p:cNvPicPr>
          <p:nvPr/>
        </p:nvPicPr>
        <p:blipFill>
          <a:blip r:embed="rId3"/>
          <a:stretch>
            <a:fillRect/>
          </a:stretch>
        </p:blipFill>
        <p:spPr>
          <a:xfrm>
            <a:off x="6537960" y="1735727"/>
            <a:ext cx="5394960" cy="3660866"/>
          </a:xfrm>
          <a:prstGeom prst="rect">
            <a:avLst/>
          </a:prstGeom>
        </p:spPr>
      </p:pic>
      <p:sp>
        <p:nvSpPr>
          <p:cNvPr id="16" name="Text 11"/>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8A97A5"/>
                </a:solidFill>
                <a:latin typeface="Calibri" pitchFamily="34" charset="0"/>
                <a:ea typeface="Calibri" pitchFamily="34" charset="-122"/>
                <a:cs typeface="Calibri" pitchFamily="34" charset="-120"/>
              </a:rPr>
              <a:t>Linear &amp; Logistic Regression</a:t>
            </a:r>
            <a:endParaRPr lang="en-US" sz="900" dirty="0"/>
          </a:p>
        </p:txBody>
      </p:sp>
      <p:sp>
        <p:nvSpPr>
          <p:cNvPr id="17" name="Text 12"/>
          <p:cNvSpPr/>
          <p:nvPr/>
        </p:nvSpPr>
        <p:spPr>
          <a:xfrm>
            <a:off x="11368735" y="6547104"/>
            <a:ext cx="457200" cy="256032"/>
          </a:xfrm>
          <a:prstGeom prst="rect">
            <a:avLst/>
          </a:prstGeom>
          <a:noFill/>
          <a:ln/>
        </p:spPr>
        <p:txBody>
          <a:bodyPr wrap="square"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2.3  MODEL REPRESENTATION</a:t>
            </a:r>
            <a:endParaRPr lang="en-US" sz="1300" dirty="0"/>
          </a:p>
        </p:txBody>
      </p:sp>
      <p:sp>
        <p:nvSpPr>
          <p:cNvPr id="3" name="Text 1"/>
          <p:cNvSpPr/>
          <p:nvPr/>
        </p:nvSpPr>
        <p:spPr>
          <a:xfrm>
            <a:off x="548640" y="658368"/>
            <a:ext cx="10607040" cy="777240"/>
          </a:xfrm>
          <a:prstGeom prst="rect">
            <a:avLst/>
          </a:prstGeom>
          <a:noFill/>
          <a:ln/>
        </p:spPr>
        <p:txBody>
          <a:bodyPr wrap="square" rtlCol="0" anchor="ctr"/>
          <a:lstStyle/>
          <a:p>
            <a:pPr indent="0" marL="0">
              <a:buNone/>
            </a:pPr>
            <a:r>
              <a:rPr lang="en-US" sz="3000" b="1" dirty="0">
                <a:solidFill>
                  <a:srgbClr val="10375C"/>
                </a:solidFill>
                <a:latin typeface="Cambria" pitchFamily="34" charset="0"/>
                <a:ea typeface="Cambria" pitchFamily="34" charset="-122"/>
                <a:cs typeface="Cambria" pitchFamily="34" charset="-120"/>
              </a:rPr>
              <a:t>The Logistic Regression Model &amp; Log-Odds</a:t>
            </a:r>
            <a:endParaRPr lang="en-US" sz="3000" dirty="0"/>
          </a:p>
        </p:txBody>
      </p:sp>
      <p:sp>
        <p:nvSpPr>
          <p:cNvPr id="4" name="Text 2"/>
          <p:cNvSpPr/>
          <p:nvPr/>
        </p:nvSpPr>
        <p:spPr>
          <a:xfrm>
            <a:off x="548640" y="1417320"/>
            <a:ext cx="10698480" cy="365760"/>
          </a:xfrm>
          <a:prstGeom prst="rect">
            <a:avLst/>
          </a:prstGeom>
          <a:noFill/>
          <a:ln/>
        </p:spPr>
        <p:txBody>
          <a:bodyPr wrap="square" rtlCol="0" anchor="ctr"/>
          <a:lstStyle/>
          <a:p>
            <a:pPr indent="0" marL="0">
              <a:buNone/>
            </a:pPr>
            <a:r>
              <a:rPr lang="en-US" sz="1300" dirty="0">
                <a:solidFill>
                  <a:srgbClr val="22313F"/>
                </a:solidFill>
                <a:latin typeface="Calibri" pitchFamily="34" charset="0"/>
                <a:ea typeface="Calibri" pitchFamily="34" charset="-122"/>
                <a:cs typeface="Calibri" pitchFamily="34" charset="-120"/>
              </a:rPr>
              <a:t>The model predicts the probability that y = 1, given x:</a:t>
            </a:r>
            <a:endParaRPr lang="en-US" sz="1300" dirty="0"/>
          </a:p>
        </p:txBody>
      </p:sp>
      <p:sp>
        <p:nvSpPr>
          <p:cNvPr id="5" name="Shape 3"/>
          <p:cNvSpPr/>
          <p:nvPr/>
        </p:nvSpPr>
        <p:spPr>
          <a:xfrm>
            <a:off x="548640" y="1828800"/>
            <a:ext cx="11064240" cy="914400"/>
          </a:xfrm>
          <a:prstGeom prst="roundRect">
            <a:avLst>
              <a:gd name="adj" fmla="val 8000"/>
            </a:avLst>
          </a:prstGeom>
          <a:solidFill>
            <a:srgbClr val="EFF4F8"/>
          </a:solidFill>
          <a:ln w="12700">
            <a:solidFill>
              <a:srgbClr val="D9E3EC"/>
            </a:solidFill>
            <a:prstDash val="solid"/>
          </a:ln>
        </p:spPr>
      </p:sp>
      <p:pic>
        <p:nvPicPr>
          <p:cNvPr id="6" name="Image 0" descr="/home/claude/work/equations/log_model.png">    </p:cNvPr>
          <p:cNvPicPr>
            <a:picLocks noChangeAspect="1"/>
          </p:cNvPicPr>
          <p:nvPr/>
        </p:nvPicPr>
        <p:blipFill>
          <a:blip r:embed="rId1"/>
          <a:stretch>
            <a:fillRect/>
          </a:stretch>
        </p:blipFill>
        <p:spPr>
          <a:xfrm>
            <a:off x="3844202" y="1943100"/>
            <a:ext cx="4473116" cy="685800"/>
          </a:xfrm>
          <a:prstGeom prst="rect">
            <a:avLst/>
          </a:prstGeom>
        </p:spPr>
      </p:pic>
      <p:sp>
        <p:nvSpPr>
          <p:cNvPr id="7" name="Text 4"/>
          <p:cNvSpPr/>
          <p:nvPr/>
        </p:nvSpPr>
        <p:spPr>
          <a:xfrm>
            <a:off x="548640" y="2880360"/>
            <a:ext cx="10698480" cy="365760"/>
          </a:xfrm>
          <a:prstGeom prst="rect">
            <a:avLst/>
          </a:prstGeom>
          <a:noFill/>
          <a:ln/>
        </p:spPr>
        <p:txBody>
          <a:bodyPr wrap="square" rtlCol="0" anchor="ctr"/>
          <a:lstStyle/>
          <a:p>
            <a:pPr indent="0" marL="0">
              <a:buNone/>
            </a:pPr>
            <a:r>
              <a:rPr lang="en-US" sz="1300" dirty="0">
                <a:solidFill>
                  <a:srgbClr val="22313F"/>
                </a:solidFill>
                <a:latin typeface="Calibri" pitchFamily="34" charset="0"/>
                <a:ea typeface="Calibri" pitchFamily="34" charset="-122"/>
                <a:cs typeface="Calibri" pitchFamily="34" charset="-120"/>
              </a:rPr>
              <a:t>Equivalently, the log-odds (logit) of the outcome is LINEAR in the parameters:</a:t>
            </a:r>
            <a:endParaRPr lang="en-US" sz="1300" dirty="0"/>
          </a:p>
        </p:txBody>
      </p:sp>
      <p:sp>
        <p:nvSpPr>
          <p:cNvPr id="8" name="Shape 5"/>
          <p:cNvSpPr/>
          <p:nvPr/>
        </p:nvSpPr>
        <p:spPr>
          <a:xfrm>
            <a:off x="548640" y="3291840"/>
            <a:ext cx="5577840" cy="960120"/>
          </a:xfrm>
          <a:prstGeom prst="roundRect">
            <a:avLst>
              <a:gd name="adj" fmla="val 7619"/>
            </a:avLst>
          </a:prstGeom>
          <a:solidFill>
            <a:srgbClr val="10375C"/>
          </a:solidFill>
          <a:ln w="12700">
            <a:solidFill>
              <a:srgbClr val="10375C"/>
            </a:solidFill>
            <a:prstDash val="solid"/>
          </a:ln>
        </p:spPr>
      </p:sp>
      <p:pic>
        <p:nvPicPr>
          <p:cNvPr id="9" name="Image 1" descr="/home/claude/work/equations/log_odds_white.png">    </p:cNvPr>
          <p:cNvPicPr>
            <a:picLocks noChangeAspect="1"/>
          </p:cNvPicPr>
          <p:nvPr/>
        </p:nvPicPr>
        <p:blipFill>
          <a:blip r:embed="rId2"/>
          <a:stretch>
            <a:fillRect/>
          </a:stretch>
        </p:blipFill>
        <p:spPr>
          <a:xfrm>
            <a:off x="2135440" y="3406140"/>
            <a:ext cx="2404240" cy="731520"/>
          </a:xfrm>
          <a:prstGeom prst="rect">
            <a:avLst/>
          </a:prstGeom>
        </p:spPr>
      </p:pic>
      <p:sp>
        <p:nvSpPr>
          <p:cNvPr id="10" name="Shape 6"/>
          <p:cNvSpPr/>
          <p:nvPr/>
        </p:nvSpPr>
        <p:spPr>
          <a:xfrm>
            <a:off x="6263640" y="3291840"/>
            <a:ext cx="5349240" cy="960120"/>
          </a:xfrm>
          <a:prstGeom prst="roundRect">
            <a:avLst>
              <a:gd name="adj" fmla="val 7619"/>
            </a:avLst>
          </a:prstGeom>
          <a:solidFill>
            <a:srgbClr val="EFF4F8"/>
          </a:solidFill>
          <a:ln w="12700">
            <a:solidFill>
              <a:srgbClr val="D9E3EC"/>
            </a:solidFill>
            <a:prstDash val="solid"/>
          </a:ln>
        </p:spPr>
      </p:sp>
      <p:sp>
        <p:nvSpPr>
          <p:cNvPr id="11" name="Text 7"/>
          <p:cNvSpPr/>
          <p:nvPr/>
        </p:nvSpPr>
        <p:spPr>
          <a:xfrm>
            <a:off x="6492240" y="3429000"/>
            <a:ext cx="4937760" cy="320040"/>
          </a:xfrm>
          <a:prstGeom prst="rect">
            <a:avLst/>
          </a:prstGeom>
          <a:noFill/>
          <a:ln/>
        </p:spPr>
        <p:txBody>
          <a:bodyPr wrap="square" rtlCol="0" anchor="ctr"/>
          <a:lstStyle/>
          <a:p>
            <a:pPr indent="0" marL="0">
              <a:buNone/>
            </a:pPr>
            <a:r>
              <a:rPr lang="en-US" sz="1500" i="1" dirty="0">
                <a:solidFill>
                  <a:srgbClr val="10375C"/>
                </a:solidFill>
                <a:latin typeface="Cambria Math" pitchFamily="34" charset="0"/>
                <a:ea typeface="Cambria Math" pitchFamily="34" charset="-122"/>
                <a:cs typeface="Cambria Math" pitchFamily="34" charset="-120"/>
              </a:rPr>
              <a:t>odds = p / (1 − p)</a:t>
            </a:r>
            <a:endParaRPr lang="en-US" sz="1500" dirty="0"/>
          </a:p>
        </p:txBody>
      </p:sp>
      <p:sp>
        <p:nvSpPr>
          <p:cNvPr id="12" name="Text 8"/>
          <p:cNvSpPr/>
          <p:nvPr/>
        </p:nvSpPr>
        <p:spPr>
          <a:xfrm>
            <a:off x="6492240" y="3776472"/>
            <a:ext cx="4937760" cy="365760"/>
          </a:xfrm>
          <a:prstGeom prst="rect">
            <a:avLst/>
          </a:prstGeom>
          <a:noFill/>
          <a:ln/>
        </p:spPr>
        <p:txBody>
          <a:bodyPr wrap="square" rtlCol="0" anchor="ctr"/>
          <a:lstStyle/>
          <a:p>
            <a:pPr indent="0" marL="0">
              <a:buNone/>
            </a:pPr>
            <a:r>
              <a:rPr lang="en-US" sz="1030" dirty="0">
                <a:solidFill>
                  <a:srgbClr val="8A97A5"/>
                </a:solidFill>
                <a:latin typeface="Calibri" pitchFamily="34" charset="0"/>
                <a:ea typeface="Calibri" pitchFamily="34" charset="-122"/>
                <a:cs typeface="Calibri" pitchFamily="34" charset="-120"/>
              </a:rPr>
              <a:t>e.g. p = 0.8 → odds = 4 → 'four times as likely to be 1 as 0'</a:t>
            </a:r>
            <a:endParaRPr lang="en-US" sz="1030" dirty="0"/>
          </a:p>
        </p:txBody>
      </p:sp>
      <p:sp>
        <p:nvSpPr>
          <p:cNvPr id="13" name="Shape 9"/>
          <p:cNvSpPr/>
          <p:nvPr/>
        </p:nvSpPr>
        <p:spPr>
          <a:xfrm>
            <a:off x="548640" y="4480560"/>
            <a:ext cx="11064240" cy="1600200"/>
          </a:xfrm>
          <a:prstGeom prst="roundRect">
            <a:avLst>
              <a:gd name="adj" fmla="val 4571"/>
            </a:avLst>
          </a:prstGeom>
          <a:solidFill>
            <a:srgbClr val="FDF3E3"/>
          </a:solidFill>
          <a:ln w="12700">
            <a:solidFill>
              <a:srgbClr val="F0D9A8"/>
            </a:solidFill>
            <a:prstDash val="solid"/>
          </a:ln>
        </p:spPr>
      </p:sp>
      <p:sp>
        <p:nvSpPr>
          <p:cNvPr id="14" name="Text 10"/>
          <p:cNvSpPr/>
          <p:nvPr/>
        </p:nvSpPr>
        <p:spPr>
          <a:xfrm>
            <a:off x="822960" y="4599432"/>
            <a:ext cx="4572000" cy="274320"/>
          </a:xfrm>
          <a:prstGeom prst="rect">
            <a:avLst/>
          </a:prstGeom>
          <a:noFill/>
          <a:ln/>
        </p:spPr>
        <p:txBody>
          <a:bodyPr wrap="square" rtlCol="0" anchor="ctr"/>
          <a:lstStyle/>
          <a:p>
            <a:pPr indent="0" marL="0">
              <a:buNone/>
            </a:pPr>
            <a:r>
              <a:rPr lang="en-US" sz="1200" b="1" dirty="0">
                <a:solidFill>
                  <a:srgbClr val="8A5A00"/>
                </a:solidFill>
                <a:latin typeface="Calibri" pitchFamily="34" charset="0"/>
                <a:ea typeface="Calibri" pitchFamily="34" charset="-122"/>
                <a:cs typeface="Calibri" pitchFamily="34" charset="-120"/>
              </a:rPr>
              <a:t>Why this matters</a:t>
            </a:r>
            <a:endParaRPr lang="en-US" sz="1200" dirty="0"/>
          </a:p>
        </p:txBody>
      </p:sp>
      <p:sp>
        <p:nvSpPr>
          <p:cNvPr id="15" name="Text 11"/>
          <p:cNvSpPr/>
          <p:nvPr/>
        </p:nvSpPr>
        <p:spPr>
          <a:xfrm>
            <a:off x="822960" y="4873752"/>
            <a:ext cx="10332720" cy="1097280"/>
          </a:xfrm>
          <a:prstGeom prst="rect">
            <a:avLst/>
          </a:prstGeom>
          <a:noFill/>
          <a:ln/>
        </p:spPr>
        <p:txBody>
          <a:bodyPr wrap="square" rtlCol="0" anchor="ctr"/>
          <a:lstStyle/>
          <a:p>
            <a:pPr indent="0" marL="0">
              <a:buNone/>
            </a:pPr>
            <a:r>
              <a:rPr lang="en-US" sz="1180" dirty="0">
                <a:solidFill>
                  <a:srgbClr val="22313F"/>
                </a:solidFill>
                <a:latin typeface="Calibri" pitchFamily="34" charset="0"/>
                <a:ea typeface="Calibri" pitchFamily="34" charset="-122"/>
                <a:cs typeface="Calibri" pitchFamily="34" charset="-120"/>
              </a:rPr>
              <a:t>Logistic regression is a Generalized Linear Model (GLM): it keeps the familiar θᵀx linear core from linear regression, but wraps it with the logit link function. Each θⱼ has a direct interpretation — a one-unit increase in xⱼ changes the log-odds by θⱼ, i.e. multiplies the odds by e^θⱼ.</a:t>
            </a:r>
            <a:endParaRPr lang="en-US" sz="1180" dirty="0"/>
          </a:p>
        </p:txBody>
      </p:sp>
      <p:sp>
        <p:nvSpPr>
          <p:cNvPr id="16" name="Text 12"/>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8A97A5"/>
                </a:solidFill>
                <a:latin typeface="Calibri" pitchFamily="34" charset="0"/>
                <a:ea typeface="Calibri" pitchFamily="34" charset="-122"/>
                <a:cs typeface="Calibri" pitchFamily="34" charset="-120"/>
              </a:rPr>
              <a:t>Linear &amp; Logistic Regression</a:t>
            </a:r>
            <a:endParaRPr lang="en-US" sz="900" dirty="0"/>
          </a:p>
        </p:txBody>
      </p:sp>
      <p:sp>
        <p:nvSpPr>
          <p:cNvPr id="17" name="Text 13"/>
          <p:cNvSpPr/>
          <p:nvPr/>
        </p:nvSpPr>
        <p:spPr>
          <a:xfrm>
            <a:off x="11368735" y="6547104"/>
            <a:ext cx="457200" cy="256032"/>
          </a:xfrm>
          <a:prstGeom prst="rect">
            <a:avLst/>
          </a:prstGeom>
          <a:noFill/>
          <a:ln/>
        </p:spPr>
        <p:txBody>
          <a:bodyPr wrap="square"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2.4  DERIVATION — PART I</a:t>
            </a:r>
            <a:endParaRPr lang="en-US" sz="1300" dirty="0"/>
          </a:p>
        </p:txBody>
      </p:sp>
      <p:sp>
        <p:nvSpPr>
          <p:cNvPr id="3" name="Text 1"/>
          <p:cNvSpPr/>
          <p:nvPr/>
        </p:nvSpPr>
        <p:spPr>
          <a:xfrm>
            <a:off x="548640" y="658368"/>
            <a:ext cx="10607040" cy="777240"/>
          </a:xfrm>
          <a:prstGeom prst="rect">
            <a:avLst/>
          </a:prstGeom>
          <a:noFill/>
          <a:ln/>
        </p:spPr>
        <p:txBody>
          <a:bodyPr wrap="square" rtlCol="0" anchor="ctr"/>
          <a:lstStyle/>
          <a:p>
            <a:pPr indent="0" marL="0">
              <a:buNone/>
            </a:pPr>
            <a:r>
              <a:rPr lang="en-US" sz="3000" b="1" dirty="0">
                <a:solidFill>
                  <a:srgbClr val="10375C"/>
                </a:solidFill>
                <a:latin typeface="Cambria" pitchFamily="34" charset="0"/>
                <a:ea typeface="Cambria" pitchFamily="34" charset="-122"/>
                <a:cs typeface="Cambria" pitchFamily="34" charset="-120"/>
              </a:rPr>
              <a:t>Maximum Likelihood: The Bernoulli Model</a:t>
            </a:r>
            <a:endParaRPr lang="en-US" sz="3000" dirty="0"/>
          </a:p>
        </p:txBody>
      </p:sp>
      <p:sp>
        <p:nvSpPr>
          <p:cNvPr id="4" name="Text 2"/>
          <p:cNvSpPr/>
          <p:nvPr/>
        </p:nvSpPr>
        <p:spPr>
          <a:xfrm>
            <a:off x="548640" y="1417320"/>
            <a:ext cx="10698480" cy="365760"/>
          </a:xfrm>
          <a:prstGeom prst="rect">
            <a:avLst/>
          </a:prstGeom>
          <a:noFill/>
          <a:ln/>
        </p:spPr>
        <p:txBody>
          <a:bodyPr wrap="square" rtlCol="0" anchor="ctr"/>
          <a:lstStyle/>
          <a:p>
            <a:pPr indent="0" marL="0">
              <a:buNone/>
            </a:pPr>
            <a:r>
              <a:rPr lang="en-US" sz="1300" dirty="0">
                <a:solidFill>
                  <a:srgbClr val="22313F"/>
                </a:solidFill>
                <a:latin typeface="Calibri" pitchFamily="34" charset="0"/>
                <a:ea typeface="Calibri" pitchFamily="34" charset="-122"/>
                <a:cs typeface="Calibri" pitchFamily="34" charset="-120"/>
              </a:rPr>
              <a:t>Each label y ∈ {0, 1} is modeled as a Bernoulli trial with success probability ŷ:</a:t>
            </a:r>
            <a:endParaRPr lang="en-US" sz="1300" dirty="0"/>
          </a:p>
        </p:txBody>
      </p:sp>
      <p:sp>
        <p:nvSpPr>
          <p:cNvPr id="5" name="Shape 3"/>
          <p:cNvSpPr/>
          <p:nvPr/>
        </p:nvSpPr>
        <p:spPr>
          <a:xfrm>
            <a:off x="548640" y="1828800"/>
            <a:ext cx="11064240" cy="822960"/>
          </a:xfrm>
          <a:prstGeom prst="roundRect">
            <a:avLst>
              <a:gd name="adj" fmla="val 8889"/>
            </a:avLst>
          </a:prstGeom>
          <a:solidFill>
            <a:srgbClr val="EFF4F8"/>
          </a:solidFill>
          <a:ln w="12700">
            <a:solidFill>
              <a:srgbClr val="D9E3EC"/>
            </a:solidFill>
            <a:prstDash val="solid"/>
          </a:ln>
        </p:spPr>
      </p:sp>
      <p:pic>
        <p:nvPicPr>
          <p:cNvPr id="6" name="Image 0" descr="/home/claude/work/equations/log_bernoulli.png">    </p:cNvPr>
          <p:cNvPicPr>
            <a:picLocks noChangeAspect="1"/>
          </p:cNvPicPr>
          <p:nvPr/>
        </p:nvPicPr>
        <p:blipFill>
          <a:blip r:embed="rId1"/>
          <a:stretch>
            <a:fillRect/>
          </a:stretch>
        </p:blipFill>
        <p:spPr>
          <a:xfrm>
            <a:off x="4143104" y="1956816"/>
            <a:ext cx="3875312" cy="566928"/>
          </a:xfrm>
          <a:prstGeom prst="rect">
            <a:avLst/>
          </a:prstGeom>
        </p:spPr>
      </p:pic>
      <p:sp>
        <p:nvSpPr>
          <p:cNvPr id="7" name="Text 4"/>
          <p:cNvSpPr/>
          <p:nvPr/>
        </p:nvSpPr>
        <p:spPr>
          <a:xfrm>
            <a:off x="548640" y="2743200"/>
            <a:ext cx="10698480" cy="365760"/>
          </a:xfrm>
          <a:prstGeom prst="rect">
            <a:avLst/>
          </a:prstGeom>
          <a:noFill/>
          <a:ln/>
        </p:spPr>
        <p:txBody>
          <a:bodyPr wrap="square" rtlCol="0" anchor="ctr"/>
          <a:lstStyle/>
          <a:p>
            <a:pPr indent="0" marL="0">
              <a:buNone/>
            </a:pPr>
            <a:r>
              <a:rPr lang="en-US" sz="1150" i="1" dirty="0">
                <a:solidFill>
                  <a:srgbClr val="1C7293"/>
                </a:solidFill>
                <a:latin typeface="Calibri" pitchFamily="34" charset="0"/>
                <a:ea typeface="Calibri" pitchFamily="34" charset="-122"/>
                <a:cs typeface="Calibri" pitchFamily="34" charset="-120"/>
              </a:rPr>
              <a:t>A neat trick: this single expression equals ŷ when y=1, and (1−ŷ) when y=0 — try substituting both values.</a:t>
            </a:r>
            <a:endParaRPr lang="en-US" sz="1150" dirty="0"/>
          </a:p>
        </p:txBody>
      </p:sp>
      <p:sp>
        <p:nvSpPr>
          <p:cNvPr id="8" name="Text 5"/>
          <p:cNvSpPr/>
          <p:nvPr/>
        </p:nvSpPr>
        <p:spPr>
          <a:xfrm>
            <a:off x="548640" y="3246120"/>
            <a:ext cx="10698480" cy="365760"/>
          </a:xfrm>
          <a:prstGeom prst="rect">
            <a:avLst/>
          </a:prstGeom>
          <a:noFill/>
          <a:ln/>
        </p:spPr>
        <p:txBody>
          <a:bodyPr wrap="square" rtlCol="0" anchor="ctr"/>
          <a:lstStyle/>
          <a:p>
            <a:pPr indent="0" marL="0">
              <a:buNone/>
            </a:pPr>
            <a:r>
              <a:rPr lang="en-US" sz="1300" dirty="0">
                <a:solidFill>
                  <a:srgbClr val="22313F"/>
                </a:solidFill>
                <a:latin typeface="Calibri" pitchFamily="34" charset="0"/>
                <a:ea typeface="Calibri" pitchFamily="34" charset="-122"/>
                <a:cs typeface="Calibri" pitchFamily="34" charset="-120"/>
              </a:rPr>
              <a:t>Assuming the m training examples are independent, the full-dataset likelihood is their product:</a:t>
            </a:r>
            <a:endParaRPr lang="en-US" sz="1300" dirty="0"/>
          </a:p>
        </p:txBody>
      </p:sp>
      <p:sp>
        <p:nvSpPr>
          <p:cNvPr id="9" name="Shape 6"/>
          <p:cNvSpPr/>
          <p:nvPr/>
        </p:nvSpPr>
        <p:spPr>
          <a:xfrm>
            <a:off x="548640" y="3657600"/>
            <a:ext cx="11064240" cy="1051560"/>
          </a:xfrm>
          <a:prstGeom prst="roundRect">
            <a:avLst>
              <a:gd name="adj" fmla="val 6957"/>
            </a:avLst>
          </a:prstGeom>
          <a:solidFill>
            <a:srgbClr val="EFF4F8"/>
          </a:solidFill>
          <a:ln w="12700">
            <a:solidFill>
              <a:srgbClr val="D9E3EC"/>
            </a:solidFill>
            <a:prstDash val="solid"/>
          </a:ln>
        </p:spPr>
      </p:sp>
      <p:pic>
        <p:nvPicPr>
          <p:cNvPr id="10" name="Image 1" descr="/home/claude/work/equations/log_likelihood_full.png">    </p:cNvPr>
          <p:cNvPicPr>
            <a:picLocks noChangeAspect="1"/>
          </p:cNvPicPr>
          <p:nvPr/>
        </p:nvPicPr>
        <p:blipFill>
          <a:blip r:embed="rId2"/>
          <a:stretch>
            <a:fillRect/>
          </a:stretch>
        </p:blipFill>
        <p:spPr>
          <a:xfrm>
            <a:off x="4592919" y="3771900"/>
            <a:ext cx="2975682" cy="822960"/>
          </a:xfrm>
          <a:prstGeom prst="rect">
            <a:avLst/>
          </a:prstGeom>
        </p:spPr>
      </p:pic>
      <p:sp>
        <p:nvSpPr>
          <p:cNvPr id="11" name="Shape 7"/>
          <p:cNvSpPr/>
          <p:nvPr/>
        </p:nvSpPr>
        <p:spPr>
          <a:xfrm>
            <a:off x="548640" y="4892040"/>
            <a:ext cx="11064240" cy="1417320"/>
          </a:xfrm>
          <a:prstGeom prst="roundRect">
            <a:avLst>
              <a:gd name="adj" fmla="val 5161"/>
            </a:avLst>
          </a:prstGeom>
          <a:solidFill>
            <a:srgbClr val="FDF3E3"/>
          </a:solidFill>
          <a:ln w="12700">
            <a:solidFill>
              <a:srgbClr val="F0D9A8"/>
            </a:solidFill>
            <a:prstDash val="solid"/>
          </a:ln>
        </p:spPr>
      </p:sp>
      <p:sp>
        <p:nvSpPr>
          <p:cNvPr id="12" name="Text 8"/>
          <p:cNvSpPr/>
          <p:nvPr/>
        </p:nvSpPr>
        <p:spPr>
          <a:xfrm>
            <a:off x="822960" y="5010912"/>
            <a:ext cx="2743200" cy="274320"/>
          </a:xfrm>
          <a:prstGeom prst="rect">
            <a:avLst/>
          </a:prstGeom>
          <a:noFill/>
          <a:ln/>
        </p:spPr>
        <p:txBody>
          <a:bodyPr wrap="square" rtlCol="0" anchor="ctr"/>
          <a:lstStyle/>
          <a:p>
            <a:pPr indent="0" marL="0">
              <a:buNone/>
            </a:pPr>
            <a:r>
              <a:rPr lang="en-US" sz="1200" b="1" dirty="0">
                <a:solidFill>
                  <a:srgbClr val="8A5A00"/>
                </a:solidFill>
                <a:latin typeface="Calibri" pitchFamily="34" charset="0"/>
                <a:ea typeface="Calibri" pitchFamily="34" charset="-122"/>
                <a:cs typeface="Calibri" pitchFamily="34" charset="-120"/>
              </a:rPr>
              <a:t>Goal</a:t>
            </a:r>
            <a:endParaRPr lang="en-US" sz="1200" dirty="0"/>
          </a:p>
        </p:txBody>
      </p:sp>
      <p:sp>
        <p:nvSpPr>
          <p:cNvPr id="13" name="Text 9"/>
          <p:cNvSpPr/>
          <p:nvPr/>
        </p:nvSpPr>
        <p:spPr>
          <a:xfrm>
            <a:off x="822960" y="5285232"/>
            <a:ext cx="10332720" cy="777240"/>
          </a:xfrm>
          <a:prstGeom prst="rect">
            <a:avLst/>
          </a:prstGeom>
          <a:noFill/>
          <a:ln/>
        </p:spPr>
        <p:txBody>
          <a:bodyPr wrap="square" rtlCol="0" anchor="ctr"/>
          <a:lstStyle/>
          <a:p>
            <a:pPr indent="0" marL="0">
              <a:buNone/>
            </a:pPr>
            <a:r>
              <a:rPr lang="en-US" sz="1200" dirty="0">
                <a:solidFill>
                  <a:srgbClr val="22313F"/>
                </a:solidFill>
                <a:latin typeface="Calibri" pitchFamily="34" charset="0"/>
                <a:ea typeface="Calibri" pitchFamily="34" charset="-122"/>
                <a:cs typeface="Calibri" pitchFamily="34" charset="-120"/>
              </a:rPr>
              <a:t>Find θ that maximizes L(θ) — the parameters that make the observed labels most probable under our model. As with linear regression, we'll take the log first to turn the product into a sum.</a:t>
            </a:r>
            <a:endParaRPr lang="en-US" sz="1200" dirty="0"/>
          </a:p>
        </p:txBody>
      </p:sp>
      <p:sp>
        <p:nvSpPr>
          <p:cNvPr id="14" name="Text 10"/>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8A97A5"/>
                </a:solidFill>
                <a:latin typeface="Calibri" pitchFamily="34" charset="0"/>
                <a:ea typeface="Calibri" pitchFamily="34" charset="-122"/>
                <a:cs typeface="Calibri" pitchFamily="34" charset="-120"/>
              </a:rPr>
              <a:t>Linear &amp; Logistic Regression</a:t>
            </a:r>
            <a:endParaRPr lang="en-US" sz="900" dirty="0"/>
          </a:p>
        </p:txBody>
      </p:sp>
      <p:sp>
        <p:nvSpPr>
          <p:cNvPr id="15" name="Text 11"/>
          <p:cNvSpPr/>
          <p:nvPr/>
        </p:nvSpPr>
        <p:spPr>
          <a:xfrm>
            <a:off x="11368735" y="6547104"/>
            <a:ext cx="457200" cy="256032"/>
          </a:xfrm>
          <a:prstGeom prst="rect">
            <a:avLst/>
          </a:prstGeom>
          <a:noFill/>
          <a:ln/>
        </p:spPr>
        <p:txBody>
          <a:bodyPr wrap="square"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2.5  DERIVATION — PART II</a:t>
            </a:r>
            <a:endParaRPr lang="en-US" sz="1300" dirty="0"/>
          </a:p>
        </p:txBody>
      </p:sp>
      <p:sp>
        <p:nvSpPr>
          <p:cNvPr id="3" name="Text 1"/>
          <p:cNvSpPr/>
          <p:nvPr/>
        </p:nvSpPr>
        <p:spPr>
          <a:xfrm>
            <a:off x="548640" y="658368"/>
            <a:ext cx="10607040" cy="777240"/>
          </a:xfrm>
          <a:prstGeom prst="rect">
            <a:avLst/>
          </a:prstGeom>
          <a:noFill/>
          <a:ln/>
        </p:spPr>
        <p:txBody>
          <a:bodyPr wrap="square" rtlCol="0" anchor="ctr"/>
          <a:lstStyle/>
          <a:p>
            <a:pPr indent="0" marL="0">
              <a:buNone/>
            </a:pPr>
            <a:r>
              <a:rPr lang="en-US" sz="3000" b="1" dirty="0">
                <a:solidFill>
                  <a:srgbClr val="10375C"/>
                </a:solidFill>
                <a:latin typeface="Cambria" pitchFamily="34" charset="0"/>
                <a:ea typeface="Cambria" pitchFamily="34" charset="-122"/>
                <a:cs typeface="Cambria" pitchFamily="34" charset="-120"/>
              </a:rPr>
              <a:t>Log-Likelihood → Binary Cross-Entropy Loss</a:t>
            </a:r>
            <a:endParaRPr lang="en-US" sz="3000" dirty="0"/>
          </a:p>
        </p:txBody>
      </p:sp>
      <p:sp>
        <p:nvSpPr>
          <p:cNvPr id="4" name="Text 2"/>
          <p:cNvSpPr/>
          <p:nvPr/>
        </p:nvSpPr>
        <p:spPr>
          <a:xfrm>
            <a:off x="548640" y="1417320"/>
            <a:ext cx="10698480" cy="320040"/>
          </a:xfrm>
          <a:prstGeom prst="rect">
            <a:avLst/>
          </a:prstGeom>
          <a:noFill/>
          <a:ln/>
        </p:spPr>
        <p:txBody>
          <a:bodyPr wrap="square"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Step 1 — Take the log of the likelihood (product → sum):</a:t>
            </a:r>
            <a:endParaRPr lang="en-US" sz="1300" dirty="0"/>
          </a:p>
        </p:txBody>
      </p:sp>
      <p:sp>
        <p:nvSpPr>
          <p:cNvPr id="5" name="Shape 3"/>
          <p:cNvSpPr/>
          <p:nvPr/>
        </p:nvSpPr>
        <p:spPr>
          <a:xfrm>
            <a:off x="548640" y="1783080"/>
            <a:ext cx="11064240" cy="1005840"/>
          </a:xfrm>
          <a:prstGeom prst="roundRect">
            <a:avLst>
              <a:gd name="adj" fmla="val 7273"/>
            </a:avLst>
          </a:prstGeom>
          <a:solidFill>
            <a:srgbClr val="EFF4F8"/>
          </a:solidFill>
          <a:ln w="12700">
            <a:solidFill>
              <a:srgbClr val="D9E3EC"/>
            </a:solidFill>
            <a:prstDash val="solid"/>
          </a:ln>
        </p:spPr>
      </p:sp>
      <p:pic>
        <p:nvPicPr>
          <p:cNvPr id="6" name="Image 0" descr="/home/claude/work/equations/log_loglikelihood.png">    </p:cNvPr>
          <p:cNvPicPr>
            <a:picLocks noChangeAspect="1"/>
          </p:cNvPicPr>
          <p:nvPr/>
        </p:nvPicPr>
        <p:blipFill>
          <a:blip r:embed="rId1"/>
          <a:stretch>
            <a:fillRect/>
          </a:stretch>
        </p:blipFill>
        <p:spPr>
          <a:xfrm>
            <a:off x="3916486" y="1897380"/>
            <a:ext cx="4328549" cy="777240"/>
          </a:xfrm>
          <a:prstGeom prst="rect">
            <a:avLst/>
          </a:prstGeom>
        </p:spPr>
      </p:pic>
      <p:sp>
        <p:nvSpPr>
          <p:cNvPr id="7" name="Text 4"/>
          <p:cNvSpPr/>
          <p:nvPr/>
        </p:nvSpPr>
        <p:spPr>
          <a:xfrm>
            <a:off x="548640" y="2926080"/>
            <a:ext cx="10698480" cy="320040"/>
          </a:xfrm>
          <a:prstGeom prst="rect">
            <a:avLst/>
          </a:prstGeom>
          <a:noFill/>
          <a:ln/>
        </p:spPr>
        <p:txBody>
          <a:bodyPr wrap="square"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Step 2 — Maximizing log-likelihood ⇔ minimizing its negative average → the cross-entropy cost:</a:t>
            </a:r>
            <a:endParaRPr lang="en-US" sz="1300" dirty="0"/>
          </a:p>
        </p:txBody>
      </p:sp>
      <p:sp>
        <p:nvSpPr>
          <p:cNvPr id="8" name="Shape 5"/>
          <p:cNvSpPr/>
          <p:nvPr/>
        </p:nvSpPr>
        <p:spPr>
          <a:xfrm>
            <a:off x="548640" y="3291840"/>
            <a:ext cx="11064240" cy="1005840"/>
          </a:xfrm>
          <a:prstGeom prst="roundRect">
            <a:avLst>
              <a:gd name="adj" fmla="val 7273"/>
            </a:avLst>
          </a:prstGeom>
          <a:solidFill>
            <a:srgbClr val="10375C"/>
          </a:solidFill>
          <a:ln w="12700">
            <a:solidFill>
              <a:srgbClr val="10375C"/>
            </a:solidFill>
            <a:prstDash val="solid"/>
          </a:ln>
        </p:spPr>
      </p:sp>
      <p:pic>
        <p:nvPicPr>
          <p:cNvPr id="9" name="Image 1" descr="/home/claude/work/equations/log_cost_white.png">    </p:cNvPr>
          <p:cNvPicPr>
            <a:picLocks noChangeAspect="1"/>
          </p:cNvPicPr>
          <p:nvPr/>
        </p:nvPicPr>
        <p:blipFill>
          <a:blip r:embed="rId2"/>
          <a:stretch>
            <a:fillRect/>
          </a:stretch>
        </p:blipFill>
        <p:spPr>
          <a:xfrm>
            <a:off x="3671448" y="3406140"/>
            <a:ext cx="4818624" cy="777240"/>
          </a:xfrm>
          <a:prstGeom prst="rect">
            <a:avLst/>
          </a:prstGeom>
        </p:spPr>
      </p:pic>
      <p:sp>
        <p:nvSpPr>
          <p:cNvPr id="10" name="Shape 6"/>
          <p:cNvSpPr/>
          <p:nvPr/>
        </p:nvSpPr>
        <p:spPr>
          <a:xfrm>
            <a:off x="548640" y="4480560"/>
            <a:ext cx="11064240" cy="1691640"/>
          </a:xfrm>
          <a:prstGeom prst="roundRect">
            <a:avLst>
              <a:gd name="adj" fmla="val 4324"/>
            </a:avLst>
          </a:prstGeom>
          <a:solidFill>
            <a:srgbClr val="FDF3E3"/>
          </a:solidFill>
          <a:ln w="12700">
            <a:solidFill>
              <a:srgbClr val="F0D9A8"/>
            </a:solidFill>
            <a:prstDash val="solid"/>
          </a:ln>
        </p:spPr>
      </p:sp>
      <p:sp>
        <p:nvSpPr>
          <p:cNvPr id="11" name="Text 7"/>
          <p:cNvSpPr/>
          <p:nvPr/>
        </p:nvSpPr>
        <p:spPr>
          <a:xfrm>
            <a:off x="822960" y="4599432"/>
            <a:ext cx="7315200" cy="274320"/>
          </a:xfrm>
          <a:prstGeom prst="rect">
            <a:avLst/>
          </a:prstGeom>
          <a:noFill/>
          <a:ln/>
        </p:spPr>
        <p:txBody>
          <a:bodyPr wrap="square" rtlCol="0" anchor="ctr"/>
          <a:lstStyle/>
          <a:p>
            <a:pPr indent="0" marL="0">
              <a:buNone/>
            </a:pPr>
            <a:r>
              <a:rPr lang="en-US" sz="1200" b="1" dirty="0">
                <a:solidFill>
                  <a:srgbClr val="8A5A00"/>
                </a:solidFill>
                <a:latin typeface="Calibri" pitchFamily="34" charset="0"/>
                <a:ea typeface="Calibri" pitchFamily="34" charset="-122"/>
                <a:cs typeface="Calibri" pitchFamily="34" charset="-120"/>
              </a:rPr>
              <a:t>This is also called “log loss”</a:t>
            </a:r>
            <a:endParaRPr lang="en-US" sz="1200" dirty="0"/>
          </a:p>
        </p:txBody>
      </p:sp>
      <p:sp>
        <p:nvSpPr>
          <p:cNvPr id="12" name="Text 8"/>
          <p:cNvSpPr/>
          <p:nvPr/>
        </p:nvSpPr>
        <p:spPr>
          <a:xfrm>
            <a:off x="822960" y="4873752"/>
            <a:ext cx="10332720" cy="822960"/>
          </a:xfrm>
          <a:prstGeom prst="rect">
            <a:avLst/>
          </a:prstGeom>
          <a:noFill/>
          <a:ln/>
        </p:spPr>
        <p:txBody>
          <a:bodyPr wrap="square" rtlCol="0" anchor="ctr"/>
          <a:lstStyle/>
          <a:p>
            <a:pPr indent="0" marL="0">
              <a:buNone/>
            </a:pPr>
            <a:r>
              <a:rPr lang="en-US" sz="1200" dirty="0">
                <a:solidFill>
                  <a:srgbClr val="22313F"/>
                </a:solidFill>
                <a:latin typeface="Calibri" pitchFamily="34" charset="0"/>
                <a:ea typeface="Calibri" pitchFamily="34" charset="-122"/>
                <a:cs typeface="Calibri" pitchFamily="34" charset="-120"/>
              </a:rPr>
              <a:t>It's the negative average log-likelihood — minimizing it is mathematically identical to maximum likelihood estimation. Unlike squared error, cross-entropy is convex in θ (see slide 27), so gradient descent is guaranteed to find the global minimum.</a:t>
            </a:r>
            <a:endParaRPr lang="en-US" sz="1200" dirty="0"/>
          </a:p>
        </p:txBody>
      </p:sp>
      <p:sp>
        <p:nvSpPr>
          <p:cNvPr id="13" name="Text 9"/>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8A97A5"/>
                </a:solidFill>
                <a:latin typeface="Calibri" pitchFamily="34" charset="0"/>
                <a:ea typeface="Calibri" pitchFamily="34" charset="-122"/>
                <a:cs typeface="Calibri" pitchFamily="34" charset="-120"/>
              </a:rPr>
              <a:t>Linear &amp; Logistic Regression</a:t>
            </a:r>
            <a:endParaRPr lang="en-US" sz="900" dirty="0"/>
          </a:p>
        </p:txBody>
      </p:sp>
      <p:sp>
        <p:nvSpPr>
          <p:cNvPr id="14" name="Text 10"/>
          <p:cNvSpPr/>
          <p:nvPr/>
        </p:nvSpPr>
        <p:spPr>
          <a:xfrm>
            <a:off x="11368735" y="6547104"/>
            <a:ext cx="457200" cy="256032"/>
          </a:xfrm>
          <a:prstGeom prst="rect">
            <a:avLst/>
          </a:prstGeom>
          <a:noFill/>
          <a:ln/>
        </p:spPr>
        <p:txBody>
          <a:bodyPr wrap="square"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2.6  INTUITION</a:t>
            </a:r>
            <a:endParaRPr lang="en-US" sz="1300" dirty="0"/>
          </a:p>
        </p:txBody>
      </p:sp>
      <p:sp>
        <p:nvSpPr>
          <p:cNvPr id="3" name="Text 1"/>
          <p:cNvSpPr/>
          <p:nvPr/>
        </p:nvSpPr>
        <p:spPr>
          <a:xfrm>
            <a:off x="548640" y="658368"/>
            <a:ext cx="10607040" cy="777240"/>
          </a:xfrm>
          <a:prstGeom prst="rect">
            <a:avLst/>
          </a:prstGeom>
          <a:noFill/>
          <a:ln/>
        </p:spPr>
        <p:txBody>
          <a:bodyPr wrap="square" rtlCol="0" anchor="ctr"/>
          <a:lstStyle/>
          <a:p>
            <a:pPr indent="0" marL="0">
              <a:buNone/>
            </a:pPr>
            <a:r>
              <a:rPr lang="en-US" sz="3000" b="1" dirty="0">
                <a:solidFill>
                  <a:srgbClr val="10375C"/>
                </a:solidFill>
                <a:latin typeface="Cambria" pitchFamily="34" charset="0"/>
                <a:ea typeface="Cambria" pitchFamily="34" charset="-122"/>
                <a:cs typeface="Cambria" pitchFamily="34" charset="-120"/>
              </a:rPr>
              <a:t>Why Cross-Entropy Makes Sense</a:t>
            </a:r>
            <a:endParaRPr lang="en-US" sz="3000" dirty="0"/>
          </a:p>
        </p:txBody>
      </p:sp>
      <p:sp>
        <p:nvSpPr>
          <p:cNvPr id="4" name="Text 2"/>
          <p:cNvSpPr/>
          <p:nvPr/>
        </p:nvSpPr>
        <p:spPr>
          <a:xfrm>
            <a:off x="548640" y="1417320"/>
            <a:ext cx="5486400" cy="502920"/>
          </a:xfrm>
          <a:prstGeom prst="rect">
            <a:avLst/>
          </a:prstGeom>
          <a:noFill/>
          <a:ln/>
        </p:spPr>
        <p:txBody>
          <a:bodyPr wrap="square" rtlCol="0" anchor="ctr"/>
          <a:lstStyle/>
          <a:p>
            <a:pPr indent="0" marL="0">
              <a:buNone/>
            </a:pPr>
            <a:r>
              <a:rPr lang="en-US" sz="1250" dirty="0">
                <a:solidFill>
                  <a:srgbClr val="22313F"/>
                </a:solidFill>
                <a:latin typeface="Calibri" pitchFamily="34" charset="0"/>
                <a:ea typeface="Calibri" pitchFamily="34" charset="-122"/>
                <a:cs typeface="Calibri" pitchFamily="34" charset="-120"/>
              </a:rPr>
              <a:t>For a single example, the cost splits into two cases depending on the true label y:</a:t>
            </a:r>
            <a:endParaRPr lang="en-US" sz="1250" dirty="0"/>
          </a:p>
        </p:txBody>
      </p:sp>
      <p:sp>
        <p:nvSpPr>
          <p:cNvPr id="5" name="Shape 3"/>
          <p:cNvSpPr/>
          <p:nvPr/>
        </p:nvSpPr>
        <p:spPr>
          <a:xfrm>
            <a:off x="548640" y="2011680"/>
            <a:ext cx="5486400" cy="731520"/>
          </a:xfrm>
          <a:prstGeom prst="roundRect">
            <a:avLst>
              <a:gd name="adj" fmla="val 10000"/>
            </a:avLst>
          </a:prstGeom>
          <a:solidFill>
            <a:srgbClr val="EFF4F8"/>
          </a:solidFill>
          <a:ln w="12700">
            <a:solidFill>
              <a:srgbClr val="D9E3EC"/>
            </a:solidFill>
            <a:prstDash val="solid"/>
          </a:ln>
        </p:spPr>
      </p:sp>
      <p:pic>
        <p:nvPicPr>
          <p:cNvPr id="6" name="Image 0" descr="/home/claude/work/equations/log_cost_single_1.png">    </p:cNvPr>
          <p:cNvPicPr>
            <a:picLocks noChangeAspect="1"/>
          </p:cNvPicPr>
          <p:nvPr/>
        </p:nvPicPr>
        <p:blipFill>
          <a:blip r:embed="rId1"/>
          <a:stretch>
            <a:fillRect/>
          </a:stretch>
        </p:blipFill>
        <p:spPr>
          <a:xfrm>
            <a:off x="1140055" y="2125980"/>
            <a:ext cx="4303569" cy="502920"/>
          </a:xfrm>
          <a:prstGeom prst="rect">
            <a:avLst/>
          </a:prstGeom>
        </p:spPr>
      </p:pic>
      <p:sp>
        <p:nvSpPr>
          <p:cNvPr id="7" name="Shape 4"/>
          <p:cNvSpPr/>
          <p:nvPr/>
        </p:nvSpPr>
        <p:spPr>
          <a:xfrm>
            <a:off x="548640" y="2880360"/>
            <a:ext cx="5486400" cy="731520"/>
          </a:xfrm>
          <a:prstGeom prst="roundRect">
            <a:avLst>
              <a:gd name="adj" fmla="val 10000"/>
            </a:avLst>
          </a:prstGeom>
          <a:solidFill>
            <a:srgbClr val="EFF4F8"/>
          </a:solidFill>
          <a:ln w="12700">
            <a:solidFill>
              <a:srgbClr val="D9E3EC"/>
            </a:solidFill>
            <a:prstDash val="solid"/>
          </a:ln>
        </p:spPr>
      </p:sp>
      <p:pic>
        <p:nvPicPr>
          <p:cNvPr id="8" name="Image 1" descr="/home/claude/work/equations/log_cost_single_2.png">    </p:cNvPr>
          <p:cNvPicPr>
            <a:picLocks noChangeAspect="1"/>
          </p:cNvPicPr>
          <p:nvPr/>
        </p:nvPicPr>
        <p:blipFill>
          <a:blip r:embed="rId2"/>
          <a:stretch>
            <a:fillRect/>
          </a:stretch>
        </p:blipFill>
        <p:spPr>
          <a:xfrm>
            <a:off x="862324" y="2994660"/>
            <a:ext cx="4859033" cy="502920"/>
          </a:xfrm>
          <a:prstGeom prst="rect">
            <a:avLst/>
          </a:prstGeom>
        </p:spPr>
      </p:pic>
      <p:sp>
        <p:nvSpPr>
          <p:cNvPr id="9" name="Shape 5"/>
          <p:cNvSpPr/>
          <p:nvPr/>
        </p:nvSpPr>
        <p:spPr>
          <a:xfrm>
            <a:off x="548640" y="3803904"/>
            <a:ext cx="82296" cy="82296"/>
          </a:xfrm>
          <a:prstGeom prst="ellipse">
            <a:avLst/>
          </a:prstGeom>
          <a:solidFill>
            <a:srgbClr val="F2A541"/>
          </a:solidFill>
          <a:ln w="12700">
            <a:solidFill>
              <a:srgbClr val="333333"/>
            </a:solidFill>
            <a:prstDash val="solid"/>
          </a:ln>
        </p:spPr>
      </p:sp>
      <p:sp>
        <p:nvSpPr>
          <p:cNvPr id="10" name="Text 6"/>
          <p:cNvSpPr/>
          <p:nvPr/>
        </p:nvSpPr>
        <p:spPr>
          <a:xfrm>
            <a:off x="777240" y="3749040"/>
            <a:ext cx="5303520" cy="502920"/>
          </a:xfrm>
          <a:prstGeom prst="rect">
            <a:avLst/>
          </a:prstGeom>
          <a:noFill/>
          <a:ln/>
        </p:spPr>
        <p:txBody>
          <a:bodyPr wrap="square" rtlCol="0" anchor="ctr"/>
          <a:lstStyle/>
          <a:p>
            <a:pPr indent="0" marL="0">
              <a:buNone/>
            </a:pPr>
            <a:r>
              <a:rPr lang="en-US" sz="1080" dirty="0">
                <a:solidFill>
                  <a:srgbClr val="22313F"/>
                </a:solidFill>
                <a:latin typeface="Calibri" pitchFamily="34" charset="0"/>
                <a:ea typeface="Calibri" pitchFamily="34" charset="-122"/>
                <a:cs typeface="Calibri" pitchFamily="34" charset="-120"/>
              </a:rPr>
              <a:t>When y = 1: cost → 0 as ŷ → 1 (confident &amp; correct), but cost → ∞ as ŷ → 0 (confident &amp; wrong).</a:t>
            </a:r>
            <a:endParaRPr lang="en-US" sz="1080" dirty="0"/>
          </a:p>
        </p:txBody>
      </p:sp>
      <p:sp>
        <p:nvSpPr>
          <p:cNvPr id="11" name="Shape 7"/>
          <p:cNvSpPr/>
          <p:nvPr/>
        </p:nvSpPr>
        <p:spPr>
          <a:xfrm>
            <a:off x="548640" y="4370832"/>
            <a:ext cx="82296" cy="82296"/>
          </a:xfrm>
          <a:prstGeom prst="ellipse">
            <a:avLst/>
          </a:prstGeom>
          <a:solidFill>
            <a:srgbClr val="F2A541"/>
          </a:solidFill>
          <a:ln w="12700">
            <a:solidFill>
              <a:srgbClr val="333333"/>
            </a:solidFill>
            <a:prstDash val="solid"/>
          </a:ln>
        </p:spPr>
      </p:sp>
      <p:sp>
        <p:nvSpPr>
          <p:cNvPr id="12" name="Text 8"/>
          <p:cNvSpPr/>
          <p:nvPr/>
        </p:nvSpPr>
        <p:spPr>
          <a:xfrm>
            <a:off x="777240" y="4315968"/>
            <a:ext cx="5303520" cy="502920"/>
          </a:xfrm>
          <a:prstGeom prst="rect">
            <a:avLst/>
          </a:prstGeom>
          <a:noFill/>
          <a:ln/>
        </p:spPr>
        <p:txBody>
          <a:bodyPr wrap="square" rtlCol="0" anchor="ctr"/>
          <a:lstStyle/>
          <a:p>
            <a:pPr indent="0" marL="0">
              <a:buNone/>
            </a:pPr>
            <a:r>
              <a:rPr lang="en-US" sz="1080" dirty="0">
                <a:solidFill>
                  <a:srgbClr val="22313F"/>
                </a:solidFill>
                <a:latin typeface="Calibri" pitchFamily="34" charset="0"/>
                <a:ea typeface="Calibri" pitchFamily="34" charset="-122"/>
                <a:cs typeface="Calibri" pitchFamily="34" charset="-120"/>
              </a:rPr>
              <a:t>When y = 0: the mirror image — being confidently wrong is punished severely.</a:t>
            </a:r>
            <a:endParaRPr lang="en-US" sz="1080" dirty="0"/>
          </a:p>
        </p:txBody>
      </p:sp>
      <p:sp>
        <p:nvSpPr>
          <p:cNvPr id="13" name="Shape 9"/>
          <p:cNvSpPr/>
          <p:nvPr/>
        </p:nvSpPr>
        <p:spPr>
          <a:xfrm>
            <a:off x="548640" y="4937760"/>
            <a:ext cx="82296" cy="82296"/>
          </a:xfrm>
          <a:prstGeom prst="ellipse">
            <a:avLst/>
          </a:prstGeom>
          <a:solidFill>
            <a:srgbClr val="F2A541"/>
          </a:solidFill>
          <a:ln w="12700">
            <a:solidFill>
              <a:srgbClr val="333333"/>
            </a:solidFill>
            <a:prstDash val="solid"/>
          </a:ln>
        </p:spPr>
      </p:sp>
      <p:sp>
        <p:nvSpPr>
          <p:cNvPr id="14" name="Text 10"/>
          <p:cNvSpPr/>
          <p:nvPr/>
        </p:nvSpPr>
        <p:spPr>
          <a:xfrm>
            <a:off x="777240" y="4882896"/>
            <a:ext cx="5303520" cy="502920"/>
          </a:xfrm>
          <a:prstGeom prst="rect">
            <a:avLst/>
          </a:prstGeom>
          <a:noFill/>
          <a:ln/>
        </p:spPr>
        <p:txBody>
          <a:bodyPr wrap="square" rtlCol="0" anchor="ctr"/>
          <a:lstStyle/>
          <a:p>
            <a:pPr indent="0" marL="0">
              <a:buNone/>
            </a:pPr>
            <a:r>
              <a:rPr lang="en-US" sz="1080" dirty="0">
                <a:solidFill>
                  <a:srgbClr val="22313F"/>
                </a:solidFill>
                <a:latin typeface="Calibri" pitchFamily="34" charset="0"/>
                <a:ea typeface="Calibri" pitchFamily="34" charset="-122"/>
                <a:cs typeface="Calibri" pitchFamily="34" charset="-120"/>
              </a:rPr>
              <a:t>This asymmetric, unbounded penalty is exactly what drives the model to push predictions toward the correct extreme.</a:t>
            </a:r>
            <a:endParaRPr lang="en-US" sz="1080" dirty="0"/>
          </a:p>
        </p:txBody>
      </p:sp>
      <p:pic>
        <p:nvPicPr>
          <p:cNvPr id="15" name="Image 2" descr="/home/claude/work/plots/log_loss_curves.png">    </p:cNvPr>
          <p:cNvPicPr>
            <a:picLocks noChangeAspect="1"/>
          </p:cNvPicPr>
          <p:nvPr/>
        </p:nvPicPr>
        <p:blipFill>
          <a:blip r:embed="rId3"/>
          <a:stretch>
            <a:fillRect/>
          </a:stretch>
        </p:blipFill>
        <p:spPr>
          <a:xfrm>
            <a:off x="6583680" y="1890286"/>
            <a:ext cx="5394960" cy="3534629"/>
          </a:xfrm>
          <a:prstGeom prst="rect">
            <a:avLst/>
          </a:prstGeom>
        </p:spPr>
      </p:pic>
      <p:sp>
        <p:nvSpPr>
          <p:cNvPr id="16" name="Text 11"/>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8A97A5"/>
                </a:solidFill>
                <a:latin typeface="Calibri" pitchFamily="34" charset="0"/>
                <a:ea typeface="Calibri" pitchFamily="34" charset="-122"/>
                <a:cs typeface="Calibri" pitchFamily="34" charset="-120"/>
              </a:rPr>
              <a:t>Linear &amp; Logistic Regression</a:t>
            </a:r>
            <a:endParaRPr lang="en-US" sz="900" dirty="0"/>
          </a:p>
        </p:txBody>
      </p:sp>
      <p:sp>
        <p:nvSpPr>
          <p:cNvPr id="17" name="Text 12"/>
          <p:cNvSpPr/>
          <p:nvPr/>
        </p:nvSpPr>
        <p:spPr>
          <a:xfrm>
            <a:off x="11368735" y="6547104"/>
            <a:ext cx="457200" cy="256032"/>
          </a:xfrm>
          <a:prstGeom prst="rect">
            <a:avLst/>
          </a:prstGeom>
          <a:noFill/>
          <a:ln/>
        </p:spPr>
        <p:txBody>
          <a:bodyPr wrap="square"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2.7  DERIVATION — PART III</a:t>
            </a:r>
            <a:endParaRPr lang="en-US" sz="1300" dirty="0"/>
          </a:p>
        </p:txBody>
      </p:sp>
      <p:sp>
        <p:nvSpPr>
          <p:cNvPr id="3" name="Text 1"/>
          <p:cNvSpPr/>
          <p:nvPr/>
        </p:nvSpPr>
        <p:spPr>
          <a:xfrm>
            <a:off x="548640" y="658368"/>
            <a:ext cx="10607040" cy="777240"/>
          </a:xfrm>
          <a:prstGeom prst="rect">
            <a:avLst/>
          </a:prstGeom>
          <a:noFill/>
          <a:ln/>
        </p:spPr>
        <p:txBody>
          <a:bodyPr wrap="square" rtlCol="0" anchor="ctr"/>
          <a:lstStyle/>
          <a:p>
            <a:pPr indent="0" marL="0">
              <a:buNone/>
            </a:pPr>
            <a:r>
              <a:rPr lang="en-US" sz="3000" b="1" dirty="0">
                <a:solidFill>
                  <a:srgbClr val="10375C"/>
                </a:solidFill>
                <a:latin typeface="Cambria" pitchFamily="34" charset="0"/>
                <a:ea typeface="Cambria" pitchFamily="34" charset="-122"/>
                <a:cs typeface="Cambria" pitchFamily="34" charset="-120"/>
              </a:rPr>
              <a:t>The Gradient — A Beautifully Simple Result</a:t>
            </a:r>
            <a:endParaRPr lang="en-US" sz="3000" dirty="0"/>
          </a:p>
        </p:txBody>
      </p:sp>
      <p:sp>
        <p:nvSpPr>
          <p:cNvPr id="4" name="Text 2"/>
          <p:cNvSpPr/>
          <p:nvPr/>
        </p:nvSpPr>
        <p:spPr>
          <a:xfrm>
            <a:off x="548640" y="1371600"/>
            <a:ext cx="10698480" cy="365760"/>
          </a:xfrm>
          <a:prstGeom prst="rect">
            <a:avLst/>
          </a:prstGeom>
          <a:noFill/>
          <a:ln/>
        </p:spPr>
        <p:txBody>
          <a:bodyPr wrap="square" rtlCol="0" anchor="ctr"/>
          <a:lstStyle/>
          <a:p>
            <a:pPr indent="0" marL="0">
              <a:buNone/>
            </a:pPr>
            <a:r>
              <a:rPr lang="en-US" sz="1250" dirty="0">
                <a:solidFill>
                  <a:srgbClr val="22313F"/>
                </a:solidFill>
                <a:latin typeface="Calibri" pitchFamily="34" charset="0"/>
                <a:ea typeface="Calibri" pitchFamily="34" charset="-122"/>
                <a:cs typeface="Calibri" pitchFamily="34" charset="-120"/>
              </a:rPr>
              <a:t>We need ∂J/∂θⱼ. Since J depends on θⱼ only through ŷᵢ = σ(θᵀxᵢ), apply the chain rule:</a:t>
            </a:r>
            <a:endParaRPr lang="en-US" sz="1250" dirty="0"/>
          </a:p>
        </p:txBody>
      </p:sp>
      <p:sp>
        <p:nvSpPr>
          <p:cNvPr id="5" name="Shape 3"/>
          <p:cNvSpPr/>
          <p:nvPr/>
        </p:nvSpPr>
        <p:spPr>
          <a:xfrm>
            <a:off x="548640" y="1783080"/>
            <a:ext cx="5394960" cy="914400"/>
          </a:xfrm>
          <a:prstGeom prst="roundRect">
            <a:avLst>
              <a:gd name="adj" fmla="val 8000"/>
            </a:avLst>
          </a:prstGeom>
          <a:solidFill>
            <a:srgbClr val="EFF4F8"/>
          </a:solidFill>
          <a:ln w="12700">
            <a:solidFill>
              <a:srgbClr val="D9E3EC"/>
            </a:solidFill>
            <a:prstDash val="solid"/>
          </a:ln>
        </p:spPr>
      </p:sp>
      <p:sp>
        <p:nvSpPr>
          <p:cNvPr id="6" name="Text 4"/>
          <p:cNvSpPr/>
          <p:nvPr/>
        </p:nvSpPr>
        <p:spPr>
          <a:xfrm>
            <a:off x="777240" y="1874520"/>
            <a:ext cx="4937760" cy="274320"/>
          </a:xfrm>
          <a:prstGeom prst="rect">
            <a:avLst/>
          </a:prstGeom>
          <a:noFill/>
          <a:ln/>
        </p:spPr>
        <p:txBody>
          <a:bodyPr wrap="square"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∂J/∂ŷᵢ</a:t>
            </a:r>
            <a:endParaRPr lang="en-US" sz="1100" dirty="0"/>
          </a:p>
        </p:txBody>
      </p:sp>
      <p:pic>
        <p:nvPicPr>
          <p:cNvPr id="7" name="Image 0" descr="/home/claude/work/equations/log_chain_1.png">    </p:cNvPr>
          <p:cNvPicPr>
            <a:picLocks noChangeAspect="1"/>
          </p:cNvPicPr>
          <p:nvPr/>
        </p:nvPicPr>
        <p:blipFill>
          <a:blip r:embed="rId1"/>
          <a:stretch>
            <a:fillRect/>
          </a:stretch>
        </p:blipFill>
        <p:spPr>
          <a:xfrm>
            <a:off x="2306430" y="2034540"/>
            <a:ext cx="1879379" cy="594360"/>
          </a:xfrm>
          <a:prstGeom prst="rect">
            <a:avLst/>
          </a:prstGeom>
        </p:spPr>
      </p:pic>
      <p:sp>
        <p:nvSpPr>
          <p:cNvPr id="8" name="Shape 5"/>
          <p:cNvSpPr/>
          <p:nvPr/>
        </p:nvSpPr>
        <p:spPr>
          <a:xfrm>
            <a:off x="6172200" y="1783080"/>
            <a:ext cx="5440680" cy="914400"/>
          </a:xfrm>
          <a:prstGeom prst="roundRect">
            <a:avLst>
              <a:gd name="adj" fmla="val 8000"/>
            </a:avLst>
          </a:prstGeom>
          <a:solidFill>
            <a:srgbClr val="EFF4F8"/>
          </a:solidFill>
          <a:ln w="12700">
            <a:solidFill>
              <a:srgbClr val="D9E3EC"/>
            </a:solidFill>
            <a:prstDash val="solid"/>
          </a:ln>
        </p:spPr>
      </p:sp>
      <p:sp>
        <p:nvSpPr>
          <p:cNvPr id="9" name="Text 6"/>
          <p:cNvSpPr/>
          <p:nvPr/>
        </p:nvSpPr>
        <p:spPr>
          <a:xfrm>
            <a:off x="6400800" y="1874520"/>
            <a:ext cx="5029200" cy="274320"/>
          </a:xfrm>
          <a:prstGeom prst="rect">
            <a:avLst/>
          </a:prstGeom>
          <a:noFill/>
          <a:ln/>
        </p:spPr>
        <p:txBody>
          <a:bodyPr wrap="square"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∂ŷᵢ/∂θⱼ   (using σ'(z) = σ(z)(1−σ(z)))</a:t>
            </a:r>
            <a:endParaRPr lang="en-US" sz="1100" dirty="0"/>
          </a:p>
        </p:txBody>
      </p:sp>
      <p:pic>
        <p:nvPicPr>
          <p:cNvPr id="10" name="Image 1" descr="/home/claude/work/equations/log_chain_2.png">    </p:cNvPr>
          <p:cNvPicPr>
            <a:picLocks noChangeAspect="1"/>
          </p:cNvPicPr>
          <p:nvPr/>
        </p:nvPicPr>
        <p:blipFill>
          <a:blip r:embed="rId2"/>
          <a:stretch>
            <a:fillRect/>
          </a:stretch>
        </p:blipFill>
        <p:spPr>
          <a:xfrm>
            <a:off x="7965146" y="2034540"/>
            <a:ext cx="1809068" cy="594360"/>
          </a:xfrm>
          <a:prstGeom prst="rect">
            <a:avLst/>
          </a:prstGeom>
        </p:spPr>
      </p:pic>
      <p:sp>
        <p:nvSpPr>
          <p:cNvPr id="11" name="Text 7"/>
          <p:cNvSpPr/>
          <p:nvPr/>
        </p:nvSpPr>
        <p:spPr>
          <a:xfrm>
            <a:off x="548640" y="2880360"/>
            <a:ext cx="10698480" cy="320040"/>
          </a:xfrm>
          <a:prstGeom prst="rect">
            <a:avLst/>
          </a:prstGeom>
          <a:noFill/>
          <a:ln/>
        </p:spPr>
        <p:txBody>
          <a:bodyPr wrap="square" rtlCol="0" anchor="ctr"/>
          <a:lstStyle/>
          <a:p>
            <a:pPr indent="0" marL="0">
              <a:buNone/>
            </a:pPr>
            <a:r>
              <a:rPr lang="en-US" sz="1250" dirty="0">
                <a:solidFill>
                  <a:srgbClr val="22313F"/>
                </a:solidFill>
                <a:latin typeface="Calibri" pitchFamily="34" charset="0"/>
                <a:ea typeface="Calibri" pitchFamily="34" charset="-122"/>
                <a:cs typeface="Calibri" pitchFamily="34" charset="-120"/>
              </a:rPr>
              <a:t>Multiplying the two and summing over all examples, nearly everything cancels:</a:t>
            </a:r>
            <a:endParaRPr lang="en-US" sz="1250" dirty="0"/>
          </a:p>
        </p:txBody>
      </p:sp>
      <p:sp>
        <p:nvSpPr>
          <p:cNvPr id="12" name="Shape 8"/>
          <p:cNvSpPr/>
          <p:nvPr/>
        </p:nvSpPr>
        <p:spPr>
          <a:xfrm>
            <a:off x="548640" y="3246120"/>
            <a:ext cx="11064240" cy="1005840"/>
          </a:xfrm>
          <a:prstGeom prst="roundRect">
            <a:avLst>
              <a:gd name="adj" fmla="val 7273"/>
            </a:avLst>
          </a:prstGeom>
          <a:solidFill>
            <a:srgbClr val="10375C"/>
          </a:solidFill>
          <a:ln w="12700">
            <a:solidFill>
              <a:srgbClr val="10375C"/>
            </a:solidFill>
            <a:prstDash val="solid"/>
          </a:ln>
        </p:spPr>
      </p:sp>
      <p:pic>
        <p:nvPicPr>
          <p:cNvPr id="13" name="Image 2" descr="/home/claude/work/equations/log_partial_deriv_white.png">    </p:cNvPr>
          <p:cNvPicPr>
            <a:picLocks noChangeAspect="1"/>
          </p:cNvPicPr>
          <p:nvPr/>
        </p:nvPicPr>
        <p:blipFill>
          <a:blip r:embed="rId3"/>
          <a:stretch>
            <a:fillRect/>
          </a:stretch>
        </p:blipFill>
        <p:spPr>
          <a:xfrm>
            <a:off x="4684192" y="3360420"/>
            <a:ext cx="2793136" cy="777240"/>
          </a:xfrm>
          <a:prstGeom prst="rect">
            <a:avLst/>
          </a:prstGeom>
        </p:spPr>
      </p:pic>
      <p:sp>
        <p:nvSpPr>
          <p:cNvPr id="14" name="Shape 9"/>
          <p:cNvSpPr/>
          <p:nvPr/>
        </p:nvSpPr>
        <p:spPr>
          <a:xfrm>
            <a:off x="548640" y="4434840"/>
            <a:ext cx="11064240" cy="1691640"/>
          </a:xfrm>
          <a:prstGeom prst="roundRect">
            <a:avLst>
              <a:gd name="adj" fmla="val 4324"/>
            </a:avLst>
          </a:prstGeom>
          <a:solidFill>
            <a:srgbClr val="FDF3E3"/>
          </a:solidFill>
          <a:ln w="12700">
            <a:solidFill>
              <a:srgbClr val="F0D9A8"/>
            </a:solidFill>
            <a:prstDash val="solid"/>
          </a:ln>
        </p:spPr>
      </p:sp>
      <p:sp>
        <p:nvSpPr>
          <p:cNvPr id="15" name="Text 10"/>
          <p:cNvSpPr/>
          <p:nvPr/>
        </p:nvSpPr>
        <p:spPr>
          <a:xfrm>
            <a:off x="822960" y="4553712"/>
            <a:ext cx="5486400" cy="274320"/>
          </a:xfrm>
          <a:prstGeom prst="rect">
            <a:avLst/>
          </a:prstGeom>
          <a:noFill/>
          <a:ln/>
        </p:spPr>
        <p:txBody>
          <a:bodyPr wrap="square" rtlCol="0" anchor="ctr"/>
          <a:lstStyle/>
          <a:p>
            <a:pPr indent="0" marL="0">
              <a:buNone/>
            </a:pPr>
            <a:r>
              <a:rPr lang="en-US" sz="1200" b="1" dirty="0">
                <a:solidFill>
                  <a:srgbClr val="8A5A00"/>
                </a:solidFill>
                <a:latin typeface="Calibri" pitchFamily="34" charset="0"/>
                <a:ea typeface="Calibri" pitchFamily="34" charset="-122"/>
                <a:cs typeface="Calibri" pitchFamily="34" charset="-120"/>
              </a:rPr>
              <a:t>Remarkable fact</a:t>
            </a:r>
            <a:endParaRPr lang="en-US" sz="1200" dirty="0"/>
          </a:p>
        </p:txBody>
      </p:sp>
      <p:sp>
        <p:nvSpPr>
          <p:cNvPr id="16" name="Text 11"/>
          <p:cNvSpPr/>
          <p:nvPr/>
        </p:nvSpPr>
        <p:spPr>
          <a:xfrm>
            <a:off x="822960" y="4828032"/>
            <a:ext cx="10332720" cy="1188720"/>
          </a:xfrm>
          <a:prstGeom prst="rect">
            <a:avLst/>
          </a:prstGeom>
          <a:noFill/>
          <a:ln/>
        </p:spPr>
        <p:txBody>
          <a:bodyPr wrap="square" rtlCol="0" anchor="ctr"/>
          <a:lstStyle/>
          <a:p>
            <a:pPr indent="0" marL="0">
              <a:buNone/>
            </a:pPr>
            <a:r>
              <a:rPr lang="en-US" sz="1200" dirty="0">
                <a:solidFill>
                  <a:srgbClr val="22313F"/>
                </a:solidFill>
                <a:latin typeface="Calibri" pitchFamily="34" charset="0"/>
                <a:ea typeface="Calibri" pitchFamily="34" charset="-122"/>
                <a:cs typeface="Calibri" pitchFamily="34" charset="-120"/>
              </a:rPr>
              <a:t>This is EXACTLY the same formula as the linear regression gradient from Slide 11 — just with ŷᵢ now coming from the sigmoid instead of a raw linear output. This elegant symmetry is a general property of Generalized Linear Models with a 'canonical link' function, and it's why logistic regression's gradient descent code looks almost identical to linear regression's.</a:t>
            </a:r>
            <a:endParaRPr lang="en-US" sz="1200" dirty="0"/>
          </a:p>
        </p:txBody>
      </p:sp>
      <p:sp>
        <p:nvSpPr>
          <p:cNvPr id="17" name="Text 12"/>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8A97A5"/>
                </a:solidFill>
                <a:latin typeface="Calibri" pitchFamily="34" charset="0"/>
                <a:ea typeface="Calibri" pitchFamily="34" charset="-122"/>
                <a:cs typeface="Calibri" pitchFamily="34" charset="-120"/>
              </a:rPr>
              <a:t>Linear &amp; Logistic Regression</a:t>
            </a:r>
            <a:endParaRPr lang="en-US" sz="900" dirty="0"/>
          </a:p>
        </p:txBody>
      </p:sp>
      <p:sp>
        <p:nvSpPr>
          <p:cNvPr id="18" name="Text 13"/>
          <p:cNvSpPr/>
          <p:nvPr/>
        </p:nvSpPr>
        <p:spPr>
          <a:xfrm>
            <a:off x="11368735" y="6547104"/>
            <a:ext cx="457200" cy="256032"/>
          </a:xfrm>
          <a:prstGeom prst="rect">
            <a:avLst/>
          </a:prstGeom>
          <a:noFill/>
          <a:ln/>
        </p:spPr>
        <p:txBody>
          <a:bodyPr wrap="square"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2.8  OPTIMIZATION</a:t>
            </a:r>
            <a:endParaRPr lang="en-US" sz="1300" dirty="0"/>
          </a:p>
        </p:txBody>
      </p:sp>
      <p:sp>
        <p:nvSpPr>
          <p:cNvPr id="3" name="Text 1"/>
          <p:cNvSpPr/>
          <p:nvPr/>
        </p:nvSpPr>
        <p:spPr>
          <a:xfrm>
            <a:off x="548640" y="658368"/>
            <a:ext cx="10607040" cy="777240"/>
          </a:xfrm>
          <a:prstGeom prst="rect">
            <a:avLst/>
          </a:prstGeom>
          <a:noFill/>
          <a:ln/>
        </p:spPr>
        <p:txBody>
          <a:bodyPr wrap="square" rtlCol="0" anchor="ctr"/>
          <a:lstStyle/>
          <a:p>
            <a:pPr indent="0" marL="0">
              <a:buNone/>
            </a:pPr>
            <a:r>
              <a:rPr lang="en-US" sz="3000" b="1" dirty="0">
                <a:solidFill>
                  <a:srgbClr val="10375C"/>
                </a:solidFill>
                <a:latin typeface="Cambria" pitchFamily="34" charset="0"/>
                <a:ea typeface="Cambria" pitchFamily="34" charset="-122"/>
                <a:cs typeface="Cambria" pitchFamily="34" charset="-120"/>
              </a:rPr>
              <a:t>Gradient Descent &amp; the Convexity Guarantee</a:t>
            </a:r>
            <a:endParaRPr lang="en-US" sz="3000" dirty="0"/>
          </a:p>
        </p:txBody>
      </p:sp>
      <p:sp>
        <p:nvSpPr>
          <p:cNvPr id="4" name="Text 2"/>
          <p:cNvSpPr/>
          <p:nvPr/>
        </p:nvSpPr>
        <p:spPr>
          <a:xfrm>
            <a:off x="548640" y="1417320"/>
            <a:ext cx="10698480" cy="320040"/>
          </a:xfrm>
          <a:prstGeom prst="rect">
            <a:avLst/>
          </a:prstGeom>
          <a:noFill/>
          <a:ln/>
        </p:spPr>
        <p:txBody>
          <a:bodyPr wrap="square" rtlCol="0" anchor="ctr"/>
          <a:lstStyle/>
          <a:p>
            <a:pPr indent="0" marL="0">
              <a:buNone/>
            </a:pPr>
            <a:r>
              <a:rPr lang="en-US" sz="1300" dirty="0">
                <a:solidFill>
                  <a:srgbClr val="22313F"/>
                </a:solidFill>
                <a:latin typeface="Calibri" pitchFamily="34" charset="0"/>
                <a:ea typeface="Calibri" pitchFamily="34" charset="-122"/>
                <a:cs typeface="Calibri" pitchFamily="34" charset="-120"/>
              </a:rPr>
              <a:t>The update rule mirrors linear regression exactly:</a:t>
            </a:r>
            <a:endParaRPr lang="en-US" sz="1300" dirty="0"/>
          </a:p>
        </p:txBody>
      </p:sp>
      <p:sp>
        <p:nvSpPr>
          <p:cNvPr id="5" name="Shape 3"/>
          <p:cNvSpPr/>
          <p:nvPr/>
        </p:nvSpPr>
        <p:spPr>
          <a:xfrm>
            <a:off x="548640" y="1783080"/>
            <a:ext cx="11064240" cy="914400"/>
          </a:xfrm>
          <a:prstGeom prst="roundRect">
            <a:avLst>
              <a:gd name="adj" fmla="val 8000"/>
            </a:avLst>
          </a:prstGeom>
          <a:solidFill>
            <a:srgbClr val="10375C"/>
          </a:solidFill>
          <a:ln w="12700">
            <a:solidFill>
              <a:srgbClr val="10375C"/>
            </a:solidFill>
            <a:prstDash val="solid"/>
          </a:ln>
        </p:spPr>
      </p:sp>
      <p:pic>
        <p:nvPicPr>
          <p:cNvPr id="6" name="Image 0" descr="/home/claude/work/equations/log_gd_update_white.png">    </p:cNvPr>
          <p:cNvPicPr>
            <a:picLocks noChangeAspect="1"/>
          </p:cNvPicPr>
          <p:nvPr/>
        </p:nvPicPr>
        <p:blipFill>
          <a:blip r:embed="rId1"/>
          <a:stretch>
            <a:fillRect/>
          </a:stretch>
        </p:blipFill>
        <p:spPr>
          <a:xfrm>
            <a:off x="4647462" y="1897380"/>
            <a:ext cx="2866596" cy="685800"/>
          </a:xfrm>
          <a:prstGeom prst="rect">
            <a:avLst/>
          </a:prstGeom>
        </p:spPr>
      </p:pic>
      <p:sp>
        <p:nvSpPr>
          <p:cNvPr id="7" name="Text 4"/>
          <p:cNvSpPr/>
          <p:nvPr/>
        </p:nvSpPr>
        <p:spPr>
          <a:xfrm>
            <a:off x="548640" y="2834640"/>
            <a:ext cx="10698480" cy="365760"/>
          </a:xfrm>
          <a:prstGeom prst="rect">
            <a:avLst/>
          </a:prstGeom>
          <a:noFill/>
          <a:ln/>
        </p:spPr>
        <p:txBody>
          <a:bodyPr wrap="square" rtlCol="0" anchor="ctr"/>
          <a:lstStyle/>
          <a:p>
            <a:pPr indent="0" marL="0">
              <a:buNone/>
            </a:pPr>
            <a:r>
              <a:rPr lang="en-US" sz="1250" dirty="0">
                <a:solidFill>
                  <a:srgbClr val="22313F"/>
                </a:solidFill>
                <a:latin typeface="Calibri" pitchFamily="34" charset="0"/>
                <a:ea typeface="Calibri" pitchFamily="34" charset="-122"/>
                <a:cs typeface="Calibri" pitchFamily="34" charset="-120"/>
              </a:rPr>
              <a:t>Unlike squared error on a sigmoid (which is non-convex), cross-entropy's Hessian is positive semi-definite:</a:t>
            </a:r>
            <a:endParaRPr lang="en-US" sz="1250" dirty="0"/>
          </a:p>
        </p:txBody>
      </p:sp>
      <p:sp>
        <p:nvSpPr>
          <p:cNvPr id="8" name="Shape 5"/>
          <p:cNvSpPr/>
          <p:nvPr/>
        </p:nvSpPr>
        <p:spPr>
          <a:xfrm>
            <a:off x="548640" y="3246120"/>
            <a:ext cx="11064240" cy="822960"/>
          </a:xfrm>
          <a:prstGeom prst="roundRect">
            <a:avLst>
              <a:gd name="adj" fmla="val 8889"/>
            </a:avLst>
          </a:prstGeom>
          <a:solidFill>
            <a:srgbClr val="EFF4F8"/>
          </a:solidFill>
          <a:ln w="12700">
            <a:solidFill>
              <a:srgbClr val="D9E3EC"/>
            </a:solidFill>
            <a:prstDash val="solid"/>
          </a:ln>
        </p:spPr>
      </p:sp>
      <p:pic>
        <p:nvPicPr>
          <p:cNvPr id="9" name="Image 1" descr="/home/claude/work/equations/log_convexity.png">    </p:cNvPr>
          <p:cNvPicPr>
            <a:picLocks noChangeAspect="1"/>
          </p:cNvPicPr>
          <p:nvPr/>
        </p:nvPicPr>
        <p:blipFill>
          <a:blip r:embed="rId2"/>
          <a:stretch>
            <a:fillRect/>
          </a:stretch>
        </p:blipFill>
        <p:spPr>
          <a:xfrm>
            <a:off x="2875337" y="3355848"/>
            <a:ext cx="6410846" cy="603504"/>
          </a:xfrm>
          <a:prstGeom prst="rect">
            <a:avLst/>
          </a:prstGeom>
        </p:spPr>
      </p:pic>
      <p:sp>
        <p:nvSpPr>
          <p:cNvPr id="10" name="Text 6"/>
          <p:cNvSpPr/>
          <p:nvPr/>
        </p:nvSpPr>
        <p:spPr>
          <a:xfrm>
            <a:off x="548640" y="4114800"/>
            <a:ext cx="11064240" cy="457200"/>
          </a:xfrm>
          <a:prstGeom prst="rect">
            <a:avLst/>
          </a:prstGeom>
          <a:noFill/>
          <a:ln/>
        </p:spPr>
        <p:txBody>
          <a:bodyPr wrap="square" rtlCol="0" anchor="ctr"/>
          <a:lstStyle/>
          <a:p>
            <a:pPr indent="0" marL="0">
              <a:buNone/>
            </a:pPr>
            <a:r>
              <a:rPr lang="en-US" sz="1080" i="1" dirty="0">
                <a:solidFill>
                  <a:srgbClr val="1C7293"/>
                </a:solidFill>
                <a:latin typeface="Calibri" pitchFamily="34" charset="0"/>
                <a:ea typeface="Calibri" pitchFamily="34" charset="-122"/>
                <a:cs typeface="Calibri" pitchFamily="34" charset="-120"/>
              </a:rPr>
              <a:t>Because this Hessian is positive semi-definite everywhere, the exact same descent-lemma argument from Slides 12–14 applies: gradient descent's steps shrink monotonically and θ_t converges to the unique global minimum.</a:t>
            </a:r>
            <a:endParaRPr lang="en-US" sz="1080" dirty="0"/>
          </a:p>
        </p:txBody>
      </p:sp>
      <p:sp>
        <p:nvSpPr>
          <p:cNvPr id="11" name="Shape 7"/>
          <p:cNvSpPr/>
          <p:nvPr/>
        </p:nvSpPr>
        <p:spPr>
          <a:xfrm>
            <a:off x="548640" y="4663440"/>
            <a:ext cx="11064240" cy="777240"/>
          </a:xfrm>
          <a:prstGeom prst="roundRect">
            <a:avLst>
              <a:gd name="adj" fmla="val 9412"/>
            </a:avLst>
          </a:prstGeom>
          <a:solidFill>
            <a:srgbClr val="EFF4F8"/>
          </a:solidFill>
          <a:ln w="12700">
            <a:solidFill>
              <a:srgbClr val="D9E3EC"/>
            </a:solidFill>
            <a:prstDash val="solid"/>
          </a:ln>
        </p:spPr>
      </p:sp>
      <p:sp>
        <p:nvSpPr>
          <p:cNvPr id="12" name="Text 8"/>
          <p:cNvSpPr/>
          <p:nvPr/>
        </p:nvSpPr>
        <p:spPr>
          <a:xfrm>
            <a:off x="777240" y="4736592"/>
            <a:ext cx="3657600" cy="621792"/>
          </a:xfrm>
          <a:prstGeom prst="rect">
            <a:avLst/>
          </a:prstGeom>
          <a:noFill/>
          <a:ln/>
        </p:spPr>
        <p:txBody>
          <a:bodyPr wrap="square" rtlCol="0" anchor="ctr"/>
          <a:lstStyle/>
          <a:p>
            <a:pPr indent="0" marL="0">
              <a:buNone/>
            </a:pPr>
            <a:r>
              <a:rPr lang="en-US" sz="1300" b="1" dirty="0">
                <a:solidFill>
                  <a:srgbClr val="10375C"/>
                </a:solidFill>
                <a:latin typeface="Cambria" pitchFamily="34" charset="0"/>
                <a:ea typeface="Cambria" pitchFamily="34" charset="-122"/>
                <a:cs typeface="Cambria" pitchFamily="34" charset="-120"/>
              </a:rPr>
              <a:t>Newton's Method / IRLS</a:t>
            </a:r>
            <a:endParaRPr lang="en-US" sz="1300" dirty="0"/>
          </a:p>
        </p:txBody>
      </p:sp>
      <p:sp>
        <p:nvSpPr>
          <p:cNvPr id="13" name="Text 9"/>
          <p:cNvSpPr/>
          <p:nvPr/>
        </p:nvSpPr>
        <p:spPr>
          <a:xfrm>
            <a:off x="4572000" y="4736592"/>
            <a:ext cx="6858000" cy="640080"/>
          </a:xfrm>
          <a:prstGeom prst="rect">
            <a:avLst/>
          </a:prstGeom>
          <a:noFill/>
          <a:ln/>
        </p:spPr>
        <p:txBody>
          <a:bodyPr wrap="square" rtlCol="0" anchor="ctr"/>
          <a:lstStyle/>
          <a:p>
            <a:pPr indent="0" marL="0">
              <a:buNone/>
            </a:pPr>
            <a:r>
              <a:rPr lang="en-US" sz="1100" dirty="0">
                <a:solidFill>
                  <a:srgbClr val="22313F"/>
                </a:solidFill>
                <a:latin typeface="Calibri" pitchFamily="34" charset="0"/>
                <a:ea typeface="Calibri" pitchFamily="34" charset="-122"/>
                <a:cs typeface="Calibri" pitchFamily="34" charset="-120"/>
              </a:rPr>
              <a:t>Uses the Hessian for a curvature-aware step — converges in far fewer iterations than plain gradient descent, at higher cost per step.</a:t>
            </a:r>
            <a:endParaRPr lang="en-US" sz="1100" dirty="0"/>
          </a:p>
        </p:txBody>
      </p:sp>
      <p:sp>
        <p:nvSpPr>
          <p:cNvPr id="14" name="Shape 10"/>
          <p:cNvSpPr/>
          <p:nvPr/>
        </p:nvSpPr>
        <p:spPr>
          <a:xfrm>
            <a:off x="548640" y="5532120"/>
            <a:ext cx="11064240" cy="777240"/>
          </a:xfrm>
          <a:prstGeom prst="roundRect">
            <a:avLst>
              <a:gd name="adj" fmla="val 9412"/>
            </a:avLst>
          </a:prstGeom>
          <a:solidFill>
            <a:srgbClr val="EFF4F8"/>
          </a:solidFill>
          <a:ln w="12700">
            <a:solidFill>
              <a:srgbClr val="D9E3EC"/>
            </a:solidFill>
            <a:prstDash val="solid"/>
          </a:ln>
        </p:spPr>
      </p:sp>
      <p:sp>
        <p:nvSpPr>
          <p:cNvPr id="15" name="Text 11"/>
          <p:cNvSpPr/>
          <p:nvPr/>
        </p:nvSpPr>
        <p:spPr>
          <a:xfrm>
            <a:off x="777240" y="5605272"/>
            <a:ext cx="3657600" cy="621792"/>
          </a:xfrm>
          <a:prstGeom prst="rect">
            <a:avLst/>
          </a:prstGeom>
          <a:noFill/>
          <a:ln/>
        </p:spPr>
        <p:txBody>
          <a:bodyPr wrap="square" rtlCol="0" anchor="ctr"/>
          <a:lstStyle/>
          <a:p>
            <a:pPr indent="0" marL="0">
              <a:buNone/>
            </a:pPr>
            <a:r>
              <a:rPr lang="en-US" sz="1300" b="1" dirty="0">
                <a:solidFill>
                  <a:srgbClr val="10375C"/>
                </a:solidFill>
                <a:latin typeface="Cambria" pitchFamily="34" charset="0"/>
                <a:ea typeface="Cambria" pitchFamily="34" charset="-122"/>
                <a:cs typeface="Cambria" pitchFamily="34" charset="-120"/>
              </a:rPr>
              <a:t>L-BFGS / Conjugate Gradient</a:t>
            </a:r>
            <a:endParaRPr lang="en-US" sz="1300" dirty="0"/>
          </a:p>
        </p:txBody>
      </p:sp>
      <p:sp>
        <p:nvSpPr>
          <p:cNvPr id="16" name="Text 12"/>
          <p:cNvSpPr/>
          <p:nvPr/>
        </p:nvSpPr>
        <p:spPr>
          <a:xfrm>
            <a:off x="4572000" y="5605272"/>
            <a:ext cx="6858000" cy="640080"/>
          </a:xfrm>
          <a:prstGeom prst="rect">
            <a:avLst/>
          </a:prstGeom>
          <a:noFill/>
          <a:ln/>
        </p:spPr>
        <p:txBody>
          <a:bodyPr wrap="square" rtlCol="0" anchor="ctr"/>
          <a:lstStyle/>
          <a:p>
            <a:pPr indent="0" marL="0">
              <a:buNone/>
            </a:pPr>
            <a:r>
              <a:rPr lang="en-US" sz="1100" dirty="0">
                <a:solidFill>
                  <a:srgbClr val="22313F"/>
                </a:solidFill>
                <a:latin typeface="Calibri" pitchFamily="34" charset="0"/>
                <a:ea typeface="Calibri" pitchFamily="34" charset="-122"/>
                <a:cs typeface="Calibri" pitchFamily="34" charset="-120"/>
              </a:rPr>
              <a:t>Quasi-Newton methods commonly used by sklearn's LogisticRegression solvers for fast, robust convergence.</a:t>
            </a:r>
            <a:endParaRPr lang="en-US" sz="1100" dirty="0"/>
          </a:p>
        </p:txBody>
      </p:sp>
      <p:sp>
        <p:nvSpPr>
          <p:cNvPr id="17" name="Text 13"/>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8A97A5"/>
                </a:solidFill>
                <a:latin typeface="Calibri" pitchFamily="34" charset="0"/>
                <a:ea typeface="Calibri" pitchFamily="34" charset="-122"/>
                <a:cs typeface="Calibri" pitchFamily="34" charset="-120"/>
              </a:rPr>
              <a:t>Linear &amp; Logistic Regression</a:t>
            </a:r>
            <a:endParaRPr lang="en-US" sz="900" dirty="0"/>
          </a:p>
        </p:txBody>
      </p:sp>
      <p:sp>
        <p:nvSpPr>
          <p:cNvPr id="18" name="Text 14"/>
          <p:cNvSpPr/>
          <p:nvPr/>
        </p:nvSpPr>
        <p:spPr>
          <a:xfrm>
            <a:off x="11368735" y="6547104"/>
            <a:ext cx="457200" cy="256032"/>
          </a:xfrm>
          <a:prstGeom prst="rect">
            <a:avLst/>
          </a:prstGeom>
          <a:noFill/>
          <a:ln/>
        </p:spPr>
        <p:txBody>
          <a:bodyPr wrap="square"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2.9  EXTENSIONS</a:t>
            </a:r>
            <a:endParaRPr lang="en-US" sz="1300" dirty="0"/>
          </a:p>
        </p:txBody>
      </p:sp>
      <p:sp>
        <p:nvSpPr>
          <p:cNvPr id="3" name="Text 1"/>
          <p:cNvSpPr/>
          <p:nvPr/>
        </p:nvSpPr>
        <p:spPr>
          <a:xfrm>
            <a:off x="548640" y="658368"/>
            <a:ext cx="10607040" cy="777240"/>
          </a:xfrm>
          <a:prstGeom prst="rect">
            <a:avLst/>
          </a:prstGeom>
          <a:noFill/>
          <a:ln/>
        </p:spPr>
        <p:txBody>
          <a:bodyPr wrap="square" rtlCol="0" anchor="ctr"/>
          <a:lstStyle/>
          <a:p>
            <a:pPr indent="0" marL="0">
              <a:buNone/>
            </a:pPr>
            <a:r>
              <a:rPr lang="en-US" sz="3000" b="1" dirty="0">
                <a:solidFill>
                  <a:srgbClr val="10375C"/>
                </a:solidFill>
                <a:latin typeface="Cambria" pitchFamily="34" charset="0"/>
                <a:ea typeface="Cambria" pitchFamily="34" charset="-122"/>
                <a:cs typeface="Cambria" pitchFamily="34" charset="-120"/>
              </a:rPr>
              <a:t>Regularized &amp; Multiclass Logistic Regression</a:t>
            </a:r>
            <a:endParaRPr lang="en-US" sz="3000" dirty="0"/>
          </a:p>
        </p:txBody>
      </p:sp>
      <p:sp>
        <p:nvSpPr>
          <p:cNvPr id="4" name="Text 2"/>
          <p:cNvSpPr/>
          <p:nvPr/>
        </p:nvSpPr>
        <p:spPr>
          <a:xfrm>
            <a:off x="548640" y="1417320"/>
            <a:ext cx="10698480" cy="320040"/>
          </a:xfrm>
          <a:prstGeom prst="rect">
            <a:avLst/>
          </a:prstGeom>
          <a:noFill/>
          <a:ln/>
        </p:spPr>
        <p:txBody>
          <a:bodyPr wrap="square"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L2-Regularized Cost (Ridge-style penalty prevents overfitting, exactly as before):</a:t>
            </a:r>
            <a:endParaRPr lang="en-US" sz="1250" dirty="0"/>
          </a:p>
        </p:txBody>
      </p:sp>
      <p:sp>
        <p:nvSpPr>
          <p:cNvPr id="5" name="Shape 3"/>
          <p:cNvSpPr/>
          <p:nvPr/>
        </p:nvSpPr>
        <p:spPr>
          <a:xfrm>
            <a:off x="548640" y="1783080"/>
            <a:ext cx="11064240" cy="960120"/>
          </a:xfrm>
          <a:prstGeom prst="roundRect">
            <a:avLst>
              <a:gd name="adj" fmla="val 7619"/>
            </a:avLst>
          </a:prstGeom>
          <a:solidFill>
            <a:srgbClr val="EFF4F8"/>
          </a:solidFill>
          <a:ln w="12700">
            <a:solidFill>
              <a:srgbClr val="D9E3EC"/>
            </a:solidFill>
            <a:prstDash val="solid"/>
          </a:ln>
        </p:spPr>
      </p:sp>
      <p:pic>
        <p:nvPicPr>
          <p:cNvPr id="6" name="Image 0" descr="/home/claude/work/equations/log_ridge_cost.png">    </p:cNvPr>
          <p:cNvPicPr>
            <a:picLocks noChangeAspect="1"/>
          </p:cNvPicPr>
          <p:nvPr/>
        </p:nvPicPr>
        <p:blipFill>
          <a:blip r:embed="rId1"/>
          <a:stretch>
            <a:fillRect/>
          </a:stretch>
        </p:blipFill>
        <p:spPr>
          <a:xfrm>
            <a:off x="3325409" y="1897380"/>
            <a:ext cx="5510701" cy="731520"/>
          </a:xfrm>
          <a:prstGeom prst="rect">
            <a:avLst/>
          </a:prstGeom>
        </p:spPr>
      </p:pic>
      <p:sp>
        <p:nvSpPr>
          <p:cNvPr id="7" name="Text 4"/>
          <p:cNvSpPr/>
          <p:nvPr/>
        </p:nvSpPr>
        <p:spPr>
          <a:xfrm>
            <a:off x="548640" y="2880360"/>
            <a:ext cx="5486400" cy="320040"/>
          </a:xfrm>
          <a:prstGeom prst="rect">
            <a:avLst/>
          </a:prstGeom>
          <a:noFill/>
          <a:ln/>
        </p:spPr>
        <p:txBody>
          <a:bodyPr wrap="square"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Multiclass — Softmax Regression (K classes):</a:t>
            </a:r>
            <a:endParaRPr lang="en-US" sz="1250" dirty="0"/>
          </a:p>
        </p:txBody>
      </p:sp>
      <p:sp>
        <p:nvSpPr>
          <p:cNvPr id="8" name="Shape 5"/>
          <p:cNvSpPr/>
          <p:nvPr/>
        </p:nvSpPr>
        <p:spPr>
          <a:xfrm>
            <a:off x="548640" y="3246120"/>
            <a:ext cx="5394960" cy="1600200"/>
          </a:xfrm>
          <a:prstGeom prst="roundRect">
            <a:avLst>
              <a:gd name="adj" fmla="val 4571"/>
            </a:avLst>
          </a:prstGeom>
          <a:solidFill>
            <a:srgbClr val="EFF4F8"/>
          </a:solidFill>
          <a:ln w="12700">
            <a:solidFill>
              <a:srgbClr val="D9E3EC"/>
            </a:solidFill>
            <a:prstDash val="solid"/>
          </a:ln>
        </p:spPr>
      </p:sp>
      <p:pic>
        <p:nvPicPr>
          <p:cNvPr id="9" name="Image 1" descr="/home/claude/work/equations/log_softmax.png">    </p:cNvPr>
          <p:cNvPicPr>
            <a:picLocks noChangeAspect="1"/>
          </p:cNvPicPr>
          <p:nvPr/>
        </p:nvPicPr>
        <p:blipFill>
          <a:blip r:embed="rId2"/>
          <a:stretch>
            <a:fillRect/>
          </a:stretch>
        </p:blipFill>
        <p:spPr>
          <a:xfrm>
            <a:off x="1865688" y="3360420"/>
            <a:ext cx="2760863" cy="1371600"/>
          </a:xfrm>
          <a:prstGeom prst="rect">
            <a:avLst/>
          </a:prstGeom>
        </p:spPr>
      </p:pic>
      <p:sp>
        <p:nvSpPr>
          <p:cNvPr id="10" name="Shape 6"/>
          <p:cNvSpPr/>
          <p:nvPr/>
        </p:nvSpPr>
        <p:spPr>
          <a:xfrm>
            <a:off x="6172200" y="3246120"/>
            <a:ext cx="5440680" cy="1600200"/>
          </a:xfrm>
          <a:prstGeom prst="roundRect">
            <a:avLst>
              <a:gd name="adj" fmla="val 4571"/>
            </a:avLst>
          </a:prstGeom>
          <a:solidFill>
            <a:srgbClr val="10375C"/>
          </a:solidFill>
          <a:ln w="12700">
            <a:solidFill>
              <a:srgbClr val="10375C"/>
            </a:solidFill>
            <a:prstDash val="solid"/>
          </a:ln>
        </p:spPr>
      </p:sp>
      <p:sp>
        <p:nvSpPr>
          <p:cNvPr id="11" name="Text 7"/>
          <p:cNvSpPr/>
          <p:nvPr/>
        </p:nvSpPr>
        <p:spPr>
          <a:xfrm>
            <a:off x="6400800" y="3364992"/>
            <a:ext cx="4937760" cy="274320"/>
          </a:xfrm>
          <a:prstGeom prst="rect">
            <a:avLst/>
          </a:prstGeom>
          <a:noFill/>
          <a:ln/>
        </p:spPr>
        <p:txBody>
          <a:bodyPr wrap="square" rtlCol="0" anchor="ctr"/>
          <a:lstStyle/>
          <a:p>
            <a:pPr indent="0" marL="0">
              <a:buNone/>
            </a:pPr>
            <a:r>
              <a:rPr lang="en-US" sz="1150" b="1" dirty="0">
                <a:solidFill>
                  <a:srgbClr val="5DA9E9"/>
                </a:solidFill>
                <a:latin typeface="Calibri" pitchFamily="34" charset="0"/>
                <a:ea typeface="Calibri" pitchFamily="34" charset="-122"/>
                <a:cs typeface="Calibri" pitchFamily="34" charset="-120"/>
              </a:rPr>
              <a:t>Categorical Cross-Entropy Loss</a:t>
            </a:r>
            <a:endParaRPr lang="en-US" sz="1150" dirty="0"/>
          </a:p>
        </p:txBody>
      </p:sp>
      <p:pic>
        <p:nvPicPr>
          <p:cNvPr id="12" name="Image 2" descr="/home/claude/work/equations/log_softmax_cost_white.png">    </p:cNvPr>
          <p:cNvPicPr>
            <a:picLocks noChangeAspect="1"/>
          </p:cNvPicPr>
          <p:nvPr/>
        </p:nvPicPr>
        <p:blipFill>
          <a:blip r:embed="rId3"/>
          <a:stretch>
            <a:fillRect/>
          </a:stretch>
        </p:blipFill>
        <p:spPr>
          <a:xfrm>
            <a:off x="6355080" y="3633214"/>
            <a:ext cx="5029200" cy="871731"/>
          </a:xfrm>
          <a:prstGeom prst="rect">
            <a:avLst/>
          </a:prstGeom>
        </p:spPr>
      </p:pic>
      <p:sp>
        <p:nvSpPr>
          <p:cNvPr id="13" name="Shape 8"/>
          <p:cNvSpPr/>
          <p:nvPr/>
        </p:nvSpPr>
        <p:spPr>
          <a:xfrm>
            <a:off x="548640" y="5029200"/>
            <a:ext cx="11064240" cy="1097280"/>
          </a:xfrm>
          <a:prstGeom prst="roundRect">
            <a:avLst>
              <a:gd name="adj" fmla="val 6667"/>
            </a:avLst>
          </a:prstGeom>
          <a:solidFill>
            <a:srgbClr val="FDF3E3"/>
          </a:solidFill>
          <a:ln w="12700">
            <a:solidFill>
              <a:srgbClr val="F0D9A8"/>
            </a:solidFill>
            <a:prstDash val="solid"/>
          </a:ln>
        </p:spPr>
      </p:sp>
      <p:sp>
        <p:nvSpPr>
          <p:cNvPr id="14" name="Text 9"/>
          <p:cNvSpPr/>
          <p:nvPr/>
        </p:nvSpPr>
        <p:spPr>
          <a:xfrm>
            <a:off x="822960" y="5193792"/>
            <a:ext cx="10332720" cy="822960"/>
          </a:xfrm>
          <a:prstGeom prst="rect">
            <a:avLst/>
          </a:prstGeom>
          <a:noFill/>
          <a:ln/>
        </p:spPr>
        <p:txBody>
          <a:bodyPr wrap="square" rtlCol="0" anchor="ctr"/>
          <a:lstStyle/>
          <a:p>
            <a:pPr indent="0" marL="0">
              <a:buNone/>
            </a:pPr>
            <a:r>
              <a:rPr lang="en-US" sz="1200" dirty="0">
                <a:solidFill>
                  <a:srgbClr val="22313F"/>
                </a:solidFill>
                <a:latin typeface="Calibri" pitchFamily="34" charset="0"/>
                <a:ea typeface="Calibri" pitchFamily="34" charset="-122"/>
                <a:cs typeface="Calibri" pitchFamily="34" charset="-120"/>
              </a:rPr>
              <a:t>Softmax normalizes K linear scores into a probability distribution that sums to 1. Setting K=2 and simplifying recovers the binary sigmoid exactly — logistic regression is the special case of softmax regression with two classes.</a:t>
            </a:r>
            <a:endParaRPr lang="en-US" sz="1200" dirty="0"/>
          </a:p>
        </p:txBody>
      </p:sp>
      <p:sp>
        <p:nvSpPr>
          <p:cNvPr id="15" name="Text 10"/>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8A97A5"/>
                </a:solidFill>
                <a:latin typeface="Calibri" pitchFamily="34" charset="0"/>
                <a:ea typeface="Calibri" pitchFamily="34" charset="-122"/>
                <a:cs typeface="Calibri" pitchFamily="34" charset="-120"/>
              </a:rPr>
              <a:t>Linear &amp; Logistic Regression</a:t>
            </a:r>
            <a:endParaRPr lang="en-US" sz="900" dirty="0"/>
          </a:p>
        </p:txBody>
      </p:sp>
      <p:sp>
        <p:nvSpPr>
          <p:cNvPr id="16" name="Text 11"/>
          <p:cNvSpPr/>
          <p:nvPr/>
        </p:nvSpPr>
        <p:spPr>
          <a:xfrm>
            <a:off x="11368735" y="6547104"/>
            <a:ext cx="457200" cy="256032"/>
          </a:xfrm>
          <a:prstGeom prst="rect">
            <a:avLst/>
          </a:prstGeom>
          <a:noFill/>
          <a:ln/>
        </p:spPr>
        <p:txBody>
          <a:bodyPr wrap="square"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2.10  EVALUATION</a:t>
            </a:r>
            <a:endParaRPr lang="en-US" sz="1300" dirty="0"/>
          </a:p>
        </p:txBody>
      </p:sp>
      <p:sp>
        <p:nvSpPr>
          <p:cNvPr id="3" name="Text 1"/>
          <p:cNvSpPr/>
          <p:nvPr/>
        </p:nvSpPr>
        <p:spPr>
          <a:xfrm>
            <a:off x="548640" y="658368"/>
            <a:ext cx="10607040" cy="777240"/>
          </a:xfrm>
          <a:prstGeom prst="rect">
            <a:avLst/>
          </a:prstGeom>
          <a:noFill/>
          <a:ln/>
        </p:spPr>
        <p:txBody>
          <a:bodyPr wrap="square" rtlCol="0" anchor="ctr"/>
          <a:lstStyle/>
          <a:p>
            <a:pPr indent="0" marL="0">
              <a:buNone/>
            </a:pPr>
            <a:r>
              <a:rPr lang="en-US" sz="3000" b="1" dirty="0">
                <a:solidFill>
                  <a:srgbClr val="10375C"/>
                </a:solidFill>
                <a:latin typeface="Cambria" pitchFamily="34" charset="0"/>
                <a:ea typeface="Cambria" pitchFamily="34" charset="-122"/>
                <a:cs typeface="Cambria" pitchFamily="34" charset="-120"/>
              </a:rPr>
              <a:t>Evaluating a Classification Model</a:t>
            </a:r>
            <a:endParaRPr lang="en-US" sz="3000" dirty="0"/>
          </a:p>
        </p:txBody>
      </p:sp>
      <p:pic>
        <p:nvPicPr>
          <p:cNvPr id="4" name="Image 0" descr="/home/claude/work/plots/confusion_matrix.png">    </p:cNvPr>
          <p:cNvPicPr>
            <a:picLocks noChangeAspect="1"/>
          </p:cNvPicPr>
          <p:nvPr/>
        </p:nvPicPr>
        <p:blipFill>
          <a:blip r:embed="rId1"/>
          <a:stretch>
            <a:fillRect/>
          </a:stretch>
        </p:blipFill>
        <p:spPr>
          <a:xfrm>
            <a:off x="530809" y="1554480"/>
            <a:ext cx="3601822" cy="3291840"/>
          </a:xfrm>
          <a:prstGeom prst="rect">
            <a:avLst/>
          </a:prstGeom>
        </p:spPr>
      </p:pic>
      <p:sp>
        <p:nvSpPr>
          <p:cNvPr id="5" name="Shape 2"/>
          <p:cNvSpPr/>
          <p:nvPr/>
        </p:nvSpPr>
        <p:spPr>
          <a:xfrm>
            <a:off x="4617720" y="1508760"/>
            <a:ext cx="6995160" cy="868680"/>
          </a:xfrm>
          <a:prstGeom prst="roundRect">
            <a:avLst>
              <a:gd name="adj" fmla="val 8421"/>
            </a:avLst>
          </a:prstGeom>
          <a:solidFill>
            <a:srgbClr val="EFF4F8"/>
          </a:solidFill>
          <a:ln w="12700">
            <a:solidFill>
              <a:srgbClr val="D9E3EC"/>
            </a:solidFill>
            <a:prstDash val="solid"/>
          </a:ln>
        </p:spPr>
      </p:sp>
      <p:pic>
        <p:nvPicPr>
          <p:cNvPr id="6" name="Image 1" descr="/home/claude/work/equations/log_precision.png">    </p:cNvPr>
          <p:cNvPicPr>
            <a:picLocks noChangeAspect="1"/>
          </p:cNvPicPr>
          <p:nvPr/>
        </p:nvPicPr>
        <p:blipFill>
          <a:blip r:embed="rId2"/>
          <a:stretch>
            <a:fillRect/>
          </a:stretch>
        </p:blipFill>
        <p:spPr>
          <a:xfrm>
            <a:off x="5548396" y="1632204"/>
            <a:ext cx="5179527" cy="621792"/>
          </a:xfrm>
          <a:prstGeom prst="rect">
            <a:avLst/>
          </a:prstGeom>
        </p:spPr>
      </p:pic>
      <p:sp>
        <p:nvSpPr>
          <p:cNvPr id="7" name="Shape 3"/>
          <p:cNvSpPr/>
          <p:nvPr/>
        </p:nvSpPr>
        <p:spPr>
          <a:xfrm>
            <a:off x="4617720" y="2514600"/>
            <a:ext cx="6995160" cy="731520"/>
          </a:xfrm>
          <a:prstGeom prst="roundRect">
            <a:avLst>
              <a:gd name="adj" fmla="val 10000"/>
            </a:avLst>
          </a:prstGeom>
          <a:solidFill>
            <a:srgbClr val="10375C"/>
          </a:solidFill>
          <a:ln w="12700">
            <a:solidFill>
              <a:srgbClr val="10375C"/>
            </a:solidFill>
            <a:prstDash val="solid"/>
          </a:ln>
        </p:spPr>
      </p:sp>
      <p:pic>
        <p:nvPicPr>
          <p:cNvPr id="8" name="Image 2" descr="/home/claude/work/equations/log_f1_white.png">    </p:cNvPr>
          <p:cNvPicPr>
            <a:picLocks noChangeAspect="1"/>
          </p:cNvPicPr>
          <p:nvPr/>
        </p:nvPicPr>
        <p:blipFill>
          <a:blip r:embed="rId3"/>
          <a:stretch>
            <a:fillRect/>
          </a:stretch>
        </p:blipFill>
        <p:spPr>
          <a:xfrm>
            <a:off x="6887378" y="2628900"/>
            <a:ext cx="2501563" cy="502920"/>
          </a:xfrm>
          <a:prstGeom prst="rect">
            <a:avLst/>
          </a:prstGeom>
        </p:spPr>
      </p:pic>
      <p:sp>
        <p:nvSpPr>
          <p:cNvPr id="9" name="Text 4"/>
          <p:cNvSpPr/>
          <p:nvPr/>
        </p:nvSpPr>
        <p:spPr>
          <a:xfrm>
            <a:off x="4617720" y="3429000"/>
            <a:ext cx="6995160" cy="365760"/>
          </a:xfrm>
          <a:prstGeom prst="rect">
            <a:avLst/>
          </a:prstGeom>
          <a:noFill/>
          <a:ln/>
        </p:spPr>
        <p:txBody>
          <a:bodyPr wrap="square" rtlCol="0" anchor="ctr"/>
          <a:lstStyle/>
          <a:p>
            <a:pPr indent="0" marL="0">
              <a:buNone/>
            </a:pPr>
            <a:r>
              <a:rPr lang="en-US" sz="1080" b="1" dirty="0">
                <a:solidFill>
                  <a:srgbClr val="1C7293"/>
                </a:solidFill>
                <a:latin typeface="Calibri" pitchFamily="34" charset="0"/>
                <a:ea typeface="Calibri" pitchFamily="34" charset="-122"/>
                <a:cs typeface="Calibri" pitchFamily="34" charset="-120"/>
              </a:rPr>
              <a:t>Accuracy:  </a:t>
            </a:r>
            <a:pPr indent="0" marL="0">
              <a:buNone/>
            </a:pPr>
            <a:r>
              <a:rPr lang="en-US" sz="1080" dirty="0">
                <a:solidFill>
                  <a:srgbClr val="22313F"/>
                </a:solidFill>
                <a:latin typeface="Calibri" pitchFamily="34" charset="0"/>
                <a:ea typeface="Calibri" pitchFamily="34" charset="-122"/>
                <a:cs typeface="Calibri" pitchFamily="34" charset="-120"/>
              </a:rPr>
              <a:t>(TP+TN) / total — misleading on imbalanced data (e.g. 95% 'healthy' baseline).</a:t>
            </a:r>
            <a:endParaRPr lang="en-US" sz="1080" dirty="0"/>
          </a:p>
        </p:txBody>
      </p:sp>
      <p:sp>
        <p:nvSpPr>
          <p:cNvPr id="10" name="Text 5"/>
          <p:cNvSpPr/>
          <p:nvPr/>
        </p:nvSpPr>
        <p:spPr>
          <a:xfrm>
            <a:off x="4617720" y="3794760"/>
            <a:ext cx="6995160" cy="365760"/>
          </a:xfrm>
          <a:prstGeom prst="rect">
            <a:avLst/>
          </a:prstGeom>
          <a:noFill/>
          <a:ln/>
        </p:spPr>
        <p:txBody>
          <a:bodyPr wrap="square" rtlCol="0" anchor="ctr"/>
          <a:lstStyle/>
          <a:p>
            <a:pPr indent="0" marL="0">
              <a:buNone/>
            </a:pPr>
            <a:r>
              <a:rPr lang="en-US" sz="1080" b="1" dirty="0">
                <a:solidFill>
                  <a:srgbClr val="1C7293"/>
                </a:solidFill>
                <a:latin typeface="Calibri" pitchFamily="34" charset="0"/>
                <a:ea typeface="Calibri" pitchFamily="34" charset="-122"/>
                <a:cs typeface="Calibri" pitchFamily="34" charset="-120"/>
              </a:rPr>
              <a:t>Precision:  </a:t>
            </a:r>
            <a:pPr indent="0" marL="0">
              <a:buNone/>
            </a:pPr>
            <a:r>
              <a:rPr lang="en-US" sz="1080" dirty="0">
                <a:solidFill>
                  <a:srgbClr val="22313F"/>
                </a:solidFill>
                <a:latin typeface="Calibri" pitchFamily="34" charset="0"/>
                <a:ea typeface="Calibri" pitchFamily="34" charset="-122"/>
                <a:cs typeface="Calibri" pitchFamily="34" charset="-120"/>
              </a:rPr>
              <a:t>Of predicted positives, how many were correct — matters when false positives are costly.</a:t>
            </a:r>
            <a:endParaRPr lang="en-US" sz="1080" dirty="0"/>
          </a:p>
        </p:txBody>
      </p:sp>
      <p:sp>
        <p:nvSpPr>
          <p:cNvPr id="11" name="Text 6"/>
          <p:cNvSpPr/>
          <p:nvPr/>
        </p:nvSpPr>
        <p:spPr>
          <a:xfrm>
            <a:off x="4617720" y="4160520"/>
            <a:ext cx="6995160" cy="365760"/>
          </a:xfrm>
          <a:prstGeom prst="rect">
            <a:avLst/>
          </a:prstGeom>
          <a:noFill/>
          <a:ln/>
        </p:spPr>
        <p:txBody>
          <a:bodyPr wrap="square" rtlCol="0" anchor="ctr"/>
          <a:lstStyle/>
          <a:p>
            <a:pPr indent="0" marL="0">
              <a:buNone/>
            </a:pPr>
            <a:r>
              <a:rPr lang="en-US" sz="1080" b="1" dirty="0">
                <a:solidFill>
                  <a:srgbClr val="1C7293"/>
                </a:solidFill>
                <a:latin typeface="Calibri" pitchFamily="34" charset="0"/>
                <a:ea typeface="Calibri" pitchFamily="34" charset="-122"/>
                <a:cs typeface="Calibri" pitchFamily="34" charset="-120"/>
              </a:rPr>
              <a:t>Recall:  </a:t>
            </a:r>
            <a:pPr indent="0" marL="0">
              <a:buNone/>
            </a:pPr>
            <a:r>
              <a:rPr lang="en-US" sz="1080" dirty="0">
                <a:solidFill>
                  <a:srgbClr val="22313F"/>
                </a:solidFill>
                <a:latin typeface="Calibri" pitchFamily="34" charset="0"/>
                <a:ea typeface="Calibri" pitchFamily="34" charset="-122"/>
                <a:cs typeface="Calibri" pitchFamily="34" charset="-120"/>
              </a:rPr>
              <a:t>Of actual positives, how many were caught — matters when false negatives are costly.</a:t>
            </a:r>
            <a:endParaRPr lang="en-US" sz="1080" dirty="0"/>
          </a:p>
        </p:txBody>
      </p:sp>
      <p:pic>
        <p:nvPicPr>
          <p:cNvPr id="12" name="Image 3" descr="/home/claude/work/plots/roc_curve.png">    </p:cNvPr>
          <p:cNvPicPr>
            <a:picLocks noChangeAspect="1"/>
          </p:cNvPicPr>
          <p:nvPr/>
        </p:nvPicPr>
        <p:blipFill>
          <a:blip r:embed="rId4"/>
          <a:stretch>
            <a:fillRect/>
          </a:stretch>
        </p:blipFill>
        <p:spPr>
          <a:xfrm>
            <a:off x="8549640" y="4526280"/>
            <a:ext cx="2194560" cy="1920240"/>
          </a:xfrm>
          <a:prstGeom prst="rect">
            <a:avLst/>
          </a:prstGeom>
        </p:spPr>
      </p:pic>
      <p:sp>
        <p:nvSpPr>
          <p:cNvPr id="13" name="Text 7"/>
          <p:cNvSpPr/>
          <p:nvPr/>
        </p:nvSpPr>
        <p:spPr>
          <a:xfrm>
            <a:off x="4617720" y="4526280"/>
            <a:ext cx="4114800" cy="1051560"/>
          </a:xfrm>
          <a:prstGeom prst="rect">
            <a:avLst/>
          </a:prstGeom>
          <a:noFill/>
          <a:ln/>
        </p:spPr>
        <p:txBody>
          <a:bodyPr wrap="square" rtlCol="0" anchor="t"/>
          <a:lstStyle/>
          <a:p>
            <a:pPr indent="0" marL="0">
              <a:buNone/>
            </a:pPr>
            <a:r>
              <a:rPr lang="en-US" sz="1080" dirty="0">
                <a:solidFill>
                  <a:srgbClr val="22313F"/>
                </a:solidFill>
                <a:latin typeface="Calibri" pitchFamily="34" charset="0"/>
                <a:ea typeface="Calibri" pitchFamily="34" charset="-122"/>
                <a:cs typeface="Calibri" pitchFamily="34" charset="-120"/>
              </a:rPr>
              <a:t>ROC-AUC — threshold-independent measure of separability</a:t>
            </a:r>
            <a:endParaRPr lang="en-US" sz="1080" dirty="0"/>
          </a:p>
        </p:txBody>
      </p:sp>
      <p:sp>
        <p:nvSpPr>
          <p:cNvPr id="14" name="Text 8"/>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8A97A5"/>
                </a:solidFill>
                <a:latin typeface="Calibri" pitchFamily="34" charset="0"/>
                <a:ea typeface="Calibri" pitchFamily="34" charset="-122"/>
                <a:cs typeface="Calibri" pitchFamily="34" charset="-120"/>
              </a:rPr>
              <a:t>Linear &amp; Logistic Regression</a:t>
            </a:r>
            <a:endParaRPr lang="en-US" sz="900" dirty="0"/>
          </a:p>
        </p:txBody>
      </p:sp>
      <p:sp>
        <p:nvSpPr>
          <p:cNvPr id="15" name="Text 9"/>
          <p:cNvSpPr/>
          <p:nvPr/>
        </p:nvSpPr>
        <p:spPr>
          <a:xfrm>
            <a:off x="11368735" y="6547104"/>
            <a:ext cx="457200" cy="256032"/>
          </a:xfrm>
          <a:prstGeom prst="rect">
            <a:avLst/>
          </a:prstGeom>
          <a:noFill/>
          <a:ln/>
        </p:spPr>
        <p:txBody>
          <a:bodyPr wrap="square"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SYNTHESIS</a:t>
            </a:r>
            <a:endParaRPr lang="en-US" sz="1300" dirty="0"/>
          </a:p>
        </p:txBody>
      </p:sp>
      <p:sp>
        <p:nvSpPr>
          <p:cNvPr id="3" name="Text 1"/>
          <p:cNvSpPr/>
          <p:nvPr/>
        </p:nvSpPr>
        <p:spPr>
          <a:xfrm>
            <a:off x="548640" y="658368"/>
            <a:ext cx="10607040" cy="777240"/>
          </a:xfrm>
          <a:prstGeom prst="rect">
            <a:avLst/>
          </a:prstGeom>
          <a:noFill/>
          <a:ln/>
        </p:spPr>
        <p:txBody>
          <a:bodyPr wrap="square" rtlCol="0" anchor="ctr"/>
          <a:lstStyle/>
          <a:p>
            <a:pPr indent="0" marL="0">
              <a:buNone/>
            </a:pPr>
            <a:r>
              <a:rPr lang="en-US" sz="3000" b="1" dirty="0">
                <a:solidFill>
                  <a:srgbClr val="10375C"/>
                </a:solidFill>
                <a:latin typeface="Cambria" pitchFamily="34" charset="0"/>
                <a:ea typeface="Cambria" pitchFamily="34" charset="-122"/>
                <a:cs typeface="Cambria" pitchFamily="34" charset="-120"/>
              </a:rPr>
              <a:t>Linear vs. Logistic Regression — Side by Side</a:t>
            </a:r>
            <a:endParaRPr lang="en-US" sz="3000" dirty="0"/>
          </a:p>
        </p:txBody>
      </p:sp>
      <p:sp>
        <p:nvSpPr>
          <p:cNvPr id="4" name="Shape 2"/>
          <p:cNvSpPr/>
          <p:nvPr/>
        </p:nvSpPr>
        <p:spPr>
          <a:xfrm>
            <a:off x="548640" y="1554480"/>
            <a:ext cx="11064240" cy="475488"/>
          </a:xfrm>
          <a:prstGeom prst="roundRect">
            <a:avLst>
              <a:gd name="adj" fmla="val 9615"/>
            </a:avLst>
          </a:prstGeom>
          <a:solidFill>
            <a:srgbClr val="10375C"/>
          </a:solidFill>
          <a:ln w="12700">
            <a:solidFill>
              <a:srgbClr val="10375C"/>
            </a:solidFill>
            <a:prstDash val="solid"/>
          </a:ln>
        </p:spPr>
      </p:sp>
      <p:sp>
        <p:nvSpPr>
          <p:cNvPr id="5" name="Text 3"/>
          <p:cNvSpPr/>
          <p:nvPr/>
        </p:nvSpPr>
        <p:spPr>
          <a:xfrm>
            <a:off x="548640" y="1554480"/>
            <a:ext cx="2743200" cy="475488"/>
          </a:xfrm>
          <a:prstGeom prst="rect">
            <a:avLst/>
          </a:prstGeom>
          <a:noFill/>
          <a:ln/>
        </p:spPr>
        <p:txBody>
          <a:bodyPr wrap="square" rtlCol="0" anchor="ctr"/>
          <a:lstStyle/>
          <a:p>
            <a:pPr indent="0" marL="0">
              <a:buNone/>
            </a:pPr>
            <a:endParaRPr lang="en-US" dirty="0"/>
          </a:p>
        </p:txBody>
      </p:sp>
      <p:sp>
        <p:nvSpPr>
          <p:cNvPr id="6" name="Text 4"/>
          <p:cNvSpPr/>
          <p:nvPr/>
        </p:nvSpPr>
        <p:spPr>
          <a:xfrm>
            <a:off x="3291840" y="1554480"/>
            <a:ext cx="4160520" cy="475488"/>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Linear Regression</a:t>
            </a:r>
            <a:endParaRPr lang="en-US" sz="1250" dirty="0"/>
          </a:p>
        </p:txBody>
      </p:sp>
      <p:sp>
        <p:nvSpPr>
          <p:cNvPr id="7" name="Text 5"/>
          <p:cNvSpPr/>
          <p:nvPr/>
        </p:nvSpPr>
        <p:spPr>
          <a:xfrm>
            <a:off x="7452360" y="1554480"/>
            <a:ext cx="4160520" cy="475488"/>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Logistic Regression</a:t>
            </a:r>
            <a:endParaRPr lang="en-US" sz="1250" dirty="0"/>
          </a:p>
        </p:txBody>
      </p:sp>
      <p:sp>
        <p:nvSpPr>
          <p:cNvPr id="8" name="Shape 6"/>
          <p:cNvSpPr/>
          <p:nvPr/>
        </p:nvSpPr>
        <p:spPr>
          <a:xfrm>
            <a:off x="548640" y="2029968"/>
            <a:ext cx="11064240" cy="475488"/>
          </a:xfrm>
          <a:prstGeom prst="rect">
            <a:avLst/>
          </a:prstGeom>
          <a:solidFill>
            <a:srgbClr val="FFFFFF"/>
          </a:solidFill>
          <a:ln w="9525">
            <a:solidFill>
              <a:srgbClr val="D9E3EC"/>
            </a:solidFill>
            <a:prstDash val="solid"/>
          </a:ln>
        </p:spPr>
      </p:sp>
      <p:sp>
        <p:nvSpPr>
          <p:cNvPr id="9" name="Text 7"/>
          <p:cNvSpPr/>
          <p:nvPr/>
        </p:nvSpPr>
        <p:spPr>
          <a:xfrm>
            <a:off x="685800" y="2029968"/>
            <a:ext cx="2560320" cy="475488"/>
          </a:xfrm>
          <a:prstGeom prst="rect">
            <a:avLst/>
          </a:prstGeom>
          <a:noFill/>
          <a:ln/>
        </p:spPr>
        <p:txBody>
          <a:bodyPr wrap="square" rtlCol="0" anchor="ctr"/>
          <a:lstStyle/>
          <a:p>
            <a:pPr indent="0" marL="0">
              <a:buNone/>
            </a:pPr>
            <a:r>
              <a:rPr lang="en-US" sz="1080" b="1" dirty="0">
                <a:solidFill>
                  <a:srgbClr val="10375C"/>
                </a:solidFill>
                <a:latin typeface="Calibri" pitchFamily="34" charset="0"/>
                <a:ea typeface="Calibri" pitchFamily="34" charset="-122"/>
                <a:cs typeface="Calibri" pitchFamily="34" charset="-120"/>
              </a:rPr>
              <a:t>Task</a:t>
            </a:r>
            <a:endParaRPr lang="en-US" sz="1080" dirty="0"/>
          </a:p>
        </p:txBody>
      </p:sp>
      <p:sp>
        <p:nvSpPr>
          <p:cNvPr id="10" name="Text 8"/>
          <p:cNvSpPr/>
          <p:nvPr/>
        </p:nvSpPr>
        <p:spPr>
          <a:xfrm>
            <a:off x="3383280" y="2029968"/>
            <a:ext cx="3977640" cy="475488"/>
          </a:xfrm>
          <a:prstGeom prst="rect">
            <a:avLst/>
          </a:prstGeom>
          <a:noFill/>
          <a:ln/>
        </p:spPr>
        <p:txBody>
          <a:bodyPr wrap="square" rtlCol="0" anchor="ctr"/>
          <a:lstStyle/>
          <a:p>
            <a:pPr indent="0" marL="0">
              <a:buNone/>
            </a:pPr>
            <a:r>
              <a:rPr lang="en-US" sz="1020" dirty="0">
                <a:solidFill>
                  <a:srgbClr val="22313F"/>
                </a:solidFill>
                <a:latin typeface="Calibri" pitchFamily="34" charset="0"/>
                <a:ea typeface="Calibri" pitchFamily="34" charset="-122"/>
                <a:cs typeface="Calibri" pitchFamily="34" charset="-120"/>
              </a:rPr>
              <a:t>Regression (continuous y)</a:t>
            </a:r>
            <a:endParaRPr lang="en-US" sz="1020" dirty="0"/>
          </a:p>
        </p:txBody>
      </p:sp>
      <p:sp>
        <p:nvSpPr>
          <p:cNvPr id="11" name="Text 9"/>
          <p:cNvSpPr/>
          <p:nvPr/>
        </p:nvSpPr>
        <p:spPr>
          <a:xfrm>
            <a:off x="7543800" y="2029968"/>
            <a:ext cx="3977640" cy="475488"/>
          </a:xfrm>
          <a:prstGeom prst="rect">
            <a:avLst/>
          </a:prstGeom>
          <a:noFill/>
          <a:ln/>
        </p:spPr>
        <p:txBody>
          <a:bodyPr wrap="square" rtlCol="0" anchor="ctr"/>
          <a:lstStyle/>
          <a:p>
            <a:pPr indent="0" marL="0">
              <a:buNone/>
            </a:pPr>
            <a:r>
              <a:rPr lang="en-US" sz="1020" dirty="0">
                <a:solidFill>
                  <a:srgbClr val="22313F"/>
                </a:solidFill>
                <a:latin typeface="Calibri" pitchFamily="34" charset="0"/>
                <a:ea typeface="Calibri" pitchFamily="34" charset="-122"/>
                <a:cs typeface="Calibri" pitchFamily="34" charset="-120"/>
              </a:rPr>
              <a:t>Classification (categorical y)</a:t>
            </a:r>
            <a:endParaRPr lang="en-US" sz="1020" dirty="0"/>
          </a:p>
        </p:txBody>
      </p:sp>
      <p:sp>
        <p:nvSpPr>
          <p:cNvPr id="12" name="Shape 10"/>
          <p:cNvSpPr/>
          <p:nvPr/>
        </p:nvSpPr>
        <p:spPr>
          <a:xfrm>
            <a:off x="548640" y="2505456"/>
            <a:ext cx="11064240" cy="475488"/>
          </a:xfrm>
          <a:prstGeom prst="rect">
            <a:avLst/>
          </a:prstGeom>
          <a:solidFill>
            <a:srgbClr val="EFF4F8"/>
          </a:solidFill>
          <a:ln w="9525">
            <a:solidFill>
              <a:srgbClr val="D9E3EC"/>
            </a:solidFill>
            <a:prstDash val="solid"/>
          </a:ln>
        </p:spPr>
      </p:sp>
      <p:sp>
        <p:nvSpPr>
          <p:cNvPr id="13" name="Text 11"/>
          <p:cNvSpPr/>
          <p:nvPr/>
        </p:nvSpPr>
        <p:spPr>
          <a:xfrm>
            <a:off x="685800" y="2505456"/>
            <a:ext cx="2560320" cy="475488"/>
          </a:xfrm>
          <a:prstGeom prst="rect">
            <a:avLst/>
          </a:prstGeom>
          <a:noFill/>
          <a:ln/>
        </p:spPr>
        <p:txBody>
          <a:bodyPr wrap="square" rtlCol="0" anchor="ctr"/>
          <a:lstStyle/>
          <a:p>
            <a:pPr indent="0" marL="0">
              <a:buNone/>
            </a:pPr>
            <a:r>
              <a:rPr lang="en-US" sz="1080" b="1" dirty="0">
                <a:solidFill>
                  <a:srgbClr val="10375C"/>
                </a:solidFill>
                <a:latin typeface="Calibri" pitchFamily="34" charset="0"/>
                <a:ea typeface="Calibri" pitchFamily="34" charset="-122"/>
                <a:cs typeface="Calibri" pitchFamily="34" charset="-120"/>
              </a:rPr>
              <a:t>Output</a:t>
            </a:r>
            <a:endParaRPr lang="en-US" sz="1080" dirty="0"/>
          </a:p>
        </p:txBody>
      </p:sp>
      <p:sp>
        <p:nvSpPr>
          <p:cNvPr id="14" name="Text 12"/>
          <p:cNvSpPr/>
          <p:nvPr/>
        </p:nvSpPr>
        <p:spPr>
          <a:xfrm>
            <a:off x="3383280" y="2505456"/>
            <a:ext cx="3977640" cy="475488"/>
          </a:xfrm>
          <a:prstGeom prst="rect">
            <a:avLst/>
          </a:prstGeom>
          <a:noFill/>
          <a:ln/>
        </p:spPr>
        <p:txBody>
          <a:bodyPr wrap="square" rtlCol="0" anchor="ctr"/>
          <a:lstStyle/>
          <a:p>
            <a:pPr indent="0" marL="0">
              <a:buNone/>
            </a:pPr>
            <a:r>
              <a:rPr lang="en-US" sz="1020" dirty="0">
                <a:solidFill>
                  <a:srgbClr val="22313F"/>
                </a:solidFill>
                <a:latin typeface="Calibri" pitchFamily="34" charset="0"/>
                <a:ea typeface="Calibri" pitchFamily="34" charset="-122"/>
                <a:cs typeface="Calibri" pitchFamily="34" charset="-120"/>
              </a:rPr>
              <a:t>h_θ(x) = θᵀx  ∈ ℝ</a:t>
            </a:r>
            <a:endParaRPr lang="en-US" sz="1020" dirty="0"/>
          </a:p>
        </p:txBody>
      </p:sp>
      <p:sp>
        <p:nvSpPr>
          <p:cNvPr id="15" name="Text 13"/>
          <p:cNvSpPr/>
          <p:nvPr/>
        </p:nvSpPr>
        <p:spPr>
          <a:xfrm>
            <a:off x="7543800" y="2505456"/>
            <a:ext cx="3977640" cy="475488"/>
          </a:xfrm>
          <a:prstGeom prst="rect">
            <a:avLst/>
          </a:prstGeom>
          <a:noFill/>
          <a:ln/>
        </p:spPr>
        <p:txBody>
          <a:bodyPr wrap="square" rtlCol="0" anchor="ctr"/>
          <a:lstStyle/>
          <a:p>
            <a:pPr indent="0" marL="0">
              <a:buNone/>
            </a:pPr>
            <a:r>
              <a:rPr lang="en-US" sz="1020" dirty="0">
                <a:solidFill>
                  <a:srgbClr val="22313F"/>
                </a:solidFill>
                <a:latin typeface="Calibri" pitchFamily="34" charset="0"/>
                <a:ea typeface="Calibri" pitchFamily="34" charset="-122"/>
                <a:cs typeface="Calibri" pitchFamily="34" charset="-120"/>
              </a:rPr>
              <a:t>σ(θᵀx) = p(y=1|x)  ∈ (0,1)</a:t>
            </a:r>
            <a:endParaRPr lang="en-US" sz="1020" dirty="0"/>
          </a:p>
        </p:txBody>
      </p:sp>
      <p:sp>
        <p:nvSpPr>
          <p:cNvPr id="16" name="Shape 14"/>
          <p:cNvSpPr/>
          <p:nvPr/>
        </p:nvSpPr>
        <p:spPr>
          <a:xfrm>
            <a:off x="548640" y="2980944"/>
            <a:ext cx="11064240" cy="475488"/>
          </a:xfrm>
          <a:prstGeom prst="rect">
            <a:avLst/>
          </a:prstGeom>
          <a:solidFill>
            <a:srgbClr val="FFFFFF"/>
          </a:solidFill>
          <a:ln w="9525">
            <a:solidFill>
              <a:srgbClr val="D9E3EC"/>
            </a:solidFill>
            <a:prstDash val="solid"/>
          </a:ln>
        </p:spPr>
      </p:sp>
      <p:sp>
        <p:nvSpPr>
          <p:cNvPr id="17" name="Text 15"/>
          <p:cNvSpPr/>
          <p:nvPr/>
        </p:nvSpPr>
        <p:spPr>
          <a:xfrm>
            <a:off x="685800" y="2980944"/>
            <a:ext cx="2560320" cy="475488"/>
          </a:xfrm>
          <a:prstGeom prst="rect">
            <a:avLst/>
          </a:prstGeom>
          <a:noFill/>
          <a:ln/>
        </p:spPr>
        <p:txBody>
          <a:bodyPr wrap="square" rtlCol="0" anchor="ctr"/>
          <a:lstStyle/>
          <a:p>
            <a:pPr indent="0" marL="0">
              <a:buNone/>
            </a:pPr>
            <a:r>
              <a:rPr lang="en-US" sz="1080" b="1" dirty="0">
                <a:solidFill>
                  <a:srgbClr val="10375C"/>
                </a:solidFill>
                <a:latin typeface="Calibri" pitchFamily="34" charset="0"/>
                <a:ea typeface="Calibri" pitchFamily="34" charset="-122"/>
                <a:cs typeface="Calibri" pitchFamily="34" charset="-120"/>
              </a:rPr>
              <a:t>Link function</a:t>
            </a:r>
            <a:endParaRPr lang="en-US" sz="1080" dirty="0"/>
          </a:p>
        </p:txBody>
      </p:sp>
      <p:sp>
        <p:nvSpPr>
          <p:cNvPr id="18" name="Text 16"/>
          <p:cNvSpPr/>
          <p:nvPr/>
        </p:nvSpPr>
        <p:spPr>
          <a:xfrm>
            <a:off x="3383280" y="2980944"/>
            <a:ext cx="3977640" cy="475488"/>
          </a:xfrm>
          <a:prstGeom prst="rect">
            <a:avLst/>
          </a:prstGeom>
          <a:noFill/>
          <a:ln/>
        </p:spPr>
        <p:txBody>
          <a:bodyPr wrap="square" rtlCol="0" anchor="ctr"/>
          <a:lstStyle/>
          <a:p>
            <a:pPr indent="0" marL="0">
              <a:buNone/>
            </a:pPr>
            <a:r>
              <a:rPr lang="en-US" sz="1020" dirty="0">
                <a:solidFill>
                  <a:srgbClr val="22313F"/>
                </a:solidFill>
                <a:latin typeface="Calibri" pitchFamily="34" charset="0"/>
                <a:ea typeface="Calibri" pitchFamily="34" charset="-122"/>
                <a:cs typeface="Calibri" pitchFamily="34" charset="-120"/>
              </a:rPr>
              <a:t>Identity</a:t>
            </a:r>
            <a:endParaRPr lang="en-US" sz="1020" dirty="0"/>
          </a:p>
        </p:txBody>
      </p:sp>
      <p:sp>
        <p:nvSpPr>
          <p:cNvPr id="19" name="Text 17"/>
          <p:cNvSpPr/>
          <p:nvPr/>
        </p:nvSpPr>
        <p:spPr>
          <a:xfrm>
            <a:off x="7543800" y="2980944"/>
            <a:ext cx="3977640" cy="475488"/>
          </a:xfrm>
          <a:prstGeom prst="rect">
            <a:avLst/>
          </a:prstGeom>
          <a:noFill/>
          <a:ln/>
        </p:spPr>
        <p:txBody>
          <a:bodyPr wrap="square" rtlCol="0" anchor="ctr"/>
          <a:lstStyle/>
          <a:p>
            <a:pPr indent="0" marL="0">
              <a:buNone/>
            </a:pPr>
            <a:r>
              <a:rPr lang="en-US" sz="1020" dirty="0">
                <a:solidFill>
                  <a:srgbClr val="22313F"/>
                </a:solidFill>
                <a:latin typeface="Calibri" pitchFamily="34" charset="0"/>
                <a:ea typeface="Calibri" pitchFamily="34" charset="-122"/>
                <a:cs typeface="Calibri" pitchFamily="34" charset="-120"/>
              </a:rPr>
              <a:t>Sigmoid / Logit</a:t>
            </a:r>
            <a:endParaRPr lang="en-US" sz="1020" dirty="0"/>
          </a:p>
        </p:txBody>
      </p:sp>
      <p:sp>
        <p:nvSpPr>
          <p:cNvPr id="20" name="Shape 18"/>
          <p:cNvSpPr/>
          <p:nvPr/>
        </p:nvSpPr>
        <p:spPr>
          <a:xfrm>
            <a:off x="548640" y="3456432"/>
            <a:ext cx="11064240" cy="475488"/>
          </a:xfrm>
          <a:prstGeom prst="rect">
            <a:avLst/>
          </a:prstGeom>
          <a:solidFill>
            <a:srgbClr val="EFF4F8"/>
          </a:solidFill>
          <a:ln w="9525">
            <a:solidFill>
              <a:srgbClr val="D9E3EC"/>
            </a:solidFill>
            <a:prstDash val="solid"/>
          </a:ln>
        </p:spPr>
      </p:sp>
      <p:sp>
        <p:nvSpPr>
          <p:cNvPr id="21" name="Text 19"/>
          <p:cNvSpPr/>
          <p:nvPr/>
        </p:nvSpPr>
        <p:spPr>
          <a:xfrm>
            <a:off x="685800" y="3456432"/>
            <a:ext cx="2560320" cy="475488"/>
          </a:xfrm>
          <a:prstGeom prst="rect">
            <a:avLst/>
          </a:prstGeom>
          <a:noFill/>
          <a:ln/>
        </p:spPr>
        <p:txBody>
          <a:bodyPr wrap="square" rtlCol="0" anchor="ctr"/>
          <a:lstStyle/>
          <a:p>
            <a:pPr indent="0" marL="0">
              <a:buNone/>
            </a:pPr>
            <a:r>
              <a:rPr lang="en-US" sz="1080" b="1" dirty="0">
                <a:solidFill>
                  <a:srgbClr val="10375C"/>
                </a:solidFill>
                <a:latin typeface="Calibri" pitchFamily="34" charset="0"/>
                <a:ea typeface="Calibri" pitchFamily="34" charset="-122"/>
                <a:cs typeface="Calibri" pitchFamily="34" charset="-120"/>
              </a:rPr>
              <a:t>Loss function</a:t>
            </a:r>
            <a:endParaRPr lang="en-US" sz="1080" dirty="0"/>
          </a:p>
        </p:txBody>
      </p:sp>
      <p:sp>
        <p:nvSpPr>
          <p:cNvPr id="22" name="Text 20"/>
          <p:cNvSpPr/>
          <p:nvPr/>
        </p:nvSpPr>
        <p:spPr>
          <a:xfrm>
            <a:off x="3383280" y="3456432"/>
            <a:ext cx="3977640" cy="475488"/>
          </a:xfrm>
          <a:prstGeom prst="rect">
            <a:avLst/>
          </a:prstGeom>
          <a:noFill/>
          <a:ln/>
        </p:spPr>
        <p:txBody>
          <a:bodyPr wrap="square" rtlCol="0" anchor="ctr"/>
          <a:lstStyle/>
          <a:p>
            <a:pPr indent="0" marL="0">
              <a:buNone/>
            </a:pPr>
            <a:r>
              <a:rPr lang="en-US" sz="1020" dirty="0">
                <a:solidFill>
                  <a:srgbClr val="22313F"/>
                </a:solidFill>
                <a:latin typeface="Calibri" pitchFamily="34" charset="0"/>
                <a:ea typeface="Calibri" pitchFamily="34" charset="-122"/>
                <a:cs typeface="Calibri" pitchFamily="34" charset="-120"/>
              </a:rPr>
              <a:t>Mean Squared Error</a:t>
            </a:r>
            <a:endParaRPr lang="en-US" sz="1020" dirty="0"/>
          </a:p>
        </p:txBody>
      </p:sp>
      <p:sp>
        <p:nvSpPr>
          <p:cNvPr id="23" name="Text 21"/>
          <p:cNvSpPr/>
          <p:nvPr/>
        </p:nvSpPr>
        <p:spPr>
          <a:xfrm>
            <a:off x="7543800" y="3456432"/>
            <a:ext cx="3977640" cy="475488"/>
          </a:xfrm>
          <a:prstGeom prst="rect">
            <a:avLst/>
          </a:prstGeom>
          <a:noFill/>
          <a:ln/>
        </p:spPr>
        <p:txBody>
          <a:bodyPr wrap="square" rtlCol="0" anchor="ctr"/>
          <a:lstStyle/>
          <a:p>
            <a:pPr indent="0" marL="0">
              <a:buNone/>
            </a:pPr>
            <a:r>
              <a:rPr lang="en-US" sz="1020" dirty="0">
                <a:solidFill>
                  <a:srgbClr val="22313F"/>
                </a:solidFill>
                <a:latin typeface="Calibri" pitchFamily="34" charset="0"/>
                <a:ea typeface="Calibri" pitchFamily="34" charset="-122"/>
                <a:cs typeface="Calibri" pitchFamily="34" charset="-120"/>
              </a:rPr>
              <a:t>Binary Cross-Entropy</a:t>
            </a:r>
            <a:endParaRPr lang="en-US" sz="1020" dirty="0"/>
          </a:p>
        </p:txBody>
      </p:sp>
      <p:sp>
        <p:nvSpPr>
          <p:cNvPr id="24" name="Shape 22"/>
          <p:cNvSpPr/>
          <p:nvPr/>
        </p:nvSpPr>
        <p:spPr>
          <a:xfrm>
            <a:off x="548640" y="3931920"/>
            <a:ext cx="11064240" cy="475488"/>
          </a:xfrm>
          <a:prstGeom prst="rect">
            <a:avLst/>
          </a:prstGeom>
          <a:solidFill>
            <a:srgbClr val="FFFFFF"/>
          </a:solidFill>
          <a:ln w="9525">
            <a:solidFill>
              <a:srgbClr val="D9E3EC"/>
            </a:solidFill>
            <a:prstDash val="solid"/>
          </a:ln>
        </p:spPr>
      </p:sp>
      <p:sp>
        <p:nvSpPr>
          <p:cNvPr id="25" name="Text 23"/>
          <p:cNvSpPr/>
          <p:nvPr/>
        </p:nvSpPr>
        <p:spPr>
          <a:xfrm>
            <a:off x="685800" y="3931920"/>
            <a:ext cx="2560320" cy="475488"/>
          </a:xfrm>
          <a:prstGeom prst="rect">
            <a:avLst/>
          </a:prstGeom>
          <a:noFill/>
          <a:ln/>
        </p:spPr>
        <p:txBody>
          <a:bodyPr wrap="square" rtlCol="0" anchor="ctr"/>
          <a:lstStyle/>
          <a:p>
            <a:pPr indent="0" marL="0">
              <a:buNone/>
            </a:pPr>
            <a:r>
              <a:rPr lang="en-US" sz="1080" b="1" dirty="0">
                <a:solidFill>
                  <a:srgbClr val="10375C"/>
                </a:solidFill>
                <a:latin typeface="Calibri" pitchFamily="34" charset="0"/>
                <a:ea typeface="Calibri" pitchFamily="34" charset="-122"/>
                <a:cs typeface="Calibri" pitchFamily="34" charset="-120"/>
              </a:rPr>
              <a:t>Derived from</a:t>
            </a:r>
            <a:endParaRPr lang="en-US" sz="1080" dirty="0"/>
          </a:p>
        </p:txBody>
      </p:sp>
      <p:sp>
        <p:nvSpPr>
          <p:cNvPr id="26" name="Text 24"/>
          <p:cNvSpPr/>
          <p:nvPr/>
        </p:nvSpPr>
        <p:spPr>
          <a:xfrm>
            <a:off x="3383280" y="3931920"/>
            <a:ext cx="3977640" cy="475488"/>
          </a:xfrm>
          <a:prstGeom prst="rect">
            <a:avLst/>
          </a:prstGeom>
          <a:noFill/>
          <a:ln/>
        </p:spPr>
        <p:txBody>
          <a:bodyPr wrap="square" rtlCol="0" anchor="ctr"/>
          <a:lstStyle/>
          <a:p>
            <a:pPr indent="0" marL="0">
              <a:buNone/>
            </a:pPr>
            <a:r>
              <a:rPr lang="en-US" sz="1020" dirty="0">
                <a:solidFill>
                  <a:srgbClr val="22313F"/>
                </a:solidFill>
                <a:latin typeface="Calibri" pitchFamily="34" charset="0"/>
                <a:ea typeface="Calibri" pitchFamily="34" charset="-122"/>
                <a:cs typeface="Calibri" pitchFamily="34" charset="-120"/>
              </a:rPr>
              <a:t>Gaussian likelihood (MLE)</a:t>
            </a:r>
            <a:endParaRPr lang="en-US" sz="1020" dirty="0"/>
          </a:p>
        </p:txBody>
      </p:sp>
      <p:sp>
        <p:nvSpPr>
          <p:cNvPr id="27" name="Text 25"/>
          <p:cNvSpPr/>
          <p:nvPr/>
        </p:nvSpPr>
        <p:spPr>
          <a:xfrm>
            <a:off x="7543800" y="3931920"/>
            <a:ext cx="3977640" cy="475488"/>
          </a:xfrm>
          <a:prstGeom prst="rect">
            <a:avLst/>
          </a:prstGeom>
          <a:noFill/>
          <a:ln/>
        </p:spPr>
        <p:txBody>
          <a:bodyPr wrap="square" rtlCol="0" anchor="ctr"/>
          <a:lstStyle/>
          <a:p>
            <a:pPr indent="0" marL="0">
              <a:buNone/>
            </a:pPr>
            <a:r>
              <a:rPr lang="en-US" sz="1020" dirty="0">
                <a:solidFill>
                  <a:srgbClr val="22313F"/>
                </a:solidFill>
                <a:latin typeface="Calibri" pitchFamily="34" charset="0"/>
                <a:ea typeface="Calibri" pitchFamily="34" charset="-122"/>
                <a:cs typeface="Calibri" pitchFamily="34" charset="-120"/>
              </a:rPr>
              <a:t>Bernoulli likelihood (MLE)</a:t>
            </a:r>
            <a:endParaRPr lang="en-US" sz="1020" dirty="0"/>
          </a:p>
        </p:txBody>
      </p:sp>
      <p:sp>
        <p:nvSpPr>
          <p:cNvPr id="28" name="Shape 26"/>
          <p:cNvSpPr/>
          <p:nvPr/>
        </p:nvSpPr>
        <p:spPr>
          <a:xfrm>
            <a:off x="548640" y="4407408"/>
            <a:ext cx="11064240" cy="475488"/>
          </a:xfrm>
          <a:prstGeom prst="rect">
            <a:avLst/>
          </a:prstGeom>
          <a:solidFill>
            <a:srgbClr val="EFF4F8"/>
          </a:solidFill>
          <a:ln w="9525">
            <a:solidFill>
              <a:srgbClr val="D9E3EC"/>
            </a:solidFill>
            <a:prstDash val="solid"/>
          </a:ln>
        </p:spPr>
      </p:sp>
      <p:sp>
        <p:nvSpPr>
          <p:cNvPr id="29" name="Text 27"/>
          <p:cNvSpPr/>
          <p:nvPr/>
        </p:nvSpPr>
        <p:spPr>
          <a:xfrm>
            <a:off x="685800" y="4407408"/>
            <a:ext cx="2560320" cy="475488"/>
          </a:xfrm>
          <a:prstGeom prst="rect">
            <a:avLst/>
          </a:prstGeom>
          <a:noFill/>
          <a:ln/>
        </p:spPr>
        <p:txBody>
          <a:bodyPr wrap="square" rtlCol="0" anchor="ctr"/>
          <a:lstStyle/>
          <a:p>
            <a:pPr indent="0" marL="0">
              <a:buNone/>
            </a:pPr>
            <a:r>
              <a:rPr lang="en-US" sz="1080" b="1" dirty="0">
                <a:solidFill>
                  <a:srgbClr val="10375C"/>
                </a:solidFill>
                <a:latin typeface="Calibri" pitchFamily="34" charset="0"/>
                <a:ea typeface="Calibri" pitchFamily="34" charset="-122"/>
                <a:cs typeface="Calibri" pitchFamily="34" charset="-120"/>
              </a:rPr>
              <a:t>Closed form?</a:t>
            </a:r>
            <a:endParaRPr lang="en-US" sz="1080" dirty="0"/>
          </a:p>
        </p:txBody>
      </p:sp>
      <p:sp>
        <p:nvSpPr>
          <p:cNvPr id="30" name="Text 28"/>
          <p:cNvSpPr/>
          <p:nvPr/>
        </p:nvSpPr>
        <p:spPr>
          <a:xfrm>
            <a:off x="3383280" y="4407408"/>
            <a:ext cx="3977640" cy="475488"/>
          </a:xfrm>
          <a:prstGeom prst="rect">
            <a:avLst/>
          </a:prstGeom>
          <a:noFill/>
          <a:ln/>
        </p:spPr>
        <p:txBody>
          <a:bodyPr wrap="square" rtlCol="0" anchor="ctr"/>
          <a:lstStyle/>
          <a:p>
            <a:pPr indent="0" marL="0">
              <a:buNone/>
            </a:pPr>
            <a:r>
              <a:rPr lang="en-US" sz="1020" dirty="0">
                <a:solidFill>
                  <a:srgbClr val="22313F"/>
                </a:solidFill>
                <a:latin typeface="Calibri" pitchFamily="34" charset="0"/>
                <a:ea typeface="Calibri" pitchFamily="34" charset="-122"/>
                <a:cs typeface="Calibri" pitchFamily="34" charset="-120"/>
              </a:rPr>
              <a:t>Yes — Normal Equation</a:t>
            </a:r>
            <a:endParaRPr lang="en-US" sz="1020" dirty="0"/>
          </a:p>
        </p:txBody>
      </p:sp>
      <p:sp>
        <p:nvSpPr>
          <p:cNvPr id="31" name="Text 29"/>
          <p:cNvSpPr/>
          <p:nvPr/>
        </p:nvSpPr>
        <p:spPr>
          <a:xfrm>
            <a:off x="7543800" y="4407408"/>
            <a:ext cx="3977640" cy="475488"/>
          </a:xfrm>
          <a:prstGeom prst="rect">
            <a:avLst/>
          </a:prstGeom>
          <a:noFill/>
          <a:ln/>
        </p:spPr>
        <p:txBody>
          <a:bodyPr wrap="square" rtlCol="0" anchor="ctr"/>
          <a:lstStyle/>
          <a:p>
            <a:pPr indent="0" marL="0">
              <a:buNone/>
            </a:pPr>
            <a:r>
              <a:rPr lang="en-US" sz="1020" dirty="0">
                <a:solidFill>
                  <a:srgbClr val="22313F"/>
                </a:solidFill>
                <a:latin typeface="Calibri" pitchFamily="34" charset="0"/>
                <a:ea typeface="Calibri" pitchFamily="34" charset="-122"/>
                <a:cs typeface="Calibri" pitchFamily="34" charset="-120"/>
              </a:rPr>
              <a:t>No — needs iterative optimization</a:t>
            </a:r>
            <a:endParaRPr lang="en-US" sz="1020" dirty="0"/>
          </a:p>
        </p:txBody>
      </p:sp>
      <p:sp>
        <p:nvSpPr>
          <p:cNvPr id="32" name="Shape 30"/>
          <p:cNvSpPr/>
          <p:nvPr/>
        </p:nvSpPr>
        <p:spPr>
          <a:xfrm>
            <a:off x="548640" y="4882896"/>
            <a:ext cx="11064240" cy="475488"/>
          </a:xfrm>
          <a:prstGeom prst="rect">
            <a:avLst/>
          </a:prstGeom>
          <a:solidFill>
            <a:srgbClr val="FFFFFF"/>
          </a:solidFill>
          <a:ln w="9525">
            <a:solidFill>
              <a:srgbClr val="D9E3EC"/>
            </a:solidFill>
            <a:prstDash val="solid"/>
          </a:ln>
        </p:spPr>
      </p:sp>
      <p:sp>
        <p:nvSpPr>
          <p:cNvPr id="33" name="Text 31"/>
          <p:cNvSpPr/>
          <p:nvPr/>
        </p:nvSpPr>
        <p:spPr>
          <a:xfrm>
            <a:off x="685800" y="4882896"/>
            <a:ext cx="2560320" cy="475488"/>
          </a:xfrm>
          <a:prstGeom prst="rect">
            <a:avLst/>
          </a:prstGeom>
          <a:noFill/>
          <a:ln/>
        </p:spPr>
        <p:txBody>
          <a:bodyPr wrap="square" rtlCol="0" anchor="ctr"/>
          <a:lstStyle/>
          <a:p>
            <a:pPr indent="0" marL="0">
              <a:buNone/>
            </a:pPr>
            <a:r>
              <a:rPr lang="en-US" sz="1080" b="1" dirty="0">
                <a:solidFill>
                  <a:srgbClr val="10375C"/>
                </a:solidFill>
                <a:latin typeface="Calibri" pitchFamily="34" charset="0"/>
                <a:ea typeface="Calibri" pitchFamily="34" charset="-122"/>
                <a:cs typeface="Calibri" pitchFamily="34" charset="-120"/>
              </a:rPr>
              <a:t>Gradient formula</a:t>
            </a:r>
            <a:endParaRPr lang="en-US" sz="1080" dirty="0"/>
          </a:p>
        </p:txBody>
      </p:sp>
      <p:sp>
        <p:nvSpPr>
          <p:cNvPr id="34" name="Text 32"/>
          <p:cNvSpPr/>
          <p:nvPr/>
        </p:nvSpPr>
        <p:spPr>
          <a:xfrm>
            <a:off x="3383280" y="4882896"/>
            <a:ext cx="3977640" cy="475488"/>
          </a:xfrm>
          <a:prstGeom prst="rect">
            <a:avLst/>
          </a:prstGeom>
          <a:noFill/>
          <a:ln/>
        </p:spPr>
        <p:txBody>
          <a:bodyPr wrap="square" rtlCol="0" anchor="ctr"/>
          <a:lstStyle/>
          <a:p>
            <a:pPr indent="0" marL="0">
              <a:buNone/>
            </a:pPr>
            <a:r>
              <a:rPr lang="en-US" sz="1020" dirty="0">
                <a:solidFill>
                  <a:srgbClr val="22313F"/>
                </a:solidFill>
                <a:latin typeface="Calibri" pitchFamily="34" charset="0"/>
                <a:ea typeface="Calibri" pitchFamily="34" charset="-122"/>
                <a:cs typeface="Calibri" pitchFamily="34" charset="-120"/>
              </a:rPr>
              <a:t>(1/m)Xᵀ(Xθ − y)</a:t>
            </a:r>
            <a:endParaRPr lang="en-US" sz="1020" dirty="0"/>
          </a:p>
        </p:txBody>
      </p:sp>
      <p:sp>
        <p:nvSpPr>
          <p:cNvPr id="35" name="Text 33"/>
          <p:cNvSpPr/>
          <p:nvPr/>
        </p:nvSpPr>
        <p:spPr>
          <a:xfrm>
            <a:off x="7543800" y="4882896"/>
            <a:ext cx="3977640" cy="475488"/>
          </a:xfrm>
          <a:prstGeom prst="rect">
            <a:avLst/>
          </a:prstGeom>
          <a:noFill/>
          <a:ln/>
        </p:spPr>
        <p:txBody>
          <a:bodyPr wrap="square" rtlCol="0" anchor="ctr"/>
          <a:lstStyle/>
          <a:p>
            <a:pPr indent="0" marL="0">
              <a:buNone/>
            </a:pPr>
            <a:r>
              <a:rPr lang="en-US" sz="1020" dirty="0">
                <a:solidFill>
                  <a:srgbClr val="22313F"/>
                </a:solidFill>
                <a:latin typeface="Calibri" pitchFamily="34" charset="0"/>
                <a:ea typeface="Calibri" pitchFamily="34" charset="-122"/>
                <a:cs typeface="Calibri" pitchFamily="34" charset="-120"/>
              </a:rPr>
              <a:t>(1/m)Xᵀ(ŷ − y)   — same shape!</a:t>
            </a:r>
            <a:endParaRPr lang="en-US" sz="1020" dirty="0"/>
          </a:p>
        </p:txBody>
      </p:sp>
      <p:sp>
        <p:nvSpPr>
          <p:cNvPr id="36" name="Shape 34"/>
          <p:cNvSpPr/>
          <p:nvPr/>
        </p:nvSpPr>
        <p:spPr>
          <a:xfrm>
            <a:off x="548640" y="5358384"/>
            <a:ext cx="11064240" cy="475488"/>
          </a:xfrm>
          <a:prstGeom prst="rect">
            <a:avLst/>
          </a:prstGeom>
          <a:solidFill>
            <a:srgbClr val="EFF4F8"/>
          </a:solidFill>
          <a:ln w="9525">
            <a:solidFill>
              <a:srgbClr val="D9E3EC"/>
            </a:solidFill>
            <a:prstDash val="solid"/>
          </a:ln>
        </p:spPr>
      </p:sp>
      <p:sp>
        <p:nvSpPr>
          <p:cNvPr id="37" name="Text 35"/>
          <p:cNvSpPr/>
          <p:nvPr/>
        </p:nvSpPr>
        <p:spPr>
          <a:xfrm>
            <a:off x="685800" y="5358384"/>
            <a:ext cx="2560320" cy="475488"/>
          </a:xfrm>
          <a:prstGeom prst="rect">
            <a:avLst/>
          </a:prstGeom>
          <a:noFill/>
          <a:ln/>
        </p:spPr>
        <p:txBody>
          <a:bodyPr wrap="square" rtlCol="0" anchor="ctr"/>
          <a:lstStyle/>
          <a:p>
            <a:pPr indent="0" marL="0">
              <a:buNone/>
            </a:pPr>
            <a:r>
              <a:rPr lang="en-US" sz="1080" b="1" dirty="0">
                <a:solidFill>
                  <a:srgbClr val="10375C"/>
                </a:solidFill>
                <a:latin typeface="Calibri" pitchFamily="34" charset="0"/>
                <a:ea typeface="Calibri" pitchFamily="34" charset="-122"/>
                <a:cs typeface="Calibri" pitchFamily="34" charset="-120"/>
              </a:rPr>
              <a:t>Regularization</a:t>
            </a:r>
            <a:endParaRPr lang="en-US" sz="1080" dirty="0"/>
          </a:p>
        </p:txBody>
      </p:sp>
      <p:sp>
        <p:nvSpPr>
          <p:cNvPr id="38" name="Text 36"/>
          <p:cNvSpPr/>
          <p:nvPr/>
        </p:nvSpPr>
        <p:spPr>
          <a:xfrm>
            <a:off x="3383280" y="5358384"/>
            <a:ext cx="3977640" cy="475488"/>
          </a:xfrm>
          <a:prstGeom prst="rect">
            <a:avLst/>
          </a:prstGeom>
          <a:noFill/>
          <a:ln/>
        </p:spPr>
        <p:txBody>
          <a:bodyPr wrap="square" rtlCol="0" anchor="ctr"/>
          <a:lstStyle/>
          <a:p>
            <a:pPr indent="0" marL="0">
              <a:buNone/>
            </a:pPr>
            <a:r>
              <a:rPr lang="en-US" sz="1020" dirty="0">
                <a:solidFill>
                  <a:srgbClr val="22313F"/>
                </a:solidFill>
                <a:latin typeface="Calibri" pitchFamily="34" charset="0"/>
                <a:ea typeface="Calibri" pitchFamily="34" charset="-122"/>
                <a:cs typeface="Calibri" pitchFamily="34" charset="-120"/>
              </a:rPr>
              <a:t>Ridge / Lasso / Elastic Net</a:t>
            </a:r>
            <a:endParaRPr lang="en-US" sz="1020" dirty="0"/>
          </a:p>
        </p:txBody>
      </p:sp>
      <p:sp>
        <p:nvSpPr>
          <p:cNvPr id="39" name="Text 37"/>
          <p:cNvSpPr/>
          <p:nvPr/>
        </p:nvSpPr>
        <p:spPr>
          <a:xfrm>
            <a:off x="7543800" y="5358384"/>
            <a:ext cx="3977640" cy="475488"/>
          </a:xfrm>
          <a:prstGeom prst="rect">
            <a:avLst/>
          </a:prstGeom>
          <a:noFill/>
          <a:ln/>
        </p:spPr>
        <p:txBody>
          <a:bodyPr wrap="square" rtlCol="0" anchor="ctr"/>
          <a:lstStyle/>
          <a:p>
            <a:pPr indent="0" marL="0">
              <a:buNone/>
            </a:pPr>
            <a:r>
              <a:rPr lang="en-US" sz="1020" dirty="0">
                <a:solidFill>
                  <a:srgbClr val="22313F"/>
                </a:solidFill>
                <a:latin typeface="Calibri" pitchFamily="34" charset="0"/>
                <a:ea typeface="Calibri" pitchFamily="34" charset="-122"/>
                <a:cs typeface="Calibri" pitchFamily="34" charset="-120"/>
              </a:rPr>
              <a:t>L2 / L1 penalty on log-loss</a:t>
            </a:r>
            <a:endParaRPr lang="en-US" sz="1020" dirty="0"/>
          </a:p>
        </p:txBody>
      </p:sp>
      <p:sp>
        <p:nvSpPr>
          <p:cNvPr id="40" name="Shape 38"/>
          <p:cNvSpPr/>
          <p:nvPr/>
        </p:nvSpPr>
        <p:spPr>
          <a:xfrm>
            <a:off x="548640" y="5833872"/>
            <a:ext cx="11064240" cy="475488"/>
          </a:xfrm>
          <a:prstGeom prst="rect">
            <a:avLst/>
          </a:prstGeom>
          <a:solidFill>
            <a:srgbClr val="FFFFFF"/>
          </a:solidFill>
          <a:ln w="9525">
            <a:solidFill>
              <a:srgbClr val="D9E3EC"/>
            </a:solidFill>
            <a:prstDash val="solid"/>
          </a:ln>
        </p:spPr>
      </p:sp>
      <p:sp>
        <p:nvSpPr>
          <p:cNvPr id="41" name="Text 39"/>
          <p:cNvSpPr/>
          <p:nvPr/>
        </p:nvSpPr>
        <p:spPr>
          <a:xfrm>
            <a:off x="685800" y="5833872"/>
            <a:ext cx="2560320" cy="475488"/>
          </a:xfrm>
          <a:prstGeom prst="rect">
            <a:avLst/>
          </a:prstGeom>
          <a:noFill/>
          <a:ln/>
        </p:spPr>
        <p:txBody>
          <a:bodyPr wrap="square" rtlCol="0" anchor="ctr"/>
          <a:lstStyle/>
          <a:p>
            <a:pPr indent="0" marL="0">
              <a:buNone/>
            </a:pPr>
            <a:r>
              <a:rPr lang="en-US" sz="1080" b="1" dirty="0">
                <a:solidFill>
                  <a:srgbClr val="10375C"/>
                </a:solidFill>
                <a:latin typeface="Calibri" pitchFamily="34" charset="0"/>
                <a:ea typeface="Calibri" pitchFamily="34" charset="-122"/>
                <a:cs typeface="Calibri" pitchFamily="34" charset="-120"/>
              </a:rPr>
              <a:t>Key metric</a:t>
            </a:r>
            <a:endParaRPr lang="en-US" sz="1080" dirty="0"/>
          </a:p>
        </p:txBody>
      </p:sp>
      <p:sp>
        <p:nvSpPr>
          <p:cNvPr id="42" name="Text 40"/>
          <p:cNvSpPr/>
          <p:nvPr/>
        </p:nvSpPr>
        <p:spPr>
          <a:xfrm>
            <a:off x="3383280" y="5833872"/>
            <a:ext cx="3977640" cy="475488"/>
          </a:xfrm>
          <a:prstGeom prst="rect">
            <a:avLst/>
          </a:prstGeom>
          <a:noFill/>
          <a:ln/>
        </p:spPr>
        <p:txBody>
          <a:bodyPr wrap="square" rtlCol="0" anchor="ctr"/>
          <a:lstStyle/>
          <a:p>
            <a:pPr indent="0" marL="0">
              <a:buNone/>
            </a:pPr>
            <a:r>
              <a:rPr lang="en-US" sz="1020" dirty="0">
                <a:solidFill>
                  <a:srgbClr val="22313F"/>
                </a:solidFill>
                <a:latin typeface="Calibri" pitchFamily="34" charset="0"/>
                <a:ea typeface="Calibri" pitchFamily="34" charset="-122"/>
                <a:cs typeface="Calibri" pitchFamily="34" charset="-120"/>
              </a:rPr>
              <a:t>R², RMSE, MAE</a:t>
            </a:r>
            <a:endParaRPr lang="en-US" sz="1020" dirty="0"/>
          </a:p>
        </p:txBody>
      </p:sp>
      <p:sp>
        <p:nvSpPr>
          <p:cNvPr id="43" name="Text 41"/>
          <p:cNvSpPr/>
          <p:nvPr/>
        </p:nvSpPr>
        <p:spPr>
          <a:xfrm>
            <a:off x="7543800" y="5833872"/>
            <a:ext cx="3977640" cy="475488"/>
          </a:xfrm>
          <a:prstGeom prst="rect">
            <a:avLst/>
          </a:prstGeom>
          <a:noFill/>
          <a:ln/>
        </p:spPr>
        <p:txBody>
          <a:bodyPr wrap="square" rtlCol="0" anchor="ctr"/>
          <a:lstStyle/>
          <a:p>
            <a:pPr indent="0" marL="0">
              <a:buNone/>
            </a:pPr>
            <a:r>
              <a:rPr lang="en-US" sz="1020" dirty="0">
                <a:solidFill>
                  <a:srgbClr val="22313F"/>
                </a:solidFill>
                <a:latin typeface="Calibri" pitchFamily="34" charset="0"/>
                <a:ea typeface="Calibri" pitchFamily="34" charset="-122"/>
                <a:cs typeface="Calibri" pitchFamily="34" charset="-120"/>
              </a:rPr>
              <a:t>Accuracy, F1, ROC-AUC</a:t>
            </a:r>
            <a:endParaRPr lang="en-US" sz="1020" dirty="0"/>
          </a:p>
        </p:txBody>
      </p:sp>
      <p:sp>
        <p:nvSpPr>
          <p:cNvPr id="44" name="Text 42"/>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8A97A5"/>
                </a:solidFill>
                <a:latin typeface="Calibri" pitchFamily="34" charset="0"/>
                <a:ea typeface="Calibri" pitchFamily="34" charset="-122"/>
                <a:cs typeface="Calibri" pitchFamily="34" charset="-120"/>
              </a:rPr>
              <a:t>Linear &amp; Logistic Regression</a:t>
            </a:r>
            <a:endParaRPr lang="en-US" sz="900" dirty="0"/>
          </a:p>
        </p:txBody>
      </p:sp>
      <p:sp>
        <p:nvSpPr>
          <p:cNvPr id="45" name="Text 43"/>
          <p:cNvSpPr/>
          <p:nvPr/>
        </p:nvSpPr>
        <p:spPr>
          <a:xfrm>
            <a:off x="11368735" y="6547104"/>
            <a:ext cx="457200" cy="256032"/>
          </a:xfrm>
          <a:prstGeom prst="rect">
            <a:avLst/>
          </a:prstGeom>
          <a:noFill/>
          <a:ln/>
        </p:spPr>
        <p:txBody>
          <a:bodyPr wrap="square"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HANDS-ON</a:t>
            </a:r>
            <a:endParaRPr lang="en-US" sz="1300" dirty="0"/>
          </a:p>
        </p:txBody>
      </p:sp>
      <p:sp>
        <p:nvSpPr>
          <p:cNvPr id="3" name="Text 1"/>
          <p:cNvSpPr/>
          <p:nvPr/>
        </p:nvSpPr>
        <p:spPr>
          <a:xfrm>
            <a:off x="548640" y="658368"/>
            <a:ext cx="10607040" cy="777240"/>
          </a:xfrm>
          <a:prstGeom prst="rect">
            <a:avLst/>
          </a:prstGeom>
          <a:noFill/>
          <a:ln/>
        </p:spPr>
        <p:txBody>
          <a:bodyPr wrap="square" rtlCol="0" anchor="ctr"/>
          <a:lstStyle/>
          <a:p>
            <a:pPr indent="0" marL="0">
              <a:buNone/>
            </a:pPr>
            <a:r>
              <a:rPr lang="en-US" sz="3000" b="1" dirty="0">
                <a:solidFill>
                  <a:srgbClr val="10375C"/>
                </a:solidFill>
                <a:latin typeface="Cambria" pitchFamily="34" charset="0"/>
                <a:ea typeface="Cambria" pitchFamily="34" charset="-122"/>
                <a:cs typeface="Cambria" pitchFamily="34" charset="-120"/>
              </a:rPr>
              <a:t>Week 5 Project: Putting Theory Into Practice</a:t>
            </a:r>
            <a:endParaRPr lang="en-US" sz="3000" dirty="0"/>
          </a:p>
        </p:txBody>
      </p:sp>
      <p:pic>
        <p:nvPicPr>
          <p:cNvPr id="4" name="Image 0" descr="/home/claude/work/plots/decision_boundary.png">    </p:cNvPr>
          <p:cNvPicPr>
            <a:picLocks noChangeAspect="1"/>
          </p:cNvPicPr>
          <p:nvPr/>
        </p:nvPicPr>
        <p:blipFill>
          <a:blip r:embed="rId1"/>
          <a:stretch>
            <a:fillRect/>
          </a:stretch>
        </p:blipFill>
        <p:spPr>
          <a:xfrm>
            <a:off x="6355080" y="1642533"/>
            <a:ext cx="5394960" cy="4395893"/>
          </a:xfrm>
          <a:prstGeom prst="rect">
            <a:avLst/>
          </a:prstGeom>
        </p:spPr>
      </p:pic>
      <p:sp>
        <p:nvSpPr>
          <p:cNvPr id="5" name="Shape 2"/>
          <p:cNvSpPr/>
          <p:nvPr/>
        </p:nvSpPr>
        <p:spPr>
          <a:xfrm>
            <a:off x="548640" y="1508760"/>
            <a:ext cx="6126480" cy="1965960"/>
          </a:xfrm>
          <a:prstGeom prst="roundRect">
            <a:avLst>
              <a:gd name="adj" fmla="val 3721"/>
            </a:avLst>
          </a:prstGeom>
          <a:solidFill>
            <a:srgbClr val="EFF4F8"/>
          </a:solidFill>
          <a:ln w="12700">
            <a:solidFill>
              <a:srgbClr val="D9E3EC"/>
            </a:solidFill>
            <a:prstDash val="solid"/>
          </a:ln>
        </p:spPr>
      </p:sp>
      <p:sp>
        <p:nvSpPr>
          <p:cNvPr id="6" name="Text 3"/>
          <p:cNvSpPr/>
          <p:nvPr/>
        </p:nvSpPr>
        <p:spPr>
          <a:xfrm>
            <a:off x="777240" y="1645920"/>
            <a:ext cx="5669280" cy="365760"/>
          </a:xfrm>
          <a:prstGeom prst="rect">
            <a:avLst/>
          </a:prstGeom>
          <a:noFill/>
          <a:ln/>
        </p:spPr>
        <p:txBody>
          <a:bodyPr wrap="square" rtlCol="0" anchor="ctr"/>
          <a:lstStyle/>
          <a:p>
            <a:pPr indent="0" marL="0">
              <a:buNone/>
            </a:pPr>
            <a:r>
              <a:rPr lang="en-US" sz="1600" b="1" dirty="0">
                <a:solidFill>
                  <a:srgbClr val="10375C"/>
                </a:solidFill>
                <a:latin typeface="Cambria" pitchFamily="34" charset="0"/>
                <a:ea typeface="Cambria" pitchFamily="34" charset="-122"/>
                <a:cs typeface="Cambria" pitchFamily="34" charset="-120"/>
              </a:rPr>
              <a:t>🏠  House Price Predictor</a:t>
            </a:r>
            <a:endParaRPr lang="en-US" sz="1600" dirty="0"/>
          </a:p>
        </p:txBody>
      </p:sp>
      <p:sp>
        <p:nvSpPr>
          <p:cNvPr id="7" name="Text 4"/>
          <p:cNvSpPr/>
          <p:nvPr/>
        </p:nvSpPr>
        <p:spPr>
          <a:xfrm>
            <a:off x="777240" y="2057400"/>
            <a:ext cx="5669280" cy="365760"/>
          </a:xfrm>
          <a:prstGeom prst="rect">
            <a:avLst/>
          </a:prstGeom>
          <a:noFill/>
          <a:ln/>
        </p:spPr>
        <p:txBody>
          <a:bodyPr wrap="square" rtlCol="0" anchor="ctr"/>
          <a:lstStyle/>
          <a:p>
            <a:pPr indent="0" marL="0">
              <a:buNone/>
            </a:pPr>
            <a:r>
              <a:rPr lang="en-US" sz="1100" i="1" dirty="0">
                <a:solidFill>
                  <a:srgbClr val="1C7293"/>
                </a:solidFill>
                <a:latin typeface="Calibri" pitchFamily="34" charset="0"/>
                <a:ea typeface="Calibri" pitchFamily="34" charset="-122"/>
                <a:cs typeface="Calibri" pitchFamily="34" charset="-120"/>
              </a:rPr>
              <a:t>Apply LINEAR REGRESSION to the Boston Housing / Mall Customers-style dataset:</a:t>
            </a:r>
            <a:endParaRPr lang="en-US" sz="1100" dirty="0"/>
          </a:p>
        </p:txBody>
      </p:sp>
      <p:sp>
        <p:nvSpPr>
          <p:cNvPr id="8" name="Text 5"/>
          <p:cNvSpPr/>
          <p:nvPr/>
        </p:nvSpPr>
        <p:spPr>
          <a:xfrm>
            <a:off x="777240" y="2450592"/>
            <a:ext cx="5669280" cy="274320"/>
          </a:xfrm>
          <a:prstGeom prst="rect">
            <a:avLst/>
          </a:prstGeom>
          <a:noFill/>
          <a:ln/>
        </p:spPr>
        <p:txBody>
          <a:bodyPr wrap="square" rtlCol="0" anchor="ctr"/>
          <a:lstStyle/>
          <a:p>
            <a:pPr indent="0" marL="0">
              <a:buNone/>
            </a:pPr>
            <a:r>
              <a:rPr lang="en-US" sz="1030" dirty="0">
                <a:solidFill>
                  <a:srgbClr val="22313F"/>
                </a:solidFill>
                <a:latin typeface="Calibri" pitchFamily="34" charset="0"/>
                <a:ea typeface="Calibri" pitchFamily="34" charset="-122"/>
                <a:cs typeface="Calibri" pitchFamily="34" charset="-120"/>
              </a:rPr>
              <a:t>•  Engineer &amp; scale numeric features</a:t>
            </a:r>
            <a:endParaRPr lang="en-US" sz="1030" dirty="0"/>
          </a:p>
        </p:txBody>
      </p:sp>
      <p:sp>
        <p:nvSpPr>
          <p:cNvPr id="9" name="Text 6"/>
          <p:cNvSpPr/>
          <p:nvPr/>
        </p:nvSpPr>
        <p:spPr>
          <a:xfrm>
            <a:off x="777240" y="2715768"/>
            <a:ext cx="5669280" cy="274320"/>
          </a:xfrm>
          <a:prstGeom prst="rect">
            <a:avLst/>
          </a:prstGeom>
          <a:noFill/>
          <a:ln/>
        </p:spPr>
        <p:txBody>
          <a:bodyPr wrap="square" rtlCol="0" anchor="ctr"/>
          <a:lstStyle/>
          <a:p>
            <a:pPr indent="0" marL="0">
              <a:buNone/>
            </a:pPr>
            <a:r>
              <a:rPr lang="en-US" sz="1030" dirty="0">
                <a:solidFill>
                  <a:srgbClr val="22313F"/>
                </a:solidFill>
                <a:latin typeface="Calibri" pitchFamily="34" charset="0"/>
                <a:ea typeface="Calibri" pitchFamily="34" charset="-122"/>
                <a:cs typeface="Calibri" pitchFamily="34" charset="-120"/>
              </a:rPr>
              <a:t>•  Fit via Normal Equation AND Gradient Descent — compare</a:t>
            </a:r>
            <a:endParaRPr lang="en-US" sz="1030" dirty="0"/>
          </a:p>
        </p:txBody>
      </p:sp>
      <p:sp>
        <p:nvSpPr>
          <p:cNvPr id="10" name="Text 7"/>
          <p:cNvSpPr/>
          <p:nvPr/>
        </p:nvSpPr>
        <p:spPr>
          <a:xfrm>
            <a:off x="777240" y="2980944"/>
            <a:ext cx="5669280" cy="274320"/>
          </a:xfrm>
          <a:prstGeom prst="rect">
            <a:avLst/>
          </a:prstGeom>
          <a:noFill/>
          <a:ln/>
        </p:spPr>
        <p:txBody>
          <a:bodyPr wrap="square" rtlCol="0" anchor="ctr"/>
          <a:lstStyle/>
          <a:p>
            <a:pPr indent="0" marL="0">
              <a:buNone/>
            </a:pPr>
            <a:r>
              <a:rPr lang="en-US" sz="1030" dirty="0">
                <a:solidFill>
                  <a:srgbClr val="22313F"/>
                </a:solidFill>
                <a:latin typeface="Calibri" pitchFamily="34" charset="0"/>
                <a:ea typeface="Calibri" pitchFamily="34" charset="-122"/>
                <a:cs typeface="Calibri" pitchFamily="34" charset="-120"/>
              </a:rPr>
              <a:t>•  Evaluate with R², RMSE, MAE</a:t>
            </a:r>
            <a:endParaRPr lang="en-US" sz="1030" dirty="0"/>
          </a:p>
        </p:txBody>
      </p:sp>
      <p:sp>
        <p:nvSpPr>
          <p:cNvPr id="11" name="Text 8"/>
          <p:cNvSpPr/>
          <p:nvPr/>
        </p:nvSpPr>
        <p:spPr>
          <a:xfrm>
            <a:off x="777240" y="3246120"/>
            <a:ext cx="5669280" cy="274320"/>
          </a:xfrm>
          <a:prstGeom prst="rect">
            <a:avLst/>
          </a:prstGeom>
          <a:noFill/>
          <a:ln/>
        </p:spPr>
        <p:txBody>
          <a:bodyPr wrap="square" rtlCol="0" anchor="ctr"/>
          <a:lstStyle/>
          <a:p>
            <a:pPr indent="0" marL="0">
              <a:buNone/>
            </a:pPr>
            <a:r>
              <a:rPr lang="en-US" sz="1030" dirty="0">
                <a:solidFill>
                  <a:srgbClr val="22313F"/>
                </a:solidFill>
                <a:latin typeface="Calibri" pitchFamily="34" charset="0"/>
                <a:ea typeface="Calibri" pitchFamily="34" charset="-122"/>
                <a:cs typeface="Calibri" pitchFamily="34" charset="-120"/>
              </a:rPr>
              <a:t>•  Try Ridge/Lasso if features are correlated</a:t>
            </a:r>
            <a:endParaRPr lang="en-US" sz="1030" dirty="0"/>
          </a:p>
        </p:txBody>
      </p:sp>
      <p:sp>
        <p:nvSpPr>
          <p:cNvPr id="12" name="Shape 9"/>
          <p:cNvSpPr/>
          <p:nvPr/>
        </p:nvSpPr>
        <p:spPr>
          <a:xfrm>
            <a:off x="548640" y="3657600"/>
            <a:ext cx="6126480" cy="1965960"/>
          </a:xfrm>
          <a:prstGeom prst="roundRect">
            <a:avLst>
              <a:gd name="adj" fmla="val 3721"/>
            </a:avLst>
          </a:prstGeom>
          <a:solidFill>
            <a:srgbClr val="FDF3E3"/>
          </a:solidFill>
          <a:ln w="12700">
            <a:solidFill>
              <a:srgbClr val="F0D9A8"/>
            </a:solidFill>
            <a:prstDash val="solid"/>
          </a:ln>
        </p:spPr>
      </p:sp>
      <p:sp>
        <p:nvSpPr>
          <p:cNvPr id="13" name="Text 10"/>
          <p:cNvSpPr/>
          <p:nvPr/>
        </p:nvSpPr>
        <p:spPr>
          <a:xfrm>
            <a:off x="777240" y="3794760"/>
            <a:ext cx="5669280" cy="365760"/>
          </a:xfrm>
          <a:prstGeom prst="rect">
            <a:avLst/>
          </a:prstGeom>
          <a:noFill/>
          <a:ln/>
        </p:spPr>
        <p:txBody>
          <a:bodyPr wrap="square" rtlCol="0" anchor="ctr"/>
          <a:lstStyle/>
          <a:p>
            <a:pPr indent="0" marL="0">
              <a:buNone/>
            </a:pPr>
            <a:r>
              <a:rPr lang="en-US" sz="1600" b="1" dirty="0">
                <a:solidFill>
                  <a:srgbClr val="8A5A00"/>
                </a:solidFill>
                <a:latin typeface="Cambria" pitchFamily="34" charset="0"/>
                <a:ea typeface="Cambria" pitchFamily="34" charset="-122"/>
                <a:cs typeface="Cambria" pitchFamily="34" charset="-120"/>
              </a:rPr>
              <a:t>🌸  Iris / Customer Classification</a:t>
            </a:r>
            <a:endParaRPr lang="en-US" sz="1600" dirty="0"/>
          </a:p>
        </p:txBody>
      </p:sp>
      <p:sp>
        <p:nvSpPr>
          <p:cNvPr id="14" name="Text 11"/>
          <p:cNvSpPr/>
          <p:nvPr/>
        </p:nvSpPr>
        <p:spPr>
          <a:xfrm>
            <a:off x="777240" y="4206240"/>
            <a:ext cx="5669280" cy="365760"/>
          </a:xfrm>
          <a:prstGeom prst="rect">
            <a:avLst/>
          </a:prstGeom>
          <a:noFill/>
          <a:ln/>
        </p:spPr>
        <p:txBody>
          <a:bodyPr wrap="square" rtlCol="0" anchor="ctr"/>
          <a:lstStyle/>
          <a:p>
            <a:pPr indent="0" marL="0">
              <a:buNone/>
            </a:pPr>
            <a:r>
              <a:rPr lang="en-US" sz="1100" i="1" dirty="0">
                <a:solidFill>
                  <a:srgbClr val="8A5A00"/>
                </a:solidFill>
                <a:latin typeface="Calibri" pitchFamily="34" charset="0"/>
                <a:ea typeface="Calibri" pitchFamily="34" charset="-122"/>
                <a:cs typeface="Calibri" pitchFamily="34" charset="-120"/>
              </a:rPr>
              <a:t>Apply LOGISTIC REGRESSION for classification:</a:t>
            </a:r>
            <a:endParaRPr lang="en-US" sz="1100" dirty="0"/>
          </a:p>
        </p:txBody>
      </p:sp>
      <p:sp>
        <p:nvSpPr>
          <p:cNvPr id="15" name="Text 12"/>
          <p:cNvSpPr/>
          <p:nvPr/>
        </p:nvSpPr>
        <p:spPr>
          <a:xfrm>
            <a:off x="777240" y="4599432"/>
            <a:ext cx="5669280" cy="274320"/>
          </a:xfrm>
          <a:prstGeom prst="rect">
            <a:avLst/>
          </a:prstGeom>
          <a:noFill/>
          <a:ln/>
        </p:spPr>
        <p:txBody>
          <a:bodyPr wrap="square" rtlCol="0" anchor="ctr"/>
          <a:lstStyle/>
          <a:p>
            <a:pPr indent="0" marL="0">
              <a:buNone/>
            </a:pPr>
            <a:r>
              <a:rPr lang="en-US" sz="1030" dirty="0">
                <a:solidFill>
                  <a:srgbClr val="22313F"/>
                </a:solidFill>
                <a:latin typeface="Calibri" pitchFamily="34" charset="0"/>
                <a:ea typeface="Calibri" pitchFamily="34" charset="-122"/>
                <a:cs typeface="Calibri" pitchFamily="34" charset="-120"/>
              </a:rPr>
              <a:t>•  Binary or multiclass (softmax) classification</a:t>
            </a:r>
            <a:endParaRPr lang="en-US" sz="1030" dirty="0"/>
          </a:p>
        </p:txBody>
      </p:sp>
      <p:sp>
        <p:nvSpPr>
          <p:cNvPr id="16" name="Text 13"/>
          <p:cNvSpPr/>
          <p:nvPr/>
        </p:nvSpPr>
        <p:spPr>
          <a:xfrm>
            <a:off x="777240" y="4864608"/>
            <a:ext cx="5669280" cy="274320"/>
          </a:xfrm>
          <a:prstGeom prst="rect">
            <a:avLst/>
          </a:prstGeom>
          <a:noFill/>
          <a:ln/>
        </p:spPr>
        <p:txBody>
          <a:bodyPr wrap="square" rtlCol="0" anchor="ctr"/>
          <a:lstStyle/>
          <a:p>
            <a:pPr indent="0" marL="0">
              <a:buNone/>
            </a:pPr>
            <a:r>
              <a:rPr lang="en-US" sz="1030" dirty="0">
                <a:solidFill>
                  <a:srgbClr val="22313F"/>
                </a:solidFill>
                <a:latin typeface="Calibri" pitchFamily="34" charset="0"/>
                <a:ea typeface="Calibri" pitchFamily="34" charset="-122"/>
                <a:cs typeface="Calibri" pitchFamily="34" charset="-120"/>
              </a:rPr>
              <a:t>•  Plot the sigmoid-derived decision boundary</a:t>
            </a:r>
            <a:endParaRPr lang="en-US" sz="1030" dirty="0"/>
          </a:p>
        </p:txBody>
      </p:sp>
      <p:sp>
        <p:nvSpPr>
          <p:cNvPr id="17" name="Text 14"/>
          <p:cNvSpPr/>
          <p:nvPr/>
        </p:nvSpPr>
        <p:spPr>
          <a:xfrm>
            <a:off x="777240" y="5129784"/>
            <a:ext cx="5669280" cy="274320"/>
          </a:xfrm>
          <a:prstGeom prst="rect">
            <a:avLst/>
          </a:prstGeom>
          <a:noFill/>
          <a:ln/>
        </p:spPr>
        <p:txBody>
          <a:bodyPr wrap="square" rtlCol="0" anchor="ctr"/>
          <a:lstStyle/>
          <a:p>
            <a:pPr indent="0" marL="0">
              <a:buNone/>
            </a:pPr>
            <a:r>
              <a:rPr lang="en-US" sz="1030" dirty="0">
                <a:solidFill>
                  <a:srgbClr val="22313F"/>
                </a:solidFill>
                <a:latin typeface="Calibri" pitchFamily="34" charset="0"/>
                <a:ea typeface="Calibri" pitchFamily="34" charset="-122"/>
                <a:cs typeface="Calibri" pitchFamily="34" charset="-120"/>
              </a:rPr>
              <a:t>•  Evaluate with confusion matrix, precision/recall, F1, ROC-AUC</a:t>
            </a:r>
            <a:endParaRPr lang="en-US" sz="1030" dirty="0"/>
          </a:p>
        </p:txBody>
      </p:sp>
      <p:sp>
        <p:nvSpPr>
          <p:cNvPr id="18" name="Text 15"/>
          <p:cNvSpPr/>
          <p:nvPr/>
        </p:nvSpPr>
        <p:spPr>
          <a:xfrm>
            <a:off x="777240" y="5394960"/>
            <a:ext cx="5669280" cy="274320"/>
          </a:xfrm>
          <a:prstGeom prst="rect">
            <a:avLst/>
          </a:prstGeom>
          <a:noFill/>
          <a:ln/>
        </p:spPr>
        <p:txBody>
          <a:bodyPr wrap="square" rtlCol="0" anchor="ctr"/>
          <a:lstStyle/>
          <a:p>
            <a:pPr indent="0" marL="0">
              <a:buNone/>
            </a:pPr>
            <a:r>
              <a:rPr lang="en-US" sz="1030" dirty="0">
                <a:solidFill>
                  <a:srgbClr val="22313F"/>
                </a:solidFill>
                <a:latin typeface="Calibri" pitchFamily="34" charset="0"/>
                <a:ea typeface="Calibri" pitchFamily="34" charset="-122"/>
                <a:cs typeface="Calibri" pitchFamily="34" charset="-120"/>
              </a:rPr>
              <a:t>•  Regularize to avoid overfitting on small datasets</a:t>
            </a:r>
            <a:endParaRPr lang="en-US" sz="1030" dirty="0"/>
          </a:p>
        </p:txBody>
      </p:sp>
      <p:sp>
        <p:nvSpPr>
          <p:cNvPr id="19" name="Text 16"/>
          <p:cNvSpPr/>
          <p:nvPr/>
        </p:nvSpPr>
        <p:spPr>
          <a:xfrm>
            <a:off x="548640" y="5806440"/>
            <a:ext cx="6126480" cy="365760"/>
          </a:xfrm>
          <a:prstGeom prst="rect">
            <a:avLst/>
          </a:prstGeom>
          <a:noFill/>
          <a:ln/>
        </p:spPr>
        <p:txBody>
          <a:bodyPr wrap="square" rtlCol="0" anchor="ctr"/>
          <a:lstStyle/>
          <a:p>
            <a:pPr indent="0" marL="0">
              <a:buNone/>
            </a:pPr>
            <a:r>
              <a:rPr lang="en-US" sz="1050" i="1" dirty="0">
                <a:solidFill>
                  <a:srgbClr val="8A97A5"/>
                </a:solidFill>
                <a:latin typeface="Calibri" pitchFamily="34" charset="0"/>
                <a:ea typeface="Calibri" pitchFamily="34" charset="-122"/>
                <a:cs typeface="Calibri" pitchFamily="34" charset="-120"/>
              </a:rPr>
              <a:t>Full runnable code for both projects is in the companion Jupyter notebook →</a:t>
            </a:r>
            <a:endParaRPr lang="en-US" sz="1050" dirty="0"/>
          </a:p>
        </p:txBody>
      </p:sp>
      <p:sp>
        <p:nvSpPr>
          <p:cNvPr id="20" name="Text 17"/>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8A97A5"/>
                </a:solidFill>
                <a:latin typeface="Calibri" pitchFamily="34" charset="0"/>
                <a:ea typeface="Calibri" pitchFamily="34" charset="-122"/>
                <a:cs typeface="Calibri" pitchFamily="34" charset="-120"/>
              </a:rPr>
              <a:t>Linear &amp; Logistic Regression</a:t>
            </a:r>
            <a:endParaRPr lang="en-US" sz="900" dirty="0"/>
          </a:p>
        </p:txBody>
      </p:sp>
      <p:sp>
        <p:nvSpPr>
          <p:cNvPr id="21" name="Text 18"/>
          <p:cNvSpPr/>
          <p:nvPr/>
        </p:nvSpPr>
        <p:spPr>
          <a:xfrm>
            <a:off x="11368735" y="6547104"/>
            <a:ext cx="457200" cy="256032"/>
          </a:xfrm>
          <a:prstGeom prst="rect">
            <a:avLst/>
          </a:prstGeom>
          <a:noFill/>
          <a:ln/>
        </p:spPr>
        <p:txBody>
          <a:bodyPr wrap="square"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2540"/>
        </a:solidFill>
      </p:bgPr>
    </p:bg>
    <p:spTree>
      <p:nvGrpSpPr>
        <p:cNvPr id="1" name=""/>
        <p:cNvGrpSpPr/>
        <p:nvPr/>
      </p:nvGrpSpPr>
      <p:grpSpPr>
        <a:xfrm>
          <a:off x="0" y="0"/>
          <a:ext cx="0" cy="0"/>
          <a:chOff x="0" y="0"/>
          <a:chExt cx="0" cy="0"/>
        </a:xfrm>
      </p:grpSpPr>
      <p:sp>
        <p:nvSpPr>
          <p:cNvPr id="2" name="Text 0"/>
          <p:cNvSpPr/>
          <p:nvPr/>
        </p:nvSpPr>
        <p:spPr>
          <a:xfrm>
            <a:off x="548640" y="502920"/>
            <a:ext cx="5486400" cy="320040"/>
          </a:xfrm>
          <a:prstGeom prst="rect">
            <a:avLst/>
          </a:prstGeom>
          <a:noFill/>
          <a:ln/>
        </p:spPr>
        <p:txBody>
          <a:bodyPr wrap="square"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SUMMARY</a:t>
            </a:r>
            <a:endParaRPr lang="en-US" sz="1300" dirty="0"/>
          </a:p>
        </p:txBody>
      </p:sp>
      <p:sp>
        <p:nvSpPr>
          <p:cNvPr id="3" name="Text 1"/>
          <p:cNvSpPr/>
          <p:nvPr/>
        </p:nvSpPr>
        <p:spPr>
          <a:xfrm>
            <a:off x="502920" y="822960"/>
            <a:ext cx="9144000" cy="6858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Key Takeaways</a:t>
            </a:r>
            <a:endParaRPr lang="en-US" sz="3200" dirty="0"/>
          </a:p>
        </p:txBody>
      </p:sp>
      <p:sp>
        <p:nvSpPr>
          <p:cNvPr id="4" name="Shape 2"/>
          <p:cNvSpPr/>
          <p:nvPr/>
        </p:nvSpPr>
        <p:spPr>
          <a:xfrm>
            <a:off x="548640" y="1691640"/>
            <a:ext cx="365760" cy="365760"/>
          </a:xfrm>
          <a:prstGeom prst="ellipse">
            <a:avLst/>
          </a:prstGeom>
          <a:solidFill>
            <a:srgbClr val="1C7293"/>
          </a:solidFill>
          <a:ln w="12700">
            <a:solidFill>
              <a:srgbClr val="1C7293"/>
            </a:solidFill>
            <a:prstDash val="solid"/>
          </a:ln>
        </p:spPr>
      </p:sp>
      <p:sp>
        <p:nvSpPr>
          <p:cNvPr id="5" name="Text 3"/>
          <p:cNvSpPr/>
          <p:nvPr/>
        </p:nvSpPr>
        <p:spPr>
          <a:xfrm>
            <a:off x="548640" y="169164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97280" y="1636776"/>
            <a:ext cx="10332720" cy="640080"/>
          </a:xfrm>
          <a:prstGeom prst="rect">
            <a:avLst/>
          </a:prstGeom>
          <a:noFill/>
          <a:ln/>
        </p:spPr>
        <p:txBody>
          <a:bodyPr wrap="square" rtlCol="0" anchor="t"/>
          <a:lstStyle/>
          <a:p>
            <a:pPr indent="0" marL="0">
              <a:buNone/>
            </a:pPr>
            <a:r>
              <a:rPr lang="en-US" sz="1250" dirty="0">
                <a:solidFill>
                  <a:srgbClr val="E7EEF5"/>
                </a:solidFill>
                <a:latin typeface="Calibri" pitchFamily="34" charset="0"/>
                <a:ea typeface="Calibri" pitchFamily="34" charset="-122"/>
                <a:cs typeface="Calibri" pitchFamily="34" charset="-120"/>
              </a:rPr>
              <a:t>Both models are Generalized Linear Models: a linear core θᵀx, wrapped by a link function (identity or sigmoid).</a:t>
            </a:r>
            <a:endParaRPr lang="en-US" sz="1250" dirty="0"/>
          </a:p>
        </p:txBody>
      </p:sp>
      <p:sp>
        <p:nvSpPr>
          <p:cNvPr id="7" name="Shape 5"/>
          <p:cNvSpPr/>
          <p:nvPr/>
        </p:nvSpPr>
        <p:spPr>
          <a:xfrm>
            <a:off x="548640" y="2450592"/>
            <a:ext cx="365760" cy="365760"/>
          </a:xfrm>
          <a:prstGeom prst="ellipse">
            <a:avLst/>
          </a:prstGeom>
          <a:solidFill>
            <a:srgbClr val="F2A541"/>
          </a:solidFill>
          <a:ln w="12700">
            <a:solidFill>
              <a:srgbClr val="F2A541"/>
            </a:solidFill>
            <a:prstDash val="solid"/>
          </a:ln>
        </p:spPr>
      </p:sp>
      <p:sp>
        <p:nvSpPr>
          <p:cNvPr id="8" name="Text 6"/>
          <p:cNvSpPr/>
          <p:nvPr/>
        </p:nvSpPr>
        <p:spPr>
          <a:xfrm>
            <a:off x="548640" y="2450592"/>
            <a:ext cx="365760" cy="365760"/>
          </a:xfrm>
          <a:prstGeom prst="rect">
            <a:avLst/>
          </a:prstGeom>
          <a:noFill/>
          <a:ln/>
        </p:spPr>
        <p:txBody>
          <a:bodyPr wrap="square" rtlCol="0" anchor="ctr"/>
          <a:lstStyle/>
          <a:p>
            <a:pPr algn="ctr" indent="0" marL="0">
              <a:buNone/>
            </a:pPr>
            <a:r>
              <a:rPr lang="en-US" sz="1200" b="1" dirty="0">
                <a:solidFill>
                  <a:srgbClr val="0A2540"/>
                </a:solidFill>
                <a:latin typeface="Calibri" pitchFamily="34" charset="0"/>
                <a:ea typeface="Calibri" pitchFamily="34" charset="-122"/>
                <a:cs typeface="Calibri" pitchFamily="34" charset="-120"/>
              </a:rPr>
              <a:t>2</a:t>
            </a:r>
            <a:endParaRPr lang="en-US" sz="1200" dirty="0"/>
          </a:p>
        </p:txBody>
      </p:sp>
      <p:sp>
        <p:nvSpPr>
          <p:cNvPr id="9" name="Text 7"/>
          <p:cNvSpPr/>
          <p:nvPr/>
        </p:nvSpPr>
        <p:spPr>
          <a:xfrm>
            <a:off x="1097280" y="2395728"/>
            <a:ext cx="10332720" cy="640080"/>
          </a:xfrm>
          <a:prstGeom prst="rect">
            <a:avLst/>
          </a:prstGeom>
          <a:noFill/>
          <a:ln/>
        </p:spPr>
        <p:txBody>
          <a:bodyPr wrap="square" rtlCol="0" anchor="t"/>
          <a:lstStyle/>
          <a:p>
            <a:pPr indent="0" marL="0">
              <a:buNone/>
            </a:pPr>
            <a:r>
              <a:rPr lang="en-US" sz="1250" dirty="0">
                <a:solidFill>
                  <a:srgbClr val="E7EEF5"/>
                </a:solidFill>
                <a:latin typeface="Calibri" pitchFamily="34" charset="0"/>
                <a:ea typeface="Calibri" pitchFamily="34" charset="-122"/>
                <a:cs typeface="Calibri" pitchFamily="34" charset="-120"/>
              </a:rPr>
              <a:t>Their loss functions are not arbitrary — MSE and Cross-Entropy both fall directly out of Maximum Likelihood Estimation under Gaussian and Bernoulli noise assumptions, respectively.</a:t>
            </a:r>
            <a:endParaRPr lang="en-US" sz="1250" dirty="0"/>
          </a:p>
        </p:txBody>
      </p:sp>
      <p:sp>
        <p:nvSpPr>
          <p:cNvPr id="10" name="Shape 8"/>
          <p:cNvSpPr/>
          <p:nvPr/>
        </p:nvSpPr>
        <p:spPr>
          <a:xfrm>
            <a:off x="548640" y="3209544"/>
            <a:ext cx="365760" cy="365760"/>
          </a:xfrm>
          <a:prstGeom prst="ellipse">
            <a:avLst/>
          </a:prstGeom>
          <a:solidFill>
            <a:srgbClr val="1C7293"/>
          </a:solidFill>
          <a:ln w="12700">
            <a:solidFill>
              <a:srgbClr val="1C7293"/>
            </a:solidFill>
            <a:prstDash val="solid"/>
          </a:ln>
        </p:spPr>
      </p:sp>
      <p:sp>
        <p:nvSpPr>
          <p:cNvPr id="11" name="Text 9"/>
          <p:cNvSpPr/>
          <p:nvPr/>
        </p:nvSpPr>
        <p:spPr>
          <a:xfrm>
            <a:off x="548640" y="3209544"/>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2" name="Text 10"/>
          <p:cNvSpPr/>
          <p:nvPr/>
        </p:nvSpPr>
        <p:spPr>
          <a:xfrm>
            <a:off x="1097280" y="3154680"/>
            <a:ext cx="10332720" cy="640080"/>
          </a:xfrm>
          <a:prstGeom prst="rect">
            <a:avLst/>
          </a:prstGeom>
          <a:noFill/>
          <a:ln/>
        </p:spPr>
        <p:txBody>
          <a:bodyPr wrap="square" rtlCol="0" anchor="t"/>
          <a:lstStyle/>
          <a:p>
            <a:pPr indent="0" marL="0">
              <a:buNone/>
            </a:pPr>
            <a:r>
              <a:rPr lang="en-US" sz="1250" dirty="0">
                <a:solidFill>
                  <a:srgbClr val="E7EEF5"/>
                </a:solidFill>
                <a:latin typeface="Calibri" pitchFamily="34" charset="0"/>
                <a:ea typeface="Calibri" pitchFamily="34" charset="-122"/>
                <a:cs typeface="Calibri" pitchFamily="34" charset="-120"/>
              </a:rPr>
              <a:t>Both gradients reduce to the same elegant form: (1/m)Xᵀ(prediction − label) — which is why gradient descent code is nearly identical for both.</a:t>
            </a:r>
            <a:endParaRPr lang="en-US" sz="1250" dirty="0"/>
          </a:p>
        </p:txBody>
      </p:sp>
      <p:sp>
        <p:nvSpPr>
          <p:cNvPr id="13" name="Shape 11"/>
          <p:cNvSpPr/>
          <p:nvPr/>
        </p:nvSpPr>
        <p:spPr>
          <a:xfrm>
            <a:off x="548640" y="3968496"/>
            <a:ext cx="365760" cy="365760"/>
          </a:xfrm>
          <a:prstGeom prst="ellipse">
            <a:avLst/>
          </a:prstGeom>
          <a:solidFill>
            <a:srgbClr val="F2A541"/>
          </a:solidFill>
          <a:ln w="12700">
            <a:solidFill>
              <a:srgbClr val="F2A541"/>
            </a:solidFill>
            <a:prstDash val="solid"/>
          </a:ln>
        </p:spPr>
      </p:sp>
      <p:sp>
        <p:nvSpPr>
          <p:cNvPr id="14" name="Text 12"/>
          <p:cNvSpPr/>
          <p:nvPr/>
        </p:nvSpPr>
        <p:spPr>
          <a:xfrm>
            <a:off x="548640" y="3968496"/>
            <a:ext cx="365760" cy="365760"/>
          </a:xfrm>
          <a:prstGeom prst="rect">
            <a:avLst/>
          </a:prstGeom>
          <a:noFill/>
          <a:ln/>
        </p:spPr>
        <p:txBody>
          <a:bodyPr wrap="square" rtlCol="0" anchor="ctr"/>
          <a:lstStyle/>
          <a:p>
            <a:pPr algn="ctr" indent="0" marL="0">
              <a:buNone/>
            </a:pPr>
            <a:r>
              <a:rPr lang="en-US" sz="1200" b="1" dirty="0">
                <a:solidFill>
                  <a:srgbClr val="0A2540"/>
                </a:solidFill>
                <a:latin typeface="Calibri" pitchFamily="34" charset="0"/>
                <a:ea typeface="Calibri" pitchFamily="34" charset="-122"/>
                <a:cs typeface="Calibri" pitchFamily="34" charset="-120"/>
              </a:rPr>
              <a:t>4</a:t>
            </a:r>
            <a:endParaRPr lang="en-US" sz="1200" dirty="0"/>
          </a:p>
        </p:txBody>
      </p:sp>
      <p:sp>
        <p:nvSpPr>
          <p:cNvPr id="15" name="Text 13"/>
          <p:cNvSpPr/>
          <p:nvPr/>
        </p:nvSpPr>
        <p:spPr>
          <a:xfrm>
            <a:off x="1097280" y="3913632"/>
            <a:ext cx="10332720" cy="640080"/>
          </a:xfrm>
          <a:prstGeom prst="rect">
            <a:avLst/>
          </a:prstGeom>
          <a:noFill/>
          <a:ln/>
        </p:spPr>
        <p:txBody>
          <a:bodyPr wrap="square" rtlCol="0" anchor="t"/>
          <a:lstStyle/>
          <a:p>
            <a:pPr indent="0" marL="0">
              <a:buNone/>
            </a:pPr>
            <a:r>
              <a:rPr lang="en-US" sz="1250" dirty="0">
                <a:solidFill>
                  <a:srgbClr val="E7EEF5"/>
                </a:solidFill>
                <a:latin typeface="Calibri" pitchFamily="34" charset="0"/>
                <a:ea typeface="Calibri" pitchFamily="34" charset="-122"/>
                <a:cs typeface="Calibri" pitchFamily="34" charset="-120"/>
              </a:rPr>
              <a:t>Linear regression has a closed-form solution (Normal Equation); logistic regression needs iterative optimization because there's no closed form for its likelihood equations.</a:t>
            </a:r>
            <a:endParaRPr lang="en-US" sz="1250" dirty="0"/>
          </a:p>
        </p:txBody>
      </p:sp>
      <p:sp>
        <p:nvSpPr>
          <p:cNvPr id="16" name="Shape 14"/>
          <p:cNvSpPr/>
          <p:nvPr/>
        </p:nvSpPr>
        <p:spPr>
          <a:xfrm>
            <a:off x="548640" y="4727448"/>
            <a:ext cx="365760" cy="365760"/>
          </a:xfrm>
          <a:prstGeom prst="ellipse">
            <a:avLst/>
          </a:prstGeom>
          <a:solidFill>
            <a:srgbClr val="1C7293"/>
          </a:solidFill>
          <a:ln w="12700">
            <a:solidFill>
              <a:srgbClr val="1C7293"/>
            </a:solidFill>
            <a:prstDash val="solid"/>
          </a:ln>
        </p:spPr>
      </p:sp>
      <p:sp>
        <p:nvSpPr>
          <p:cNvPr id="17" name="Text 15"/>
          <p:cNvSpPr/>
          <p:nvPr/>
        </p:nvSpPr>
        <p:spPr>
          <a:xfrm>
            <a:off x="548640" y="4727448"/>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8" name="Text 16"/>
          <p:cNvSpPr/>
          <p:nvPr/>
        </p:nvSpPr>
        <p:spPr>
          <a:xfrm>
            <a:off x="1097280" y="4672584"/>
            <a:ext cx="10332720" cy="640080"/>
          </a:xfrm>
          <a:prstGeom prst="rect">
            <a:avLst/>
          </a:prstGeom>
          <a:noFill/>
          <a:ln/>
        </p:spPr>
        <p:txBody>
          <a:bodyPr wrap="square" rtlCol="0" anchor="t"/>
          <a:lstStyle/>
          <a:p>
            <a:pPr indent="0" marL="0">
              <a:buNone/>
            </a:pPr>
            <a:r>
              <a:rPr lang="en-US" sz="1250" dirty="0">
                <a:solidFill>
                  <a:srgbClr val="E7EEF5"/>
                </a:solidFill>
                <a:latin typeface="Calibri" pitchFamily="34" charset="0"/>
                <a:ea typeface="Calibri" pitchFamily="34" charset="-122"/>
                <a:cs typeface="Calibri" pitchFamily="34" charset="-120"/>
              </a:rPr>
              <a:t>Regularization (Ridge / Lasso / Elastic Net) extends naturally to both models to control overfitting.</a:t>
            </a:r>
            <a:endParaRPr lang="en-US" sz="1250" dirty="0"/>
          </a:p>
        </p:txBody>
      </p:sp>
      <p:sp>
        <p:nvSpPr>
          <p:cNvPr id="19" name="Shape 17"/>
          <p:cNvSpPr/>
          <p:nvPr/>
        </p:nvSpPr>
        <p:spPr>
          <a:xfrm>
            <a:off x="548640" y="5486400"/>
            <a:ext cx="365760" cy="365760"/>
          </a:xfrm>
          <a:prstGeom prst="ellipse">
            <a:avLst/>
          </a:prstGeom>
          <a:solidFill>
            <a:srgbClr val="F2A541"/>
          </a:solidFill>
          <a:ln w="12700">
            <a:solidFill>
              <a:srgbClr val="F2A541"/>
            </a:solidFill>
            <a:prstDash val="solid"/>
          </a:ln>
        </p:spPr>
      </p:sp>
      <p:sp>
        <p:nvSpPr>
          <p:cNvPr id="20" name="Text 18"/>
          <p:cNvSpPr/>
          <p:nvPr/>
        </p:nvSpPr>
        <p:spPr>
          <a:xfrm>
            <a:off x="548640" y="5486400"/>
            <a:ext cx="365760" cy="365760"/>
          </a:xfrm>
          <a:prstGeom prst="rect">
            <a:avLst/>
          </a:prstGeom>
          <a:noFill/>
          <a:ln/>
        </p:spPr>
        <p:txBody>
          <a:bodyPr wrap="square" rtlCol="0" anchor="ctr"/>
          <a:lstStyle/>
          <a:p>
            <a:pPr algn="ctr" indent="0" marL="0">
              <a:buNone/>
            </a:pPr>
            <a:r>
              <a:rPr lang="en-US" sz="1200" b="1" dirty="0">
                <a:solidFill>
                  <a:srgbClr val="0A2540"/>
                </a:solidFill>
                <a:latin typeface="Calibri" pitchFamily="34" charset="0"/>
                <a:ea typeface="Calibri" pitchFamily="34" charset="-122"/>
                <a:cs typeface="Calibri" pitchFamily="34" charset="-120"/>
              </a:rPr>
              <a:t>6</a:t>
            </a:r>
            <a:endParaRPr lang="en-US" sz="1200" dirty="0"/>
          </a:p>
        </p:txBody>
      </p:sp>
      <p:sp>
        <p:nvSpPr>
          <p:cNvPr id="21" name="Text 19"/>
          <p:cNvSpPr/>
          <p:nvPr/>
        </p:nvSpPr>
        <p:spPr>
          <a:xfrm>
            <a:off x="1097280" y="5431536"/>
            <a:ext cx="10332720" cy="640080"/>
          </a:xfrm>
          <a:prstGeom prst="rect">
            <a:avLst/>
          </a:prstGeom>
          <a:noFill/>
          <a:ln/>
        </p:spPr>
        <p:txBody>
          <a:bodyPr wrap="square" rtlCol="0" anchor="t"/>
          <a:lstStyle/>
          <a:p>
            <a:pPr indent="0" marL="0">
              <a:buNone/>
            </a:pPr>
            <a:r>
              <a:rPr lang="en-US" sz="1250" dirty="0">
                <a:solidFill>
                  <a:srgbClr val="E7EEF5"/>
                </a:solidFill>
                <a:latin typeface="Calibri" pitchFamily="34" charset="0"/>
                <a:ea typeface="Calibri" pitchFamily="34" charset="-122"/>
                <a:cs typeface="Calibri" pitchFamily="34" charset="-120"/>
              </a:rPr>
              <a:t>Always match your evaluation metric to the problem: R²/RMSE/MAE for regression; Precision/Recall/F1/ROC-AUC for classification, especially under class imbalance.</a:t>
            </a:r>
            <a:endParaRPr lang="en-US" sz="1250" dirty="0"/>
          </a:p>
        </p:txBody>
      </p:sp>
      <p:sp>
        <p:nvSpPr>
          <p:cNvPr id="22" name="Text 20"/>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8A97A5"/>
                </a:solidFill>
                <a:latin typeface="Calibri" pitchFamily="34" charset="0"/>
                <a:ea typeface="Calibri" pitchFamily="34" charset="-122"/>
                <a:cs typeface="Calibri" pitchFamily="34" charset="-120"/>
              </a:rPr>
              <a:t>Linear &amp; Logistic Regression — Summary</a:t>
            </a:r>
            <a:endParaRPr lang="en-US" sz="900" dirty="0"/>
          </a:p>
        </p:txBody>
      </p:sp>
      <p:sp>
        <p:nvSpPr>
          <p:cNvPr id="23" name="Text 21"/>
          <p:cNvSpPr/>
          <p:nvPr/>
        </p:nvSpPr>
        <p:spPr>
          <a:xfrm>
            <a:off x="11368735" y="6547104"/>
            <a:ext cx="457200" cy="256032"/>
          </a:xfrm>
          <a:prstGeom prst="rect">
            <a:avLst/>
          </a:prstGeom>
          <a:noFill/>
          <a:ln/>
        </p:spPr>
        <p:txBody>
          <a:bodyPr wrap="square"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2011680" y="-2011680"/>
            <a:ext cx="5486400" cy="5486400"/>
          </a:xfrm>
          <a:prstGeom prst="ellipse">
            <a:avLst/>
          </a:prstGeom>
          <a:solidFill>
            <a:srgbClr val="10375C"/>
          </a:solidFill>
          <a:ln w="12700">
            <a:solidFill>
              <a:srgbClr val="10375C"/>
            </a:solidFill>
            <a:prstDash val="solid"/>
          </a:ln>
        </p:spPr>
      </p:sp>
      <p:sp>
        <p:nvSpPr>
          <p:cNvPr id="3" name="Shape 1"/>
          <p:cNvSpPr/>
          <p:nvPr/>
        </p:nvSpPr>
        <p:spPr>
          <a:xfrm>
            <a:off x="9875520" y="4114800"/>
            <a:ext cx="4572000" cy="4572000"/>
          </a:xfrm>
          <a:prstGeom prst="ellipse">
            <a:avLst/>
          </a:prstGeom>
          <a:solidFill>
            <a:srgbClr val="10375C"/>
          </a:solidFill>
          <a:ln w="12700">
            <a:solidFill>
              <a:srgbClr val="10375C"/>
            </a:solidFill>
            <a:prstDash val="solid"/>
          </a:ln>
        </p:spPr>
      </p:sp>
      <p:sp>
        <p:nvSpPr>
          <p:cNvPr id="4" name="Text 2"/>
          <p:cNvSpPr/>
          <p:nvPr/>
        </p:nvSpPr>
        <p:spPr>
          <a:xfrm>
            <a:off x="777240" y="2011680"/>
            <a:ext cx="9144000" cy="100584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5" name="Text 3"/>
          <p:cNvSpPr/>
          <p:nvPr/>
        </p:nvSpPr>
        <p:spPr>
          <a:xfrm>
            <a:off x="822960" y="2971800"/>
            <a:ext cx="8686800" cy="502920"/>
          </a:xfrm>
          <a:prstGeom prst="rect">
            <a:avLst/>
          </a:prstGeom>
          <a:noFill/>
          <a:ln/>
        </p:spPr>
        <p:txBody>
          <a:bodyPr wrap="square"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Questions? Let's dig into the math, the code, or the project together.</a:t>
            </a:r>
            <a:endParaRPr lang="en-US" sz="1600" dirty="0"/>
          </a:p>
        </p:txBody>
      </p:sp>
      <p:sp>
        <p:nvSpPr>
          <p:cNvPr id="6" name="Shape 4"/>
          <p:cNvSpPr/>
          <p:nvPr/>
        </p:nvSpPr>
        <p:spPr>
          <a:xfrm>
            <a:off x="822960" y="4023360"/>
            <a:ext cx="3520440" cy="1417320"/>
          </a:xfrm>
          <a:prstGeom prst="roundRect">
            <a:avLst>
              <a:gd name="adj" fmla="val 6452"/>
            </a:avLst>
          </a:prstGeom>
          <a:solidFill>
            <a:srgbClr val="0F2E4D"/>
          </a:solidFill>
          <a:ln w="12700">
            <a:solidFill>
              <a:srgbClr val="1C4A73"/>
            </a:solidFill>
            <a:prstDash val="solid"/>
          </a:ln>
        </p:spPr>
      </p:sp>
      <p:sp>
        <p:nvSpPr>
          <p:cNvPr id="7" name="Text 5"/>
          <p:cNvSpPr/>
          <p:nvPr/>
        </p:nvSpPr>
        <p:spPr>
          <a:xfrm>
            <a:off x="1005840" y="4160520"/>
            <a:ext cx="640080" cy="548640"/>
          </a:xfrm>
          <a:prstGeom prst="rect">
            <a:avLst/>
          </a:prstGeom>
          <a:noFill/>
          <a:ln/>
        </p:spPr>
        <p:txBody>
          <a:bodyPr wrap="square" rtlCol="0" anchor="ctr"/>
          <a:lstStyle/>
          <a:p>
            <a:pP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8" name="Text 6"/>
          <p:cNvSpPr/>
          <p:nvPr/>
        </p:nvSpPr>
        <p:spPr>
          <a:xfrm>
            <a:off x="1005840" y="4663440"/>
            <a:ext cx="310896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Slide Deck</a:t>
            </a:r>
            <a:endParaRPr lang="en-US" sz="1300" dirty="0"/>
          </a:p>
        </p:txBody>
      </p:sp>
      <p:sp>
        <p:nvSpPr>
          <p:cNvPr id="9" name="Text 7"/>
          <p:cNvSpPr/>
          <p:nvPr/>
        </p:nvSpPr>
        <p:spPr>
          <a:xfrm>
            <a:off x="1005840" y="4983480"/>
            <a:ext cx="3108960" cy="365760"/>
          </a:xfrm>
          <a:prstGeom prst="rect">
            <a:avLst/>
          </a:prstGeom>
          <a:noFill/>
          <a:ln/>
        </p:spPr>
        <p:txBody>
          <a:bodyPr wrap="square" rtlCol="0" anchor="ctr"/>
          <a:lstStyle/>
          <a:p>
            <a:pPr indent="0" marL="0">
              <a:buNone/>
            </a:pPr>
            <a:r>
              <a:rPr lang="en-US" sz="1000" dirty="0">
                <a:solidFill>
                  <a:srgbClr val="9FB3C8"/>
                </a:solidFill>
                <a:latin typeface="Calibri" pitchFamily="34" charset="0"/>
                <a:ea typeface="Calibri" pitchFamily="34" charset="-122"/>
                <a:cs typeface="Calibri" pitchFamily="34" charset="-120"/>
              </a:rPr>
              <a:t>Theory &amp; derivations (this file)</a:t>
            </a:r>
            <a:endParaRPr lang="en-US" sz="1000" dirty="0"/>
          </a:p>
        </p:txBody>
      </p:sp>
      <p:sp>
        <p:nvSpPr>
          <p:cNvPr id="10" name="Shape 8"/>
          <p:cNvSpPr/>
          <p:nvPr/>
        </p:nvSpPr>
        <p:spPr>
          <a:xfrm>
            <a:off x="4526280" y="4023360"/>
            <a:ext cx="3520440" cy="1417320"/>
          </a:xfrm>
          <a:prstGeom prst="roundRect">
            <a:avLst>
              <a:gd name="adj" fmla="val 6452"/>
            </a:avLst>
          </a:prstGeom>
          <a:solidFill>
            <a:srgbClr val="0F2E4D"/>
          </a:solidFill>
          <a:ln w="12700">
            <a:solidFill>
              <a:srgbClr val="1C4A73"/>
            </a:solidFill>
            <a:prstDash val="solid"/>
          </a:ln>
        </p:spPr>
      </p:sp>
      <p:sp>
        <p:nvSpPr>
          <p:cNvPr id="11" name="Text 9"/>
          <p:cNvSpPr/>
          <p:nvPr/>
        </p:nvSpPr>
        <p:spPr>
          <a:xfrm>
            <a:off x="4709160" y="4160520"/>
            <a:ext cx="640080" cy="548640"/>
          </a:xfrm>
          <a:prstGeom prst="rect">
            <a:avLst/>
          </a:prstGeom>
          <a:noFill/>
          <a:ln/>
        </p:spPr>
        <p:txBody>
          <a:bodyPr wrap="square" rtlCol="0" anchor="ctr"/>
          <a:lstStyle/>
          <a:p>
            <a:pP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2" name="Text 10"/>
          <p:cNvSpPr/>
          <p:nvPr/>
        </p:nvSpPr>
        <p:spPr>
          <a:xfrm>
            <a:off x="4709160" y="4663440"/>
            <a:ext cx="310896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Jupyter Notebook</a:t>
            </a:r>
            <a:endParaRPr lang="en-US" sz="1300" dirty="0"/>
          </a:p>
        </p:txBody>
      </p:sp>
      <p:sp>
        <p:nvSpPr>
          <p:cNvPr id="13" name="Text 11"/>
          <p:cNvSpPr/>
          <p:nvPr/>
        </p:nvSpPr>
        <p:spPr>
          <a:xfrm>
            <a:off x="4709160" y="4983480"/>
            <a:ext cx="3108960" cy="365760"/>
          </a:xfrm>
          <a:prstGeom prst="rect">
            <a:avLst/>
          </a:prstGeom>
          <a:noFill/>
          <a:ln/>
        </p:spPr>
        <p:txBody>
          <a:bodyPr wrap="square" rtlCol="0" anchor="ctr"/>
          <a:lstStyle/>
          <a:p>
            <a:pPr indent="0" marL="0">
              <a:buNone/>
            </a:pPr>
            <a:r>
              <a:rPr lang="en-US" sz="1000" dirty="0">
                <a:solidFill>
                  <a:srgbClr val="9FB3C8"/>
                </a:solidFill>
                <a:latin typeface="Calibri" pitchFamily="34" charset="0"/>
                <a:ea typeface="Calibri" pitchFamily="34" charset="-122"/>
                <a:cs typeface="Calibri" pitchFamily="34" charset="-120"/>
              </a:rPr>
              <a:t>From-scratch + sklearn implementations</a:t>
            </a:r>
            <a:endParaRPr lang="en-US" sz="1000" dirty="0"/>
          </a:p>
        </p:txBody>
      </p:sp>
      <p:sp>
        <p:nvSpPr>
          <p:cNvPr id="14" name="Shape 12"/>
          <p:cNvSpPr/>
          <p:nvPr/>
        </p:nvSpPr>
        <p:spPr>
          <a:xfrm>
            <a:off x="8229600" y="4023360"/>
            <a:ext cx="3520440" cy="1417320"/>
          </a:xfrm>
          <a:prstGeom prst="roundRect">
            <a:avLst>
              <a:gd name="adj" fmla="val 6452"/>
            </a:avLst>
          </a:prstGeom>
          <a:solidFill>
            <a:srgbClr val="0F2E4D"/>
          </a:solidFill>
          <a:ln w="12700">
            <a:solidFill>
              <a:srgbClr val="1C4A73"/>
            </a:solidFill>
            <a:prstDash val="solid"/>
          </a:ln>
        </p:spPr>
      </p:sp>
      <p:sp>
        <p:nvSpPr>
          <p:cNvPr id="15" name="Text 13"/>
          <p:cNvSpPr/>
          <p:nvPr/>
        </p:nvSpPr>
        <p:spPr>
          <a:xfrm>
            <a:off x="8412480" y="4160520"/>
            <a:ext cx="640080" cy="548640"/>
          </a:xfrm>
          <a:prstGeom prst="rect">
            <a:avLst/>
          </a:prstGeom>
          <a:noFill/>
          <a:ln/>
        </p:spPr>
        <p:txBody>
          <a:bodyPr wrap="square" rtlCol="0" anchor="ctr"/>
          <a:lstStyle/>
          <a:p>
            <a:pP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6" name="Text 14"/>
          <p:cNvSpPr/>
          <p:nvPr/>
        </p:nvSpPr>
        <p:spPr>
          <a:xfrm>
            <a:off x="8412480" y="4663440"/>
            <a:ext cx="310896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Study Guide</a:t>
            </a:r>
            <a:endParaRPr lang="en-US" sz="1300" dirty="0"/>
          </a:p>
        </p:txBody>
      </p:sp>
      <p:sp>
        <p:nvSpPr>
          <p:cNvPr id="17" name="Text 15"/>
          <p:cNvSpPr/>
          <p:nvPr/>
        </p:nvSpPr>
        <p:spPr>
          <a:xfrm>
            <a:off x="8412480" y="4983480"/>
            <a:ext cx="3108960" cy="365760"/>
          </a:xfrm>
          <a:prstGeom prst="rect">
            <a:avLst/>
          </a:prstGeom>
          <a:noFill/>
          <a:ln/>
        </p:spPr>
        <p:txBody>
          <a:bodyPr wrap="square" rtlCol="0" anchor="ctr"/>
          <a:lstStyle/>
          <a:p>
            <a:pPr indent="0" marL="0">
              <a:buNone/>
            </a:pPr>
            <a:r>
              <a:rPr lang="en-US" sz="1000" dirty="0">
                <a:solidFill>
                  <a:srgbClr val="9FB3C8"/>
                </a:solidFill>
                <a:latin typeface="Calibri" pitchFamily="34" charset="0"/>
                <a:ea typeface="Calibri" pitchFamily="34" charset="-122"/>
                <a:cs typeface="Calibri" pitchFamily="34" charset="-120"/>
              </a:rPr>
              <a:t>Full written derivations &amp; reference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2026-07-10T01:18:31Z</dcterms:created>
  <dcterms:modified xsi:type="dcterms:W3CDTF">2026-07-10T01:18:31Z</dcterms:modified>
</cp:coreProperties>
</file>