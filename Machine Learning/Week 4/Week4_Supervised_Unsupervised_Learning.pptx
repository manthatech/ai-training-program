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188720"/>
            <a:ext cx="3840480" cy="3840480"/>
          </a:xfrm>
          <a:prstGeom prst="ellipse">
            <a:avLst/>
          </a:prstGeom>
          <a:solidFill>
            <a:srgbClr val="185FA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291840"/>
            <a:ext cx="2377440" cy="2377440"/>
          </a:xfrm>
          <a:prstGeom prst="ellipse">
            <a:avLst/>
          </a:prstGeom>
          <a:solidFill>
            <a:srgbClr val="378ADD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 ·   INTRO TO ML / DL   ·   WEEK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&amp; Unsupervised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learn from data — with and without labels — and how we know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they've actually learned anything.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744675" cy="384048"/>
          </a:xfrm>
          <a:prstGeom prst="roundRect">
            <a:avLst>
              <a:gd name="adj" fmla="val 19048"/>
            </a:avLst>
          </a:prstGeom>
          <a:solidFill>
            <a:srgbClr val="185FA5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77640"/>
            <a:ext cx="17446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49347" y="3977640"/>
            <a:ext cx="1894637" cy="384048"/>
          </a:xfrm>
          <a:prstGeom prst="roundRect">
            <a:avLst>
              <a:gd name="adj" fmla="val 19048"/>
            </a:avLst>
          </a:prstGeom>
          <a:solidFill>
            <a:srgbClr val="185FA5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9347" y="3977640"/>
            <a:ext cx="1894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08576" y="3977640"/>
            <a:ext cx="1669694" cy="384048"/>
          </a:xfrm>
          <a:prstGeom prst="roundRect">
            <a:avLst>
              <a:gd name="adj" fmla="val 19048"/>
            </a:avLst>
          </a:prstGeom>
          <a:solidFill>
            <a:srgbClr val="185FA5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3977640"/>
            <a:ext cx="16696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2862" y="3977640"/>
            <a:ext cx="1669694" cy="384048"/>
          </a:xfrm>
          <a:prstGeom prst="roundRect">
            <a:avLst>
              <a:gd name="adj" fmla="val 19048"/>
            </a:avLst>
          </a:prstGeom>
          <a:solidFill>
            <a:srgbClr val="185FA5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2862" y="3977640"/>
            <a:ext cx="16696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·  Iris &amp; Titanic Dataset Exploration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that every ML practitioner uses before touching a single model architecture.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63040"/>
            <a:ext cx="502920" cy="502920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551" y="15937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173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87452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800600" y="14173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mapping from labelled examples (X → y)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221992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" y="2359152"/>
            <a:ext cx="502920" cy="502920"/>
          </a:xfrm>
          <a:prstGeom prst="ellipse">
            <a:avLst/>
          </a:prstGeom>
          <a:solidFill>
            <a:srgbClr val="378AD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" y="248991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31343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874520" y="2313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800600" y="2313432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structure in data with no labels at all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118104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" y="3255264"/>
            <a:ext cx="502920" cy="50292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" y="3386023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20954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874520" y="320954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800600" y="3209544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how a model performs on unseen data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57200" y="4014216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" y="4151376"/>
            <a:ext cx="502920" cy="502920"/>
          </a:xfrm>
          <a:prstGeom prst="ellipse">
            <a:avLst/>
          </a:prstGeom>
          <a:solidFill>
            <a:srgbClr val="E0902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" y="4282135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410565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1874520" y="41056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800600" y="4105656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predictions into a number we can trust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4  —  SUPERVISED &amp; UNSUPERVISED LEARNING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learn from data at all?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E6F1FB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280160"/>
            <a:ext cx="548640" cy="548640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14228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programming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Data  →  Output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34747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writes explicit if/else rules.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the logic is simple and known: tax brackets, unit conversions.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fast: nobody can hand-write rules for “is this a cat photo?” or “will this loan default?”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185FA5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10912" y="1280160"/>
            <a:ext cx="548640" cy="548640"/>
          </a:xfrm>
          <a:prstGeom prst="ellipse">
            <a:avLst/>
          </a:prstGeom>
          <a:solidFill>
            <a:srgbClr val="378A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558" y="14228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5488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Output  →  Rules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83480" y="2743200"/>
            <a:ext cx="34747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infers the mapping itself from many examples.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problems where the pattern exists but can't be written down: images, text, sensor streams.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trade-off: we need enough representative data, and we must measure whether the learned rule generalises.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5146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4  —  SUPERVISED &amp; UNSUPERVISED LEARNING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46268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00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 — the concept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training example is a pair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y)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input features and the correct answer.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algorithm's job is to find a function f that maps x → ŷ (predicted y) so that ŷ is close to the true y, on data it hasn't seen yet.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OBJECTIVE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f̂ = argminₘ  (1/n) Σᵢ₌₁ⁿ  L( yᵢ , f(xᵢ) 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28163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is chosen from a model family (e.g. linear functions, decision trees) with parameters θ. 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is a loss function that penalises wrong predictions — squared error for regression, cross-entropy for classification. We search for the parameters that minimise average loss across n training examples.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learning as “minimise a loss function” is what lets us use calculus (gradients) and optimisation algorithms to automatically improve the model — instead of hand-tuning it.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427939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427939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 spam filter learns from millions of (email, spam/not-spam) pairs to predict labels on new incoming mail.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4  —  SUPERVISED &amp; UNSUPERVISED LEARNING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flavours of supervised learning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the target variable y decides which one you're doing.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44752"/>
            <a:ext cx="502920" cy="502920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57551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is discrete — a category or class label.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42316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spam / not-spam, iris species, loan default / no default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class label, or a probability per class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dataset: predict species from petal &amp; sepal measurements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dataset: predict survived (0/1) from age, class, fare…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754880" y="12344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10912" y="1444752"/>
            <a:ext cx="502920" cy="50292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671" y="157551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8348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is continuous — a real-valued number.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983480" y="242316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house price, temperature, delivery time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real number ŷ ∈ ℝ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Housing: predict median home value from rooms, crime rate, location</a:t>
            </a:r>
            <a:endParaRPr lang="en-US" sz="10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is measured by distance (e.g. squared error), not right/wrong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4  —  SUPERVISED &amp; UNSUPERVISED LEARNING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78AD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46268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00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 — the concept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label y — only features X.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must discover structure that already exists in the data: groups, patterns, or a simpler representation.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OBJECTIVE — K-MEANS CLUSTERING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2057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minₖ  Σₖ₌₁ᵏ  Σ ‖ xᵢ − μₖ ‖²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cluster centers μₖ that minimise the total squared distance between each point xᵢ and the center of the cluster it's assigned to. No labels are used — only geometric closeness.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expensive — someone has to annotate every example. Unsupervised methods extract value from the vast majority of data that is never labelled: raw logs, transactions, sensor readings.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4005072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E6F1FB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400507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F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 clusters shoppers by spending score and income (Mall Customers dataset) to design targeted promotions — without ever labelling who “should” be in which group.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4  —  SUPERVISED &amp; UNSUPERVISED LEARNING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vs. Unsupervised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54680"/>
                <a:gridCol w="3154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Supervised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Unsupervised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733"/>
                          </a:solidFill>
                        </a:rPr>
                        <a:t>Training data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</a:rPr>
                        <a:t>Labelled: (x, y) pairs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</a:rPr>
                        <a:t>Unlabelled: X only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733"/>
                          </a:solidFill>
                        </a:rPr>
                        <a:t>Goal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</a:rPr>
                        <a:t>Predict y for new x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</a:rPr>
                        <a:t>Discover structure / groups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733"/>
                          </a:solidFill>
                        </a:rPr>
                        <a:t>Example algorithms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</a:rPr>
                        <a:t>Linear/Logistic Regression, Decision Trees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</a:rPr>
                        <a:t>K-Means, DBSCAN, PCA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733"/>
                          </a:solidFill>
                        </a:rPr>
                        <a:t>Feedback signal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</a:rPr>
                        <a:t>Direct — compare ŷ to true y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</a:rPr>
                        <a:t>Indirect — geometric / statistical structure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733"/>
                          </a:solidFill>
                        </a:rPr>
                        <a:t>Evaluation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</a:rPr>
                        <a:t>Accuracy, F1, MSE against ground truth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</a:rPr>
                        <a:t>Silhouette score, inertia (no ground truth)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733"/>
                          </a:solidFill>
                        </a:rPr>
                        <a:t>This week's data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</a:rPr>
                        <a:t>Iris (species), Titanic (survival)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</a:rPr>
                        <a:t>Preview: Mall Customers (Week 5)</a:t>
                      </a:r>
                      <a:endParaRPr lang="en-US" sz="10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4  —  SUPERVISED &amp; UNSUPERVISED LEARNING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46268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 — why we hide data from the model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test a model on the same data it trained on, high accuracy just proves it can memorise — not that it can generalise.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6583680" cy="548640"/>
          </a:xfrm>
          <a:prstGeom prst="roundRect">
            <a:avLst>
              <a:gd name="adj" fmla="val 10000"/>
            </a:avLst>
          </a:prstGeom>
          <a:solidFill>
            <a:srgbClr val="185FA5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463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80%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0" y="14630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0902A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20%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084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split is 80/20 or 70/30 — the test set is set aside and never touched during training or tuning.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42032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2670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— GENERALISATION GAP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 =  Error_test  −  Error_train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5800" y="336499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gap means the model generalises well. A large gap is overfitting: the model fit noise specific to the training set (high variance). A model with high error on both sets is underfitting (high bias) — it's too simple to capture the pattern at all.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457200" y="4096512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E6F1FB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4096512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stakes:  a hospital readmission model that looks 95% accurate on training data but was never tested on held-out patients could fail silently in production — with real clinical consequences.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4  —  SUPERVISED &amp; UNSUPERVISED LEARNING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78AD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46268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further — k-fold cross-validation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train/test split can be lucky or unlucky — the estimate depends on which rows happened to land in the test set. k-fold CV averages over k different splits for a more reliable estimate.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481328" cy="292608"/>
          </a:xfrm>
          <a:prstGeom prst="rect">
            <a:avLst/>
          </a:prstGeom>
          <a:solidFill>
            <a:srgbClr val="E0902A"/>
          </a:solidFill>
          <a:ln/>
        </p:spPr>
      </p:sp>
      <p:sp>
        <p:nvSpPr>
          <p:cNvPr id="7" name="Shape 4"/>
          <p:cNvSpPr/>
          <p:nvPr/>
        </p:nvSpPr>
        <p:spPr>
          <a:xfrm>
            <a:off x="2029968" y="1600200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8" name="Shape 5"/>
          <p:cNvSpPr/>
          <p:nvPr/>
        </p:nvSpPr>
        <p:spPr>
          <a:xfrm>
            <a:off x="3602736" y="1600200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9" name="Shape 6"/>
          <p:cNvSpPr/>
          <p:nvPr/>
        </p:nvSpPr>
        <p:spPr>
          <a:xfrm>
            <a:off x="5175504" y="1600200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10" name="Shape 7"/>
          <p:cNvSpPr/>
          <p:nvPr/>
        </p:nvSpPr>
        <p:spPr>
          <a:xfrm>
            <a:off x="6748272" y="1600200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158191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1984248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13" name="Shape 10"/>
          <p:cNvSpPr/>
          <p:nvPr/>
        </p:nvSpPr>
        <p:spPr>
          <a:xfrm>
            <a:off x="2029968" y="1984248"/>
            <a:ext cx="1481328" cy="292608"/>
          </a:xfrm>
          <a:prstGeom prst="rect">
            <a:avLst/>
          </a:prstGeom>
          <a:solidFill>
            <a:srgbClr val="E0902A"/>
          </a:solidFill>
          <a:ln/>
        </p:spPr>
      </p:sp>
      <p:sp>
        <p:nvSpPr>
          <p:cNvPr id="14" name="Shape 11"/>
          <p:cNvSpPr/>
          <p:nvPr/>
        </p:nvSpPr>
        <p:spPr>
          <a:xfrm>
            <a:off x="3602736" y="1984248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15" name="Shape 12"/>
          <p:cNvSpPr/>
          <p:nvPr/>
        </p:nvSpPr>
        <p:spPr>
          <a:xfrm>
            <a:off x="5175504" y="1984248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16" name="Shape 13"/>
          <p:cNvSpPr/>
          <p:nvPr/>
        </p:nvSpPr>
        <p:spPr>
          <a:xfrm>
            <a:off x="6748272" y="1984248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17" name="Text 14"/>
          <p:cNvSpPr/>
          <p:nvPr/>
        </p:nvSpPr>
        <p:spPr>
          <a:xfrm>
            <a:off x="8001000" y="19659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2368296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19" name="Shape 16"/>
          <p:cNvSpPr/>
          <p:nvPr/>
        </p:nvSpPr>
        <p:spPr>
          <a:xfrm>
            <a:off x="2029968" y="2368296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602736" y="2368296"/>
            <a:ext cx="1481328" cy="292608"/>
          </a:xfrm>
          <a:prstGeom prst="rect">
            <a:avLst/>
          </a:prstGeom>
          <a:solidFill>
            <a:srgbClr val="E0902A"/>
          </a:solidFill>
          <a:ln/>
        </p:spPr>
      </p:sp>
      <p:sp>
        <p:nvSpPr>
          <p:cNvPr id="21" name="Shape 18"/>
          <p:cNvSpPr/>
          <p:nvPr/>
        </p:nvSpPr>
        <p:spPr>
          <a:xfrm>
            <a:off x="5175504" y="2368296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22" name="Shape 19"/>
          <p:cNvSpPr/>
          <p:nvPr/>
        </p:nvSpPr>
        <p:spPr>
          <a:xfrm>
            <a:off x="6748272" y="2368296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23" name="Text 20"/>
          <p:cNvSpPr/>
          <p:nvPr/>
        </p:nvSpPr>
        <p:spPr>
          <a:xfrm>
            <a:off x="8001000" y="235000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7200" y="2752344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25" name="Shape 22"/>
          <p:cNvSpPr/>
          <p:nvPr/>
        </p:nvSpPr>
        <p:spPr>
          <a:xfrm>
            <a:off x="2029968" y="2752344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26" name="Shape 23"/>
          <p:cNvSpPr/>
          <p:nvPr/>
        </p:nvSpPr>
        <p:spPr>
          <a:xfrm>
            <a:off x="3602736" y="2752344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27" name="Shape 24"/>
          <p:cNvSpPr/>
          <p:nvPr/>
        </p:nvSpPr>
        <p:spPr>
          <a:xfrm>
            <a:off x="5175504" y="2752344"/>
            <a:ext cx="1481328" cy="292608"/>
          </a:xfrm>
          <a:prstGeom prst="rect">
            <a:avLst/>
          </a:prstGeom>
          <a:solidFill>
            <a:srgbClr val="E0902A"/>
          </a:solidFill>
          <a:ln/>
        </p:spPr>
      </p:sp>
      <p:sp>
        <p:nvSpPr>
          <p:cNvPr id="28" name="Shape 25"/>
          <p:cNvSpPr/>
          <p:nvPr/>
        </p:nvSpPr>
        <p:spPr>
          <a:xfrm>
            <a:off x="6748272" y="2752344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29" name="Text 26"/>
          <p:cNvSpPr/>
          <p:nvPr/>
        </p:nvSpPr>
        <p:spPr>
          <a:xfrm>
            <a:off x="8001000" y="27340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3136392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31" name="Shape 28"/>
          <p:cNvSpPr/>
          <p:nvPr/>
        </p:nvSpPr>
        <p:spPr>
          <a:xfrm>
            <a:off x="2029968" y="3136392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32" name="Shape 29"/>
          <p:cNvSpPr/>
          <p:nvPr/>
        </p:nvSpPr>
        <p:spPr>
          <a:xfrm>
            <a:off x="3602736" y="3136392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33" name="Shape 30"/>
          <p:cNvSpPr/>
          <p:nvPr/>
        </p:nvSpPr>
        <p:spPr>
          <a:xfrm>
            <a:off x="5175504" y="3136392"/>
            <a:ext cx="1481328" cy="292608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34" name="Shape 31"/>
          <p:cNvSpPr/>
          <p:nvPr/>
        </p:nvSpPr>
        <p:spPr>
          <a:xfrm>
            <a:off x="6748272" y="3136392"/>
            <a:ext cx="1481328" cy="292608"/>
          </a:xfrm>
          <a:prstGeom prst="rect">
            <a:avLst/>
          </a:prstGeom>
          <a:solidFill>
            <a:srgbClr val="E0902A"/>
          </a:solidFill>
          <a:ln/>
        </p:spPr>
      </p:sp>
      <p:sp>
        <p:nvSpPr>
          <p:cNvPr id="35" name="Text 32"/>
          <p:cNvSpPr/>
          <p:nvPr/>
        </p:nvSpPr>
        <p:spPr>
          <a:xfrm>
            <a:off x="8001000" y="3118104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57200" y="3575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= held out as test for that round   ·   blue = used for training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3913632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685800" y="40416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Score  =  (1/k) Σₖ₌₁ᵏ  Error(fold k)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68580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2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gets to be in the test set exactly once — nothing is wasted, and the reported score is far less dependent on one lucky/unlucky split.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4  —  SUPERVISED &amp; UNSUPERVISED LEARNING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E090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46268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— Classification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417320" cy="548640"/>
          </a:xfrm>
          <a:prstGeom prst="rect">
            <a:avLst/>
          </a:prstGeom>
          <a:solidFill>
            <a:srgbClr val="E6F1F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80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74520" y="1280160"/>
            <a:ext cx="1417320" cy="548640"/>
          </a:xfrm>
          <a:prstGeom prst="rect">
            <a:avLst/>
          </a:prstGeom>
          <a:solidFill>
            <a:srgbClr val="E6F1F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74520" y="1280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+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1417320" cy="548640"/>
          </a:xfrm>
          <a:prstGeom prst="rect">
            <a:avLst/>
          </a:prstGeom>
          <a:solidFill>
            <a:srgbClr val="E6F1F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1280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1417320" cy="548640"/>
          </a:xfrm>
          <a:prstGeom prst="rect">
            <a:avLst/>
          </a:prstGeom>
          <a:solidFill>
            <a:srgbClr val="E6F1F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828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+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874520" y="1828800"/>
            <a:ext cx="1417320" cy="548640"/>
          </a:xfrm>
          <a:prstGeom prst="rect">
            <a:avLst/>
          </a:prstGeom>
          <a:solidFill>
            <a:srgbClr val="D6F0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74520" y="1828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91840" y="1828800"/>
            <a:ext cx="1417320" cy="548640"/>
          </a:xfrm>
          <a:prstGeom prst="rect">
            <a:avLst/>
          </a:prstGeom>
          <a:solidFill>
            <a:srgbClr val="FBE4E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0" y="1828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2377440"/>
            <a:ext cx="1417320" cy="548640"/>
          </a:xfrm>
          <a:prstGeom prst="rect">
            <a:avLst/>
          </a:prstGeom>
          <a:solidFill>
            <a:srgbClr val="E6F1F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874520" y="2377440"/>
            <a:ext cx="1417320" cy="548640"/>
          </a:xfrm>
          <a:prstGeom prst="rect">
            <a:avLst/>
          </a:prstGeom>
          <a:solidFill>
            <a:srgbClr val="FBE4E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7452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291840" y="2377440"/>
            <a:ext cx="1417320" cy="548640"/>
          </a:xfrm>
          <a:prstGeom prst="rect">
            <a:avLst/>
          </a:prstGeom>
          <a:solidFill>
            <a:srgbClr val="D6F0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4632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46320" y="12984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309360" y="12984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(TP + TN) / Total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846320" y="172821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309360" y="172821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/ (TP + FP)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846320" y="215798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09360" y="215798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/ (TP + FN)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846320" y="25877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309360" y="25877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(P × R) / (P + R)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57200" y="306324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8580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ACCURACY?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85800" y="3493008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Titanic dataset, ~62% of passengers did not survive. A model that always predicts “did not survive” scores 62% accuracy while being useless.</a:t>
            </a:r>
            <a:endParaRPr lang="en-US" sz="108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matters when false positives are costly (e.g. flagging a legitimate transaction as fraud).</a:t>
            </a:r>
            <a:endParaRPr lang="en-US" sz="108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matters when false negatives are costly (e.g. missing an actual cancer case). F1 balances the two when both errors matter.</a:t>
            </a:r>
            <a:endParaRPr lang="en-US" sz="1080" dirty="0"/>
          </a:p>
        </p:txBody>
      </p:sp>
      <p:sp>
        <p:nvSpPr>
          <p:cNvPr id="36" name="Text 33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4  —  SUPERVISED &amp; UNSUPERVISED LEARNING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46268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— Regression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targets are continuous, so we measure the distance between predicted and actual values instead of right/wrong.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1527048"/>
            <a:ext cx="502920" cy="50292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34440" y="1472184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0" y="1472184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(1/n) Σ | yᵢ − ŷᵢ |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166360" y="1472184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size, in original units. Robust to outliers.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" y="2322576"/>
            <a:ext cx="502920" cy="50292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234440" y="226771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00400" y="2267712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(1/n) Σ ( yᵢ − ŷᵢ )²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166360" y="2267712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 errors more heavily — a $100k miss hurts far more than 10× a $10k miss.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457200" y="300837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" y="3118104"/>
            <a:ext cx="502920" cy="50292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234440" y="306324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00400" y="3063240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 MSE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166360" y="3063240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units as y again — easiest to interpret alongside MAE.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457200" y="380390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7FAFD"/>
          </a:solidFill>
          <a:ln/>
          <a:effectLst>
            <a:outerShdw sx="100000" sy="100000" kx="0" ky="0" algn="bl" rotWithShape="0" blurRad="101600" dist="38100" dir="2700000">
              <a:srgbClr val="0F3A66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03504" y="3913632"/>
            <a:ext cx="502920" cy="50292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6" name="Text 23"/>
          <p:cNvSpPr/>
          <p:nvPr/>
        </p:nvSpPr>
        <p:spPr>
          <a:xfrm>
            <a:off x="603504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234440" y="38587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200400" y="3858768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1 − SS_res / SS_tot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166360" y="3858768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variance in y explained by the model. 1.0 = perfect, 0 = no better than predicting the mean.</a:t>
            </a:r>
            <a:endParaRPr lang="en-US" sz="930" dirty="0"/>
          </a:p>
        </p:txBody>
      </p:sp>
      <p:sp>
        <p:nvSpPr>
          <p:cNvPr id="30" name="Text 27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4  —  SUPERVISED &amp; UNSUPERVISED LEARNING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383280"/>
            <a:ext cx="2743200" cy="2743200"/>
          </a:xfrm>
          <a:prstGeom prst="ellipse">
            <a:avLst/>
          </a:prstGeom>
          <a:solidFill>
            <a:srgbClr val="185FA5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94360" cy="594360"/>
          </a:xfrm>
          <a:prstGeom prst="ellipse">
            <a:avLst/>
          </a:prstGeom>
          <a:solidFill>
            <a:srgbClr val="378AD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4" y="611734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4572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project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 &amp; Titanic Dataset Exploration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378AD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0391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17922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88720" y="19019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611880" y="190195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both datasets; check shape, dtypes, missing values, and class balance.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378AD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60604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8872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visually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611880" y="24688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Pairplots for Iris; survival rate by class/sex/age for Titanic.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548640" y="3054096"/>
            <a:ext cx="457200" cy="457200"/>
          </a:xfrm>
          <a:prstGeom prst="ellipse">
            <a:avLst/>
          </a:prstGeom>
          <a:solidFill>
            <a:srgbClr val="378AD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17296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88720" y="3035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3611880" y="3035808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split, stratified by the target label.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548640" y="3621024"/>
            <a:ext cx="457200" cy="457200"/>
          </a:xfrm>
          <a:prstGeom prst="ellipse">
            <a:avLst/>
          </a:prstGeom>
          <a:solidFill>
            <a:srgbClr val="378AD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739896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3493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88720" y="36027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baseline model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3611880" y="360273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/ Decision Tree — supervised classification.</a:t>
            </a:r>
            <a:endParaRPr lang="en-US" sz="1080" dirty="0"/>
          </a:p>
        </p:txBody>
      </p:sp>
      <p:sp>
        <p:nvSpPr>
          <p:cNvPr id="27" name="Shape 20"/>
          <p:cNvSpPr/>
          <p:nvPr/>
        </p:nvSpPr>
        <p:spPr>
          <a:xfrm>
            <a:off x="548640" y="4187952"/>
            <a:ext cx="457200" cy="457200"/>
          </a:xfrm>
          <a:prstGeom prst="ellipse">
            <a:avLst/>
          </a:prstGeom>
          <a:solidFill>
            <a:srgbClr val="378ADD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306824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8640" y="4059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88720" y="416966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honestly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3611880" y="4169664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accuracy, precision, recall, F1 — on the test set only.</a:t>
            </a:r>
            <a:endParaRPr lang="en-US" sz="1080" dirty="0"/>
          </a:p>
        </p:txBody>
      </p:sp>
      <p:sp>
        <p:nvSpPr>
          <p:cNvPr id="32" name="Text 24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4  —  SUPERVISED &amp; UNSUPERVISED LEARNING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228039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5156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minimises a loss function between predictions and known labels — it needs (x, y) pairs.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938528"/>
            <a:ext cx="502920" cy="502920"/>
          </a:xfrm>
          <a:prstGeom prst="ellipse">
            <a:avLst/>
          </a:prstGeom>
          <a:solidFill>
            <a:srgbClr val="378AD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069287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89280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finds structure — like clusters — using only the features, with no labels required.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779776"/>
            <a:ext cx="502920" cy="50292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2910535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734056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evaluate on held-out data. Train/test split (or k-fold CV) is what separates memorisation from generalisation.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3621024"/>
            <a:ext cx="502920" cy="502920"/>
          </a:xfrm>
          <a:prstGeom prst="ellipse">
            <a:avLst/>
          </a:prstGeom>
          <a:solidFill>
            <a:srgbClr val="E0902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3751783"/>
            <a:ext cx="241402" cy="2414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575304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metrics that match the problem: accuracy can lie on imbalanced data — precision, recall, F1, MSE, R² tell the real story.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185FA5"/>
          </a:solidFill>
          <a:ln/>
        </p:spPr>
      </p:sp>
      <p:sp>
        <p:nvSpPr>
          <p:cNvPr id="16" name="Text 10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Week 5:  Linear &amp; Logistic Regression, K-Means, DBSCAN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4  —  SUPERVISED &amp; UNSUPERVISED LEARNING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— Supervised &amp; Unsupervised Learning</dc:title>
  <dc:subject>PptxGenJS Presentation</dc:subject>
  <dc:creator>AI Training Program</dc:creator>
  <cp:lastModifiedBy>AI Training Program</cp:lastModifiedBy>
  <cp:revision>1</cp:revision>
  <dcterms:created xsi:type="dcterms:W3CDTF">2026-07-02T01:46:24Z</dcterms:created>
  <dcterms:modified xsi:type="dcterms:W3CDTF">2026-07-02T01:46:24Z</dcterms:modified>
</cp:coreProperties>
</file>